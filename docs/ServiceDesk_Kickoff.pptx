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slides/slide29.xml" ContentType="application/vnd.openxmlformats-officedocument.presentationml.slide+xml"/>
  <Override PartName="/ppt/slides/slide18.xml" ContentType="application/vnd.openxmlformats-officedocument.presentationml.slide+xml"/>
  <Override PartName="/ppt/slides/slide5.xml" ContentType="application/vnd.openxmlformats-officedocument.presentationml.slide+xml"/>
  <Override PartName="/ppt/slides/slide24.xml" ContentType="application/vnd.openxmlformats-officedocument.presentationml.slide+xml"/>
  <Override PartName="/ppt/slides/slide4.xml" ContentType="application/vnd.openxmlformats-officedocument.presentationml.slide+xml"/>
  <Override PartName="/ppt/slides/slide9.xml" ContentType="application/vnd.openxmlformats-officedocument.presentationml.slide+xml"/>
  <Override PartName="/ppt/slides/slide19.xml" ContentType="application/vnd.openxmlformats-officedocument.presentationml.slide+xml"/>
  <Override PartName="/ppt/slides/slide13.xml" ContentType="application/vnd.openxmlformats-officedocument.presentationml.slide+xml"/>
  <Override PartName="/ppt/slides/slide11.xml" ContentType="application/vnd.openxmlformats-officedocument.presentationml.slide+xml"/>
  <Override PartName="/ppt/slides/slide22.xml" ContentType="application/vnd.openxmlformats-officedocument.presentationml.slide+xml"/>
  <Override PartName="/ppt/slides/slide25.xml" ContentType="application/vnd.openxmlformats-officedocument.presentationml.slide+xml"/>
  <Override PartName="/ppt/slides/slide21.xml" ContentType="application/vnd.openxmlformats-officedocument.presentationml.slide+xml"/>
  <Override PartName="/ppt/slides/slide28.xml" ContentType="application/vnd.openxmlformats-officedocument.presentationml.slide+xml"/>
  <Override PartName="/ppt/slides/slide12.xml" ContentType="application/vnd.openxmlformats-officedocument.presentationml.slide+xml"/>
  <Override PartName="/ppt/slides/slide27.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26.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10.xml" ContentType="application/vnd.openxmlformats-officedocument.presentationml.slide+xml"/>
  <Override PartName="/ppt/slides/slide23.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16.xml" ContentType="application/vnd.openxmlformats-officedocument.presentationml.slide+xml"/>
  <Override PartName="/ppt/slides/slide1.xml" ContentType="application/vnd.openxmlformats-officedocument.presentationml.slide+xml"/>
  <Override PartName="/ppt/slides/slide15.xml" ContentType="application/vnd.openxmlformats-officedocument.presentationml.slide+xml"/>
  <Override PartName="/ppt/slides/slide6.xml" ContentType="application/vnd.openxmlformats-officedocument.presentationml.slide+xml"/>
  <Override PartName="/ppt/slides/slide14.xml" ContentType="application/vnd.openxmlformats-officedocument.presentationml.slide+xml"/>
  <Override PartName="/ppt/notesSlides/notesSlide14.xml" ContentType="application/vnd.openxmlformats-officedocument.presentationml.notesSlide+xml"/>
  <Override PartName="/ppt/notesSlides/notesSlide12.xml" ContentType="application/vnd.openxmlformats-officedocument.presentationml.notesSlide+xml"/>
  <Override PartName="/ppt/notesSlides/notesSlide9.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8.xml" ContentType="application/vnd.openxmlformats-officedocument.presentationml.notesSlide+xml"/>
  <Override PartName="/ppt/notesSlides/notesSlide3.xml" ContentType="application/vnd.openxmlformats-officedocument.presentationml.notesSlide+xml"/>
  <Override PartName="/ppt/notesSlides/notesSlide29.xml" ContentType="application/vnd.openxmlformats-officedocument.presentationml.notesSlide+xml"/>
  <Override PartName="/ppt/notesSlides/notesSlide2.xml" ContentType="application/vnd.openxmlformats-officedocument.presentationml.notesSlide+xml"/>
  <Override PartName="/ppt/notesSlides/notesSlide13.xml" ContentType="application/vnd.openxmlformats-officedocument.presentationml.notesSlide+xml"/>
  <Override PartName="/ppt/notesSlides/notesSlide1.xml" ContentType="application/vnd.openxmlformats-officedocument.presentationml.notesSlide+xml"/>
  <Override PartName="/ppt/notesSlides/notesSlide24.xml" ContentType="application/vnd.openxmlformats-officedocument.presentationml.notesSlide+xml"/>
  <Override PartName="/ppt/notesSlides/notesSlide7.xml" ContentType="application/vnd.openxmlformats-officedocument.presentationml.notesSlide+xml"/>
  <Override PartName="/ppt/notesSlides/notesSlide28.xml" ContentType="application/vnd.openxmlformats-officedocument.presentationml.notesSlide+xml"/>
  <Override PartName="/ppt/notesSlides/notesSlide21.xml" ContentType="application/vnd.openxmlformats-officedocument.presentationml.notesSlide+xml"/>
  <Override PartName="/ppt/notesSlides/notesSlide25.xml" ContentType="application/vnd.openxmlformats-officedocument.presentationml.notesSlide+xml"/>
  <Override PartName="/ppt/notesSlides/notesSlide30.xml" ContentType="application/vnd.openxmlformats-officedocument.presentationml.notesSlide+xml"/>
  <Override PartName="/ppt/notesSlides/notesSlide26.xml" ContentType="application/vnd.openxmlformats-officedocument.presentationml.notesSlide+xml"/>
  <Override PartName="/ppt/notesSlides/notesSlide23.xml" ContentType="application/vnd.openxmlformats-officedocument.presentationml.notesSlide+xml"/>
  <Override PartName="/ppt/notesSlides/notesSlide16.xml" ContentType="application/vnd.openxmlformats-officedocument.presentationml.notesSlide+xml"/>
  <Override PartName="/ppt/notesSlides/notesSlide20.xml" ContentType="application/vnd.openxmlformats-officedocument.presentationml.notesSlide+xml"/>
  <Override PartName="/ppt/notesSlides/notesSlide10.xml" ContentType="application/vnd.openxmlformats-officedocument.presentationml.notesSlide+xml"/>
  <Override PartName="/ppt/notesSlides/notesSlide19.xml" ContentType="application/vnd.openxmlformats-officedocument.presentationml.notesSlide+xml"/>
  <Override PartName="/ppt/notesSlides/notesSlide6.xml" ContentType="application/vnd.openxmlformats-officedocument.presentationml.notesSlide+xml"/>
  <Override PartName="/ppt/notesSlides/notesSlide22.xml" ContentType="application/vnd.openxmlformats-officedocument.presentationml.notesSlide+xml"/>
  <Override PartName="/ppt/notesSlides/notesSlide15.xml" ContentType="application/vnd.openxmlformats-officedocument.presentationml.notesSlide+xml"/>
  <Override PartName="/ppt/notesSlides/notesSlide27.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Lst>
  <p:sldSz cx="12188825" cy="6858000"/>
  <p:notesSz cx="6858000" cy="12192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PlaceHolder 1"/>
          <p:cNvSpPr>
            <a:spLocks noGrp="1"/>
          </p:cNvSpPr>
          <p:nvPr>
            <p:ph type="sldImg"/>
          </p:nvPr>
        </p:nvSpPr>
        <p:spPr>
          <a:xfrm>
            <a:off x="216000" y="812520"/>
            <a:ext cx="7127280" cy="4008960"/>
          </a:xfrm>
          <a:prstGeom prst="rect">
            <a:avLst/>
          </a:prstGeom>
          <a:noFill/>
          <a:ln w="0">
            <a:noFill/>
          </a:ln>
        </p:spPr>
        <p:txBody>
          <a:bodyPr lIns="0" tIns="0" rIns="0" bIns="0" anchor="ctr">
            <a:noAutofit/>
          </a:bodyPr>
          <a:p>
            <a:r>
              <a:rPr lang="en-US" sz="1800" b="0" u="none" strike="noStrike">
                <a:solidFill>
                  <a:schemeClr val="dk1"/>
                </a:solidFill>
                <a:effectLst/>
                <a:uFillTx/>
                <a:latin typeface="Aptos"/>
              </a:rPr>
              <a:t>Click to move the slide</a:t>
            </a:r>
            <a:endParaRPr lang="en-US" sz="1800" b="0" u="none" strike="noStrike">
              <a:solidFill>
                <a:schemeClr val="dk1"/>
              </a:solidFill>
              <a:effectLst/>
              <a:uFillTx/>
              <a:latin typeface="Aptos"/>
            </a:endParaRPr>
          </a:p>
        </p:txBody>
      </p:sp>
      <p:sp>
        <p:nvSpPr>
          <p:cNvPr id="5"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6"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7"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8"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9"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C34162C6-B5EE-4746-A3F8-DB5E5622C246}" type="slidenum">
              <a:rPr lang="en-US" sz="1400" b="0" u="none" strike="noStrike">
                <a:solidFill>
                  <a:srgbClr val="000000"/>
                </a:solidFill>
                <a:effectLst/>
                <a:uFillTx/>
                <a:latin typeface="Times New Roman"/>
              </a:rPr>
              <a:t>1</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5" name="PlaceHolder 1"/>
          <p:cNvSpPr>
            <a:spLocks noGrp="1"/>
          </p:cNvSpPr>
          <p:nvPr>
            <p:ph type="sldImg"/>
          </p:nvPr>
        </p:nvSpPr>
        <p:spPr>
          <a:xfrm>
            <a:off x="685800" y="1143000"/>
            <a:ext cx="5486040" cy="3085920"/>
          </a:xfrm>
          <a:prstGeom prst="rect">
            <a:avLst/>
          </a:prstGeom>
          <a:ln w="0">
            <a:noFill/>
          </a:ln>
        </p:spPr>
      </p:sp>
      <p:sp>
        <p:nvSpPr>
          <p:cNvPr id="27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277" name="PlaceHolder 3"/>
          <p:cNvSpPr>
            <a:spLocks noGrp="1"/>
          </p:cNvSpPr>
          <p:nvPr>
            <p:ph type="sldNum" idx="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01983AA-5C7C-4AAE-A865-7B618E97302E}" type="slidenum">
              <a:rPr lang="en-US" sz="1200" b="0" u="none" strike="noStrike">
                <a:solidFill>
                  <a:schemeClr val="dk1"/>
                </a:solidFill>
                <a:effectLst/>
                <a:uFillTx/>
                <a:latin typeface="+mn-lt"/>
                <a:ea typeface="+mn-ea"/>
              </a:rPr>
              <a:t>7</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8" name="PlaceHolder 1"/>
          <p:cNvSpPr>
            <a:spLocks noGrp="1"/>
          </p:cNvSpPr>
          <p:nvPr>
            <p:ph type="sldImg"/>
          </p:nvPr>
        </p:nvSpPr>
        <p:spPr>
          <a:xfrm>
            <a:off x="685800" y="1143000"/>
            <a:ext cx="5486040" cy="3085920"/>
          </a:xfrm>
          <a:prstGeom prst="rect">
            <a:avLst/>
          </a:prstGeom>
          <a:ln w="0">
            <a:noFill/>
          </a:ln>
        </p:spPr>
      </p:sp>
      <p:sp>
        <p:nvSpPr>
          <p:cNvPr id="27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280" name="PlaceHolder 3"/>
          <p:cNvSpPr>
            <a:spLocks noGrp="1"/>
          </p:cNvSpPr>
          <p:nvPr>
            <p:ph type="sldNum" idx="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5D10322-CB00-4B9B-AAE3-8F9D9971C4B1}" type="slidenum">
              <a:rPr lang="en-US" sz="1200" b="0" u="none" strike="noStrike">
                <a:solidFill>
                  <a:schemeClr val="dk1"/>
                </a:solidFill>
                <a:effectLst/>
                <a:uFillTx/>
                <a:latin typeface="+mn-lt"/>
                <a:ea typeface="+mn-ea"/>
              </a:rPr>
              <a:t>7</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1" name="PlaceHolder 1"/>
          <p:cNvSpPr>
            <a:spLocks noGrp="1"/>
          </p:cNvSpPr>
          <p:nvPr>
            <p:ph type="sldImg"/>
          </p:nvPr>
        </p:nvSpPr>
        <p:spPr>
          <a:xfrm>
            <a:off x="685800" y="1143000"/>
            <a:ext cx="5486040" cy="3085920"/>
          </a:xfrm>
          <a:prstGeom prst="rect">
            <a:avLst/>
          </a:prstGeom>
          <a:ln w="0">
            <a:noFill/>
          </a:ln>
        </p:spPr>
      </p:sp>
      <p:sp>
        <p:nvSpPr>
          <p:cNvPr id="28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283" name="PlaceHolder 3"/>
          <p:cNvSpPr>
            <a:spLocks noGrp="1"/>
          </p:cNvSpPr>
          <p:nvPr>
            <p:ph type="sldNum" idx="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3741E1E-F0CC-49CD-A877-1AD2A9DE10BE}" type="slidenum">
              <a:rPr lang="en-US" sz="1200" b="0" u="none" strike="noStrike">
                <a:solidFill>
                  <a:schemeClr val="dk1"/>
                </a:solidFill>
                <a:effectLst/>
                <a:uFillTx/>
                <a:latin typeface="+mn-lt"/>
                <a:ea typeface="+mn-ea"/>
              </a:rPr>
              <a:t>7</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4" name="PlaceHolder 1"/>
          <p:cNvSpPr>
            <a:spLocks noGrp="1"/>
          </p:cNvSpPr>
          <p:nvPr>
            <p:ph type="sldImg"/>
          </p:nvPr>
        </p:nvSpPr>
        <p:spPr>
          <a:xfrm>
            <a:off x="685800" y="1143000"/>
            <a:ext cx="5486040" cy="3085920"/>
          </a:xfrm>
          <a:prstGeom prst="rect">
            <a:avLst/>
          </a:prstGeom>
          <a:ln w="0">
            <a:noFill/>
          </a:ln>
        </p:spPr>
      </p:sp>
      <p:sp>
        <p:nvSpPr>
          <p:cNvPr id="28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286" name="PlaceHolder 3"/>
          <p:cNvSpPr>
            <a:spLocks noGrp="1"/>
          </p:cNvSpPr>
          <p:nvPr>
            <p:ph type="sldNum" idx="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51B4E70-355C-416F-8D7D-9BD6208ADC30}" type="slidenum">
              <a:rPr lang="en-US" sz="1200" b="0" u="none" strike="noStrike">
                <a:solidFill>
                  <a:schemeClr val="dk1"/>
                </a:solidFill>
                <a:effectLst/>
                <a:uFillTx/>
                <a:latin typeface="+mn-lt"/>
                <a:ea typeface="+mn-ea"/>
              </a:rPr>
              <a:t>7</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7" name="PlaceHolder 1"/>
          <p:cNvSpPr>
            <a:spLocks noGrp="1"/>
          </p:cNvSpPr>
          <p:nvPr>
            <p:ph type="sldImg"/>
          </p:nvPr>
        </p:nvSpPr>
        <p:spPr>
          <a:xfrm>
            <a:off x="685800" y="1143000"/>
            <a:ext cx="5486040" cy="3085920"/>
          </a:xfrm>
          <a:prstGeom prst="rect">
            <a:avLst/>
          </a:prstGeom>
          <a:ln w="0">
            <a:noFill/>
          </a:ln>
        </p:spPr>
      </p:sp>
      <p:sp>
        <p:nvSpPr>
          <p:cNvPr id="28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289" name="PlaceHolder 3"/>
          <p:cNvSpPr>
            <a:spLocks noGrp="1"/>
          </p:cNvSpPr>
          <p:nvPr>
            <p:ph type="sldNum" idx="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1FD8B69-2498-4E75-89EB-7C3756E86EA4}" type="slidenum">
              <a:rPr lang="en-US" sz="1200" b="0" u="none" strike="noStrike">
                <a:solidFill>
                  <a:schemeClr val="dk1"/>
                </a:solidFill>
                <a:effectLst/>
                <a:uFillTx/>
                <a:latin typeface="+mn-lt"/>
                <a:ea typeface="+mn-ea"/>
              </a:rPr>
              <a:t>7</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0" name="PlaceHolder 1"/>
          <p:cNvSpPr>
            <a:spLocks noGrp="1"/>
          </p:cNvSpPr>
          <p:nvPr>
            <p:ph type="sldImg"/>
          </p:nvPr>
        </p:nvSpPr>
        <p:spPr>
          <a:xfrm>
            <a:off x="685800" y="1143000"/>
            <a:ext cx="5486040" cy="3085920"/>
          </a:xfrm>
          <a:prstGeom prst="rect">
            <a:avLst/>
          </a:prstGeom>
          <a:ln w="0">
            <a:noFill/>
          </a:ln>
        </p:spPr>
      </p:sp>
      <p:sp>
        <p:nvSpPr>
          <p:cNvPr id="29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292" name="PlaceHolder 3"/>
          <p:cNvSpPr>
            <a:spLocks noGrp="1"/>
          </p:cNvSpPr>
          <p:nvPr>
            <p:ph type="sldNum" idx="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4AFDC7A-9B6B-47CE-8EE5-0CCAAC8C0FB5}" type="slidenum">
              <a:rPr lang="en-US" sz="1200" b="0" u="none" strike="noStrike">
                <a:solidFill>
                  <a:schemeClr val="dk1"/>
                </a:solidFill>
                <a:effectLst/>
                <a:uFillTx/>
                <a:latin typeface="+mn-lt"/>
                <a:ea typeface="+mn-ea"/>
              </a:rPr>
              <a:t>7</a:t>
            </a:fld>
            <a:endParaRPr lang="en-U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3" name="PlaceHolder 1"/>
          <p:cNvSpPr>
            <a:spLocks noGrp="1"/>
          </p:cNvSpPr>
          <p:nvPr>
            <p:ph type="sldImg"/>
          </p:nvPr>
        </p:nvSpPr>
        <p:spPr>
          <a:xfrm>
            <a:off x="685800" y="1143000"/>
            <a:ext cx="5486040" cy="3085920"/>
          </a:xfrm>
          <a:prstGeom prst="rect">
            <a:avLst/>
          </a:prstGeom>
          <a:ln w="0">
            <a:noFill/>
          </a:ln>
        </p:spPr>
      </p:sp>
      <p:sp>
        <p:nvSpPr>
          <p:cNvPr id="29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295" name="PlaceHolder 3"/>
          <p:cNvSpPr>
            <a:spLocks noGrp="1"/>
          </p:cNvSpPr>
          <p:nvPr>
            <p:ph type="sldNum" idx="1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BE3F410-D8FD-4DCB-8E87-315444BA2A2C}" type="slidenum">
              <a:rPr lang="en-US" sz="1200" b="0" u="none" strike="noStrike">
                <a:solidFill>
                  <a:schemeClr val="dk1"/>
                </a:solidFill>
                <a:effectLst/>
                <a:uFillTx/>
                <a:latin typeface="+mn-lt"/>
                <a:ea typeface="+mn-ea"/>
              </a:rPr>
              <a:t>7</a:t>
            </a:fld>
            <a:endParaRPr lang="en-US"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6" name="PlaceHolder 1"/>
          <p:cNvSpPr>
            <a:spLocks noGrp="1"/>
          </p:cNvSpPr>
          <p:nvPr>
            <p:ph type="sldImg"/>
          </p:nvPr>
        </p:nvSpPr>
        <p:spPr>
          <a:xfrm>
            <a:off x="685800" y="1143000"/>
            <a:ext cx="5486040" cy="3085920"/>
          </a:xfrm>
          <a:prstGeom prst="rect">
            <a:avLst/>
          </a:prstGeom>
          <a:ln w="0">
            <a:noFill/>
          </a:ln>
        </p:spPr>
      </p:sp>
      <p:sp>
        <p:nvSpPr>
          <p:cNvPr id="29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298" name="PlaceHolder 3"/>
          <p:cNvSpPr>
            <a:spLocks noGrp="1"/>
          </p:cNvSpPr>
          <p:nvPr>
            <p:ph type="sldNum" idx="1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F26CAB0-2A3B-49EE-A03C-674677CB2402}" type="slidenum">
              <a:rPr lang="en-US" sz="1200" b="0" u="none" strike="noStrike">
                <a:solidFill>
                  <a:schemeClr val="dk1"/>
                </a:solidFill>
                <a:effectLst/>
                <a:uFillTx/>
                <a:latin typeface="+mn-lt"/>
                <a:ea typeface="+mn-ea"/>
              </a:rPr>
              <a:t>7</a:t>
            </a:fld>
            <a:endParaRPr lang="en-US"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9" name="PlaceHolder 1"/>
          <p:cNvSpPr>
            <a:spLocks noGrp="1"/>
          </p:cNvSpPr>
          <p:nvPr>
            <p:ph type="sldImg"/>
          </p:nvPr>
        </p:nvSpPr>
        <p:spPr>
          <a:xfrm>
            <a:off x="685800" y="1143000"/>
            <a:ext cx="5486040" cy="3085920"/>
          </a:xfrm>
          <a:prstGeom prst="rect">
            <a:avLst/>
          </a:prstGeom>
          <a:ln w="0">
            <a:noFill/>
          </a:ln>
        </p:spPr>
      </p:sp>
      <p:sp>
        <p:nvSpPr>
          <p:cNvPr id="30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301" name="PlaceHolder 3"/>
          <p:cNvSpPr>
            <a:spLocks noGrp="1"/>
          </p:cNvSpPr>
          <p:nvPr>
            <p:ph type="sldNum" idx="1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1C307C7-64A6-4701-A5E5-98CBD0C9AA53}" type="slidenum">
              <a:rPr lang="en-US" sz="1200" b="0" u="none" strike="noStrike">
                <a:solidFill>
                  <a:schemeClr val="dk1"/>
                </a:solidFill>
                <a:effectLst/>
                <a:uFillTx/>
                <a:latin typeface="+mn-lt"/>
                <a:ea typeface="+mn-ea"/>
              </a:rPr>
              <a:t>7</a:t>
            </a:fld>
            <a:endParaRPr lang="en-US"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2" name="PlaceHolder 1"/>
          <p:cNvSpPr>
            <a:spLocks noGrp="1"/>
          </p:cNvSpPr>
          <p:nvPr>
            <p:ph type="sldImg"/>
          </p:nvPr>
        </p:nvSpPr>
        <p:spPr>
          <a:xfrm>
            <a:off x="685800" y="1143000"/>
            <a:ext cx="5486040" cy="3085920"/>
          </a:xfrm>
          <a:prstGeom prst="rect">
            <a:avLst/>
          </a:prstGeom>
          <a:ln w="0">
            <a:noFill/>
          </a:ln>
        </p:spPr>
      </p:sp>
      <p:sp>
        <p:nvSpPr>
          <p:cNvPr id="30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304" name="PlaceHolder 3"/>
          <p:cNvSpPr>
            <a:spLocks noGrp="1"/>
          </p:cNvSpPr>
          <p:nvPr>
            <p:ph type="sldNum" idx="1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A322885-7399-4E18-8796-7F2ADD90105B}" type="slidenum">
              <a:rPr lang="en-US" sz="1200" b="0" u="none" strike="noStrike">
                <a:solidFill>
                  <a:schemeClr val="dk1"/>
                </a:solidFill>
                <a:effectLst/>
                <a:uFillTx/>
                <a:latin typeface="+mn-lt"/>
                <a:ea typeface="+mn-ea"/>
              </a:rPr>
              <a:t>7</a:t>
            </a:fld>
            <a:endParaRPr lang="en-US"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5" name="PlaceHolder 1"/>
          <p:cNvSpPr>
            <a:spLocks noGrp="1"/>
          </p:cNvSpPr>
          <p:nvPr>
            <p:ph type="sldImg"/>
          </p:nvPr>
        </p:nvSpPr>
        <p:spPr>
          <a:xfrm>
            <a:off x="685800" y="1143000"/>
            <a:ext cx="5486040" cy="3085920"/>
          </a:xfrm>
          <a:prstGeom prst="rect">
            <a:avLst/>
          </a:prstGeom>
          <a:ln w="0">
            <a:noFill/>
          </a:ln>
        </p:spPr>
      </p:sp>
      <p:sp>
        <p:nvSpPr>
          <p:cNvPr id="30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307" name="PlaceHolder 3"/>
          <p:cNvSpPr>
            <a:spLocks noGrp="1"/>
          </p:cNvSpPr>
          <p:nvPr>
            <p:ph type="sldNum" idx="1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5778D83-F056-4851-8065-99636D2BC96C}" type="slidenum">
              <a:rPr lang="en-US" sz="1200" b="0" u="none" strike="noStrike">
                <a:solidFill>
                  <a:schemeClr val="dk1"/>
                </a:solidFill>
                <a:effectLst/>
                <a:uFillTx/>
                <a:latin typeface="+mn-lt"/>
                <a:ea typeface="+mn-ea"/>
              </a:rPr>
              <a:t>7</a:t>
            </a:fld>
            <a:endParaRPr lang="en-US"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8" name="PlaceHolder 1"/>
          <p:cNvSpPr>
            <a:spLocks noGrp="1"/>
          </p:cNvSpPr>
          <p:nvPr>
            <p:ph type="sldImg"/>
          </p:nvPr>
        </p:nvSpPr>
        <p:spPr>
          <a:xfrm>
            <a:off x="685800" y="1143000"/>
            <a:ext cx="5486040" cy="3085920"/>
          </a:xfrm>
          <a:prstGeom prst="rect">
            <a:avLst/>
          </a:prstGeom>
          <a:ln w="0">
            <a:noFill/>
          </a:ln>
        </p:spPr>
      </p:sp>
      <p:sp>
        <p:nvSpPr>
          <p:cNvPr id="30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310" name="PlaceHolder 3"/>
          <p:cNvSpPr>
            <a:spLocks noGrp="1"/>
          </p:cNvSpPr>
          <p:nvPr>
            <p:ph type="sldNum" idx="1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7315480-5875-4621-9D0C-4AC1122CEE74}" type="slidenum">
              <a:rPr lang="en-US" sz="1200" b="0" u="none" strike="noStrike">
                <a:solidFill>
                  <a:schemeClr val="dk1"/>
                </a:solidFill>
                <a:effectLst/>
                <a:uFillTx/>
                <a:latin typeface="+mn-lt"/>
                <a:ea typeface="+mn-ea"/>
              </a:rPr>
              <a:t>7</a:t>
            </a:fld>
            <a:endParaRPr lang="en-US"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1" name="PlaceHolder 1"/>
          <p:cNvSpPr>
            <a:spLocks noGrp="1"/>
          </p:cNvSpPr>
          <p:nvPr>
            <p:ph type="sldImg"/>
          </p:nvPr>
        </p:nvSpPr>
        <p:spPr>
          <a:xfrm>
            <a:off x="685800" y="1143000"/>
            <a:ext cx="5486040" cy="3085920"/>
          </a:xfrm>
          <a:prstGeom prst="rect">
            <a:avLst/>
          </a:prstGeom>
          <a:ln w="0">
            <a:noFill/>
          </a:ln>
        </p:spPr>
      </p:sp>
      <p:sp>
        <p:nvSpPr>
          <p:cNvPr id="31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313" name="PlaceHolder 3"/>
          <p:cNvSpPr>
            <a:spLocks noGrp="1"/>
          </p:cNvSpPr>
          <p:nvPr>
            <p:ph type="sldNum" idx="1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0DE77D5-9735-4CA0-BF3D-480BF2F1273A}" type="slidenum">
              <a:rPr lang="en-US" sz="1200" b="0" u="none" strike="noStrike">
                <a:solidFill>
                  <a:schemeClr val="dk1"/>
                </a:solidFill>
                <a:effectLst/>
                <a:uFillTx/>
                <a:latin typeface="+mn-lt"/>
                <a:ea typeface="+mn-ea"/>
              </a:rPr>
              <a:t>7</a:t>
            </a:fld>
            <a:endParaRPr lang="en-US"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4" name="PlaceHolder 1"/>
          <p:cNvSpPr>
            <a:spLocks noGrp="1"/>
          </p:cNvSpPr>
          <p:nvPr>
            <p:ph type="sldImg"/>
          </p:nvPr>
        </p:nvSpPr>
        <p:spPr>
          <a:xfrm>
            <a:off x="685800" y="1143000"/>
            <a:ext cx="5486040" cy="3085920"/>
          </a:xfrm>
          <a:prstGeom prst="rect">
            <a:avLst/>
          </a:prstGeom>
          <a:ln w="0">
            <a:noFill/>
          </a:ln>
        </p:spPr>
      </p:sp>
      <p:sp>
        <p:nvSpPr>
          <p:cNvPr id="31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316" name="PlaceHolder 3"/>
          <p:cNvSpPr>
            <a:spLocks noGrp="1"/>
          </p:cNvSpPr>
          <p:nvPr>
            <p:ph type="sldNum" idx="1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CD837B6-3DFA-4F68-AFC7-832A837B06F7}" type="slidenum">
              <a:rPr lang="en-US" sz="1200" b="0" u="none" strike="noStrike">
                <a:solidFill>
                  <a:schemeClr val="dk1"/>
                </a:solidFill>
                <a:effectLst/>
                <a:uFillTx/>
                <a:latin typeface="+mn-lt"/>
                <a:ea typeface="+mn-ea"/>
              </a:rPr>
              <a:t>7</a:t>
            </a:fld>
            <a:endParaRPr lang="en-US"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7" name="PlaceHolder 1"/>
          <p:cNvSpPr>
            <a:spLocks noGrp="1"/>
          </p:cNvSpPr>
          <p:nvPr>
            <p:ph type="sldImg"/>
          </p:nvPr>
        </p:nvSpPr>
        <p:spPr>
          <a:xfrm>
            <a:off x="685800" y="1143000"/>
            <a:ext cx="5486040" cy="3085920"/>
          </a:xfrm>
          <a:prstGeom prst="rect">
            <a:avLst/>
          </a:prstGeom>
          <a:ln w="0">
            <a:noFill/>
          </a:ln>
        </p:spPr>
      </p:sp>
      <p:sp>
        <p:nvSpPr>
          <p:cNvPr id="31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319" name="PlaceHolder 3"/>
          <p:cNvSpPr>
            <a:spLocks noGrp="1"/>
          </p:cNvSpPr>
          <p:nvPr>
            <p:ph type="sldNum" idx="1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C8CECAE-D269-4C3A-ADD5-386E846BBD9F}" type="slidenum">
              <a:rPr lang="en-US" sz="1200" b="0" u="none" strike="noStrike">
                <a:solidFill>
                  <a:schemeClr val="dk1"/>
                </a:solidFill>
                <a:effectLst/>
                <a:uFillTx/>
                <a:latin typeface="+mn-lt"/>
                <a:ea typeface="+mn-ea"/>
              </a:rPr>
              <a:t>7</a:t>
            </a:fld>
            <a:endParaRPr lang="en-US" sz="12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0" name="PlaceHolder 1"/>
          <p:cNvSpPr>
            <a:spLocks noGrp="1"/>
          </p:cNvSpPr>
          <p:nvPr>
            <p:ph type="sldImg"/>
          </p:nvPr>
        </p:nvSpPr>
        <p:spPr>
          <a:xfrm>
            <a:off x="685800" y="1143000"/>
            <a:ext cx="5486040" cy="3085920"/>
          </a:xfrm>
          <a:prstGeom prst="rect">
            <a:avLst/>
          </a:prstGeom>
          <a:ln w="0">
            <a:noFill/>
          </a:ln>
        </p:spPr>
      </p:sp>
      <p:sp>
        <p:nvSpPr>
          <p:cNvPr id="32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322" name="PlaceHolder 3"/>
          <p:cNvSpPr>
            <a:spLocks noGrp="1"/>
          </p:cNvSpPr>
          <p:nvPr>
            <p:ph type="sldNum" idx="1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41723E2-C4DD-4BF3-B4D1-DDF47BBD216D}" type="slidenum">
              <a:rPr lang="en-US" sz="1200" b="0" u="none" strike="noStrike">
                <a:solidFill>
                  <a:schemeClr val="dk1"/>
                </a:solidFill>
                <a:effectLst/>
                <a:uFillTx/>
                <a:latin typeface="+mn-lt"/>
                <a:ea typeface="+mn-ea"/>
              </a:rPr>
              <a:t>7</a:t>
            </a:fld>
            <a:endParaRPr lang="en-US" sz="1200" b="0" u="none" strike="noStrik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3" name="PlaceHolder 1"/>
          <p:cNvSpPr>
            <a:spLocks noGrp="1"/>
          </p:cNvSpPr>
          <p:nvPr>
            <p:ph type="sldImg"/>
          </p:nvPr>
        </p:nvSpPr>
        <p:spPr>
          <a:xfrm>
            <a:off x="685800" y="1143000"/>
            <a:ext cx="5486040" cy="3085920"/>
          </a:xfrm>
          <a:prstGeom prst="rect">
            <a:avLst/>
          </a:prstGeom>
          <a:ln w="0">
            <a:noFill/>
          </a:ln>
        </p:spPr>
      </p:sp>
      <p:sp>
        <p:nvSpPr>
          <p:cNvPr id="32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325" name="PlaceHolder 3"/>
          <p:cNvSpPr>
            <a:spLocks noGrp="1"/>
          </p:cNvSpPr>
          <p:nvPr>
            <p:ph type="sldNum" idx="2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A60A1A6-481A-4041-A263-5FB845EB973E}" type="slidenum">
              <a:rPr lang="en-US" sz="1200" b="0" u="none" strike="noStrike">
                <a:solidFill>
                  <a:schemeClr val="dk1"/>
                </a:solidFill>
                <a:effectLst/>
                <a:uFillTx/>
                <a:latin typeface="+mn-lt"/>
                <a:ea typeface="+mn-ea"/>
              </a:rPr>
              <a:t>7</a:t>
            </a:fld>
            <a:endParaRPr lang="en-US" sz="1200" b="0" u="none" strike="noStrik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6" name="PlaceHolder 1"/>
          <p:cNvSpPr>
            <a:spLocks noGrp="1"/>
          </p:cNvSpPr>
          <p:nvPr>
            <p:ph type="sldImg"/>
          </p:nvPr>
        </p:nvSpPr>
        <p:spPr>
          <a:xfrm>
            <a:off x="685800" y="1143000"/>
            <a:ext cx="5486040" cy="3085920"/>
          </a:xfrm>
          <a:prstGeom prst="rect">
            <a:avLst/>
          </a:prstGeom>
          <a:ln w="0">
            <a:noFill/>
          </a:ln>
        </p:spPr>
      </p:sp>
      <p:sp>
        <p:nvSpPr>
          <p:cNvPr id="32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328" name="PlaceHolder 3"/>
          <p:cNvSpPr>
            <a:spLocks noGrp="1"/>
          </p:cNvSpPr>
          <p:nvPr>
            <p:ph type="sldNum" idx="2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03BAB4B-2EA2-49F6-B507-D6FFA2801BEB}" type="slidenum">
              <a:rPr lang="en-US" sz="1200" b="0" u="none" strike="noStrike">
                <a:solidFill>
                  <a:schemeClr val="dk1"/>
                </a:solidFill>
                <a:effectLst/>
                <a:uFillTx/>
                <a:latin typeface="+mn-lt"/>
                <a:ea typeface="+mn-ea"/>
              </a:rPr>
              <a:t>7</a:t>
            </a:fld>
            <a:endParaRPr lang="en-US" sz="1200" b="0" u="none" strike="noStrik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9" name="PlaceHolder 1"/>
          <p:cNvSpPr>
            <a:spLocks noGrp="1"/>
          </p:cNvSpPr>
          <p:nvPr>
            <p:ph type="sldImg"/>
          </p:nvPr>
        </p:nvSpPr>
        <p:spPr>
          <a:xfrm>
            <a:off x="685800" y="1143000"/>
            <a:ext cx="5486040" cy="3085920"/>
          </a:xfrm>
          <a:prstGeom prst="rect">
            <a:avLst/>
          </a:prstGeom>
          <a:ln w="0">
            <a:noFill/>
          </a:ln>
        </p:spPr>
      </p:sp>
      <p:sp>
        <p:nvSpPr>
          <p:cNvPr id="33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331" name="PlaceHolder 3"/>
          <p:cNvSpPr>
            <a:spLocks noGrp="1"/>
          </p:cNvSpPr>
          <p:nvPr>
            <p:ph type="sldNum" idx="2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BDC83FC-952E-488D-8E9F-FAF7A4FFED9D}" type="slidenum">
              <a:rPr lang="en-US" sz="1200" b="0" u="none" strike="noStrike">
                <a:solidFill>
                  <a:schemeClr val="dk1"/>
                </a:solidFill>
                <a:effectLst/>
                <a:uFillTx/>
                <a:latin typeface="+mn-lt"/>
                <a:ea typeface="+mn-ea"/>
              </a:rPr>
              <a:t>7</a:t>
            </a:fld>
            <a:endParaRPr lang="en-US" sz="1200" b="0" u="none" strike="noStrik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2" name="PlaceHolder 1"/>
          <p:cNvSpPr>
            <a:spLocks noGrp="1"/>
          </p:cNvSpPr>
          <p:nvPr>
            <p:ph type="sldImg"/>
          </p:nvPr>
        </p:nvSpPr>
        <p:spPr>
          <a:xfrm>
            <a:off x="685800" y="1143000"/>
            <a:ext cx="5486040" cy="3085920"/>
          </a:xfrm>
          <a:prstGeom prst="rect">
            <a:avLst/>
          </a:prstGeom>
          <a:ln w="0">
            <a:noFill/>
          </a:ln>
        </p:spPr>
      </p:sp>
      <p:sp>
        <p:nvSpPr>
          <p:cNvPr id="33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334" name="PlaceHolder 3"/>
          <p:cNvSpPr>
            <a:spLocks noGrp="1"/>
          </p:cNvSpPr>
          <p:nvPr>
            <p:ph type="sldNum" idx="2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9A02E37-76FB-49CC-A5BC-2B9349DDE11D}" type="slidenum">
              <a:rPr lang="en-US" sz="1200" b="0" u="none" strike="noStrike">
                <a:solidFill>
                  <a:schemeClr val="dk1"/>
                </a:solidFill>
                <a:effectLst/>
                <a:uFillTx/>
                <a:latin typeface="+mn-lt"/>
                <a:ea typeface="+mn-ea"/>
              </a:rPr>
              <a:t>7</a:t>
            </a:fld>
            <a:endParaRPr lang="en-US" sz="1200" b="0" u="none" strike="noStrike">
              <a:solidFill>
                <a:srgbClr val="000000"/>
              </a:solidFill>
              <a:effectLst/>
              <a:uFillTx/>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5" name="PlaceHolder 1"/>
          <p:cNvSpPr>
            <a:spLocks noGrp="1"/>
          </p:cNvSpPr>
          <p:nvPr>
            <p:ph type="sldImg"/>
          </p:nvPr>
        </p:nvSpPr>
        <p:spPr>
          <a:xfrm>
            <a:off x="685800" y="1143000"/>
            <a:ext cx="5486040" cy="3085920"/>
          </a:xfrm>
          <a:prstGeom prst="rect">
            <a:avLst/>
          </a:prstGeom>
          <a:ln w="0">
            <a:noFill/>
          </a:ln>
        </p:spPr>
      </p:sp>
      <p:sp>
        <p:nvSpPr>
          <p:cNvPr id="33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337" name="PlaceHolder 3"/>
          <p:cNvSpPr>
            <a:spLocks noGrp="1"/>
          </p:cNvSpPr>
          <p:nvPr>
            <p:ph type="sldNum" idx="2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D2EF7D7-28F0-4072-9AC4-67B862B65F07}" type="slidenum">
              <a:rPr lang="en-US" sz="1200" b="0" u="none" strike="noStrike">
                <a:solidFill>
                  <a:schemeClr val="dk1"/>
                </a:solidFill>
                <a:effectLst/>
                <a:uFillTx/>
                <a:latin typeface="+mn-lt"/>
                <a:ea typeface="+mn-ea"/>
              </a:rPr>
              <a:t>7</a:t>
            </a:fld>
            <a:endParaRPr lang="en-US" sz="1200" b="0" u="none" strike="noStrike">
              <a:solidFill>
                <a:srgbClr val="000000"/>
              </a:solidFill>
              <a:effectLst/>
              <a:uFillTx/>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8" name="PlaceHolder 1"/>
          <p:cNvSpPr>
            <a:spLocks noGrp="1"/>
          </p:cNvSpPr>
          <p:nvPr>
            <p:ph type="sldImg"/>
          </p:nvPr>
        </p:nvSpPr>
        <p:spPr>
          <a:xfrm>
            <a:off x="685800" y="1143000"/>
            <a:ext cx="5486040" cy="3085920"/>
          </a:xfrm>
          <a:prstGeom prst="rect">
            <a:avLst/>
          </a:prstGeom>
          <a:ln w="0">
            <a:noFill/>
          </a:ln>
        </p:spPr>
      </p:sp>
      <p:sp>
        <p:nvSpPr>
          <p:cNvPr id="33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340" name="PlaceHolder 3"/>
          <p:cNvSpPr>
            <a:spLocks noGrp="1"/>
          </p:cNvSpPr>
          <p:nvPr>
            <p:ph type="sldNum" idx="2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2B09AE6-03C1-4599-B2A5-DA42DF44EEF4}" type="slidenum">
              <a:rPr lang="en-US" sz="1200" b="0" u="none" strike="noStrike">
                <a:solidFill>
                  <a:schemeClr val="dk1"/>
                </a:solidFill>
                <a:effectLst/>
                <a:uFillTx/>
                <a:latin typeface="+mn-lt"/>
                <a:ea typeface="+mn-ea"/>
              </a:rPr>
              <a:t>7</a:t>
            </a:fld>
            <a:endParaRPr lang="en-US" sz="1200" b="0" u="none" strike="noStrike">
              <a:solidFill>
                <a:srgbClr val="000000"/>
              </a:solidFill>
              <a:effectLst/>
              <a:uFillTx/>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1" name="PlaceHolder 1"/>
          <p:cNvSpPr>
            <a:spLocks noGrp="1"/>
          </p:cNvSpPr>
          <p:nvPr>
            <p:ph type="sldImg"/>
          </p:nvPr>
        </p:nvSpPr>
        <p:spPr>
          <a:xfrm>
            <a:off x="685800" y="1143000"/>
            <a:ext cx="5486040" cy="3085920"/>
          </a:xfrm>
          <a:prstGeom prst="rect">
            <a:avLst/>
          </a:prstGeom>
          <a:ln w="0">
            <a:noFill/>
          </a:ln>
        </p:spPr>
      </p:sp>
      <p:sp>
        <p:nvSpPr>
          <p:cNvPr id="34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343" name="PlaceHolder 3"/>
          <p:cNvSpPr>
            <a:spLocks noGrp="1"/>
          </p:cNvSpPr>
          <p:nvPr>
            <p:ph type="sldNum" idx="2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C55D68B-0567-42F0-95C6-69C35A034CE6}" type="slidenum">
              <a:rPr lang="en-US" sz="1200" b="0" u="none" strike="noStrike">
                <a:solidFill>
                  <a:schemeClr val="dk1"/>
                </a:solidFill>
                <a:effectLst/>
                <a:uFillTx/>
                <a:latin typeface="+mn-lt"/>
                <a:ea typeface="+mn-ea"/>
              </a:rPr>
              <a:t>7</a:t>
            </a:fld>
            <a:endParaRPr lang="en-US" sz="1200" b="0" u="none" strike="noStrike">
              <a:solidFill>
                <a:srgbClr val="000000"/>
              </a:solidFill>
              <a:effectLst/>
              <a:uFillTx/>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4" name="PlaceHolder 1"/>
          <p:cNvSpPr>
            <a:spLocks noGrp="1"/>
          </p:cNvSpPr>
          <p:nvPr>
            <p:ph type="sldImg"/>
          </p:nvPr>
        </p:nvSpPr>
        <p:spPr>
          <a:xfrm>
            <a:off x="685800" y="1143000"/>
            <a:ext cx="5486040" cy="3085920"/>
          </a:xfrm>
          <a:prstGeom prst="rect">
            <a:avLst/>
          </a:prstGeom>
          <a:ln w="0">
            <a:noFill/>
          </a:ln>
        </p:spPr>
      </p:sp>
      <p:sp>
        <p:nvSpPr>
          <p:cNvPr id="34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346" name="PlaceHolder 3"/>
          <p:cNvSpPr>
            <a:spLocks noGrp="1"/>
          </p:cNvSpPr>
          <p:nvPr>
            <p:ph type="sldNum" idx="2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3137BD8-95AC-4537-8C74-D39C240A1653}" type="slidenum">
              <a:rPr lang="en-US" sz="1200" b="0" u="none" strike="noStrike">
                <a:solidFill>
                  <a:schemeClr val="dk1"/>
                </a:solidFill>
                <a:effectLst/>
                <a:uFillTx/>
                <a:latin typeface="+mn-lt"/>
                <a:ea typeface="+mn-ea"/>
              </a:rPr>
              <a:t>7</a:t>
            </a:fld>
            <a:endParaRPr lang="en-US" sz="1200" b="0" u="none" strike="noStrike">
              <a:solidFill>
                <a:srgbClr val="000000"/>
              </a:solidFill>
              <a:effectLst/>
              <a:uFillTx/>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7" name="PlaceHolder 1"/>
          <p:cNvSpPr>
            <a:spLocks noGrp="1"/>
          </p:cNvSpPr>
          <p:nvPr>
            <p:ph type="sldImg"/>
          </p:nvPr>
        </p:nvSpPr>
        <p:spPr>
          <a:xfrm>
            <a:off x="685800" y="1143000"/>
            <a:ext cx="5486040" cy="3085920"/>
          </a:xfrm>
          <a:prstGeom prst="rect">
            <a:avLst/>
          </a:prstGeom>
          <a:ln w="0">
            <a:noFill/>
          </a:ln>
        </p:spPr>
      </p:sp>
      <p:sp>
        <p:nvSpPr>
          <p:cNvPr id="34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349" name="PlaceHolder 3"/>
          <p:cNvSpPr>
            <a:spLocks noGrp="1"/>
          </p:cNvSpPr>
          <p:nvPr>
            <p:ph type="sldNum" idx="2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E8B428F-2868-47FD-81D6-0F58F307DC79}" type="slidenum">
              <a:rPr lang="en-US" sz="1200" b="0" u="none" strike="noStrike">
                <a:solidFill>
                  <a:schemeClr val="dk1"/>
                </a:solidFill>
                <a:effectLst/>
                <a:uFillTx/>
                <a:latin typeface="+mn-lt"/>
                <a:ea typeface="+mn-ea"/>
              </a:rPr>
              <a:t>7</a:t>
            </a:fld>
            <a:endParaRPr lang="en-US" sz="1200" b="0" u="none" strike="noStrike">
              <a:solidFill>
                <a:srgbClr val="000000"/>
              </a:solidFill>
              <a:effectLst/>
              <a:uFillTx/>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0" name="PlaceHolder 1"/>
          <p:cNvSpPr>
            <a:spLocks noGrp="1"/>
          </p:cNvSpPr>
          <p:nvPr>
            <p:ph type="sldImg"/>
          </p:nvPr>
        </p:nvSpPr>
        <p:spPr>
          <a:xfrm>
            <a:off x="685800" y="1143000"/>
            <a:ext cx="5486040" cy="3085920"/>
          </a:xfrm>
          <a:prstGeom prst="rect">
            <a:avLst/>
          </a:prstGeom>
          <a:ln w="0">
            <a:noFill/>
          </a:ln>
        </p:spPr>
      </p:sp>
      <p:sp>
        <p:nvSpPr>
          <p:cNvPr id="35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352" name="PlaceHolder 3"/>
          <p:cNvSpPr>
            <a:spLocks noGrp="1"/>
          </p:cNvSpPr>
          <p:nvPr>
            <p:ph type="sldNum" idx="2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69D0D51-4273-4F0F-A1C4-AD6F1E414011}"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3" name="PlaceHolder 1"/>
          <p:cNvSpPr>
            <a:spLocks noGrp="1"/>
          </p:cNvSpPr>
          <p:nvPr>
            <p:ph type="sldImg"/>
          </p:nvPr>
        </p:nvSpPr>
        <p:spPr>
          <a:xfrm>
            <a:off x="685800" y="1143000"/>
            <a:ext cx="5486040" cy="3085920"/>
          </a:xfrm>
          <a:prstGeom prst="rect">
            <a:avLst/>
          </a:prstGeom>
          <a:ln w="0">
            <a:noFill/>
          </a:ln>
        </p:spPr>
      </p:sp>
      <p:sp>
        <p:nvSpPr>
          <p:cNvPr id="35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355" name="PlaceHolder 3"/>
          <p:cNvSpPr>
            <a:spLocks noGrp="1"/>
          </p:cNvSpPr>
          <p:nvPr>
            <p:ph type="sldNum" idx="3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B55CDC1-0780-46F2-A881-524D11789CB4}"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120" y="273600"/>
            <a:ext cx="10969560" cy="1144800"/>
          </a:xfrm>
          <a:prstGeom prst="rect">
            <a:avLst/>
          </a:prstGeom>
          <a:noFill/>
          <a:ln w="0">
            <a:noFill/>
          </a:ln>
        </p:spPr>
        <p:txBody>
          <a:bodyPr lIns="0" tIns="0" rIns="0" bIns="0" anchor="ctr">
            <a:noAutofit/>
          </a:bodyPr>
          <a:lstStyle>
            <a:lvl1pPr indent="0" algn="l">
              <a:buNone/>
              <a:defRPr lang="en-US" sz="1800" b="0" u="none" strike="noStrike">
                <a:solidFill>
                  <a:schemeClr val="dk1"/>
                </a:solidFill>
                <a:effectLst/>
                <a:uFillTx/>
                <a:latin typeface="Aptos"/>
              </a:defRPr>
            </a:lvl1pPr>
          </a:lstStyle>
          <a:p>
            <a:pPr indent="0" algn="l">
              <a:buNone/>
            </a:pPr>
            <a:r>
              <a:rPr lang="en-US" sz="1800" b="0" u="none" strike="noStrike">
                <a:solidFill>
                  <a:schemeClr val="dk1"/>
                </a:solidFill>
                <a:effectLst/>
                <a:uFillTx/>
                <a:latin typeface="Aptos"/>
              </a:rPr>
              <a:t>Click to edit the title text format</a:t>
            </a:r>
            <a:endParaRPr lang="en-US" sz="1800" b="0" u="none" strike="noStrike">
              <a:solidFill>
                <a:schemeClr val="dk1"/>
              </a:solidFill>
              <a:effectLst/>
              <a:uFillTx/>
              <a:latin typeface="Aptos"/>
            </a:endParaRPr>
          </a:p>
        </p:txBody>
      </p:sp>
      <p:sp>
        <p:nvSpPr>
          <p:cNvPr id="3" name="PlaceHolder 2"/>
          <p:cNvSpPr>
            <a:spLocks noGrp="1"/>
          </p:cNvSpPr>
          <p:nvPr>
            <p:ph type="body"/>
          </p:nvPr>
        </p:nvSpPr>
        <p:spPr>
          <a:xfrm>
            <a:off x="609120" y="1604520"/>
            <a:ext cx="1096956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chemeClr val="dk1"/>
                </a:solidFill>
                <a:effectLst/>
                <a:uFillTx/>
                <a:latin typeface="Aptos"/>
              </a:defRPr>
            </a:lvl1pPr>
            <a:lvl2pPr lvl="1" algn="l">
              <a:spcBef>
                <a:spcPts val="1134"/>
              </a:spcBef>
              <a:buClr>
                <a:srgbClr val="000000"/>
              </a:buClr>
              <a:buSzPct val="75000"/>
              <a:buFont typeface="Symbol" charset="2"/>
              <a:buChar char=""/>
              <a:defRPr lang="en-US" sz="2400" b="0" u="none" strike="noStrike">
                <a:solidFill>
                  <a:schemeClr val="dk1"/>
                </a:solidFill>
                <a:effectLst/>
                <a:uFillTx/>
                <a:latin typeface="Aptos"/>
              </a:defRPr>
            </a:lvl2pPr>
            <a:lvl3pPr lvl="2" algn="l">
              <a:spcBef>
                <a:spcPts val="850"/>
              </a:spcBef>
              <a:buClr>
                <a:srgbClr val="000000"/>
              </a:buClr>
              <a:buSzPct val="45000"/>
              <a:buFont typeface="Wingdings" charset="2"/>
              <a:buChar char=""/>
              <a:defRPr lang="en-US" sz="2000" b="0" u="none" strike="noStrike">
                <a:solidFill>
                  <a:schemeClr val="dk1"/>
                </a:solidFill>
                <a:effectLst/>
                <a:uFillTx/>
                <a:latin typeface="Aptos"/>
              </a:defRPr>
            </a:lvl3pPr>
            <a:lvl4pPr lvl="3" algn="l">
              <a:spcBef>
                <a:spcPts val="567"/>
              </a:spcBef>
              <a:buClr>
                <a:srgbClr val="000000"/>
              </a:buClr>
              <a:buSzPct val="75000"/>
              <a:buFont typeface="Symbol" charset="2"/>
              <a:buChar char=""/>
              <a:defRPr lang="en-US" sz="2000" b="0" u="none" strike="noStrike">
                <a:solidFill>
                  <a:schemeClr val="dk1"/>
                </a:solidFill>
                <a:effectLst/>
                <a:uFillTx/>
                <a:latin typeface="Aptos"/>
              </a:defRPr>
            </a:lvl4pPr>
            <a:lvl5pPr lvl="4" algn="l">
              <a:spcBef>
                <a:spcPts val="283"/>
              </a:spcBef>
              <a:buClr>
                <a:srgbClr val="000000"/>
              </a:buClr>
              <a:buSzPct val="45000"/>
              <a:buFont typeface="Wingdings" charset="2"/>
              <a:buChar char=""/>
              <a:defRPr lang="en-US" sz="2000" b="0" u="none" strike="noStrike">
                <a:solidFill>
                  <a:schemeClr val="dk1"/>
                </a:solidFill>
                <a:effectLst/>
                <a:uFillTx/>
                <a:latin typeface="Aptos"/>
              </a:defRPr>
            </a:lvl5pPr>
            <a:lvl6pPr lvl="5" algn="l">
              <a:spcBef>
                <a:spcPts val="283"/>
              </a:spcBef>
              <a:buClr>
                <a:srgbClr val="000000"/>
              </a:buClr>
              <a:buSzPct val="45000"/>
              <a:buFont typeface="Wingdings" charset="2"/>
              <a:buChar char=""/>
              <a:defRPr lang="en-US" sz="2000" b="0" u="none" strike="noStrike">
                <a:solidFill>
                  <a:schemeClr val="dk1"/>
                </a:solidFill>
                <a:effectLst/>
                <a:uFillTx/>
                <a:latin typeface="Aptos"/>
              </a:defRPr>
            </a:lvl6pPr>
            <a:lvl7pPr lvl="6" algn="l">
              <a:spcBef>
                <a:spcPts val="283"/>
              </a:spcBef>
              <a:buClr>
                <a:srgbClr val="000000"/>
              </a:buClr>
              <a:buSzPct val="45000"/>
              <a:buFont typeface="Wingdings" charset="2"/>
              <a:buChar char=""/>
              <a:defRPr lang="en-US" sz="2000" b="0" u="none" strike="noStrike">
                <a:solidFill>
                  <a:schemeClr val="dk1"/>
                </a:solidFill>
                <a:effectLst/>
                <a:uFillTx/>
                <a:latin typeface="Aptos"/>
              </a:defRPr>
            </a:lvl7pPr>
          </a:lstStyle>
          <a:p>
            <a:pPr marL="432000" indent="-324000" algn="l">
              <a:spcBef>
                <a:spcPts val="1417"/>
              </a:spcBef>
              <a:buClr>
                <a:srgbClr val="000000"/>
              </a:buClr>
              <a:buSzPct val="45000"/>
              <a:buFont typeface="Wingdings" charset="2"/>
              <a:buChar char=""/>
            </a:pPr>
            <a:r>
              <a:rPr lang="en-US" sz="3200" b="0" u="none" strike="noStrike">
                <a:solidFill>
                  <a:schemeClr val="dk1"/>
                </a:solidFill>
                <a:effectLst/>
                <a:uFillTx/>
                <a:latin typeface="Aptos"/>
              </a:rPr>
              <a:t>Click to edit the outline text format</a:t>
            </a:r>
            <a:endParaRPr lang="en-US" sz="3200" b="0" u="none" strike="noStrike">
              <a:solidFill>
                <a:schemeClr val="dk1"/>
              </a:solidFill>
              <a:effectLst/>
              <a:uFillTx/>
              <a:latin typeface="Aptos"/>
            </a:endParaRPr>
          </a:p>
          <a:p>
            <a:pPr marL="864000" lvl="1" indent="-324000" algn="l">
              <a:spcBef>
                <a:spcPts val="1134"/>
              </a:spcBef>
              <a:buClr>
                <a:srgbClr val="000000"/>
              </a:buClr>
              <a:buSzPct val="75000"/>
              <a:buFont typeface="Symbol" charset="2"/>
              <a:buChar char=""/>
            </a:pPr>
            <a:r>
              <a:rPr lang="en-US" sz="2400" b="0" u="none" strike="noStrike">
                <a:solidFill>
                  <a:schemeClr val="dk1"/>
                </a:solidFill>
                <a:effectLst/>
                <a:uFillTx/>
                <a:latin typeface="Aptos"/>
              </a:rPr>
              <a:t>Second Outline Level</a:t>
            </a:r>
            <a:endParaRPr lang="en-US" sz="2400" b="0" u="none" strike="noStrike">
              <a:solidFill>
                <a:schemeClr val="dk1"/>
              </a:solidFill>
              <a:effectLst/>
              <a:uFillTx/>
              <a:latin typeface="Aptos"/>
            </a:endParaRPr>
          </a:p>
          <a:p>
            <a:pPr marL="1296000" lvl="2" indent="-288000" algn="l">
              <a:spcBef>
                <a:spcPts val="850"/>
              </a:spcBef>
              <a:buClr>
                <a:srgbClr val="000000"/>
              </a:buClr>
              <a:buSzPct val="45000"/>
              <a:buFont typeface="Wingdings" charset="2"/>
              <a:buChar char=""/>
            </a:pPr>
            <a:r>
              <a:rPr lang="en-US" sz="2000" b="0" u="none" strike="noStrike">
                <a:solidFill>
                  <a:schemeClr val="dk1"/>
                </a:solidFill>
                <a:effectLst/>
                <a:uFillTx/>
                <a:latin typeface="Aptos"/>
              </a:rPr>
              <a:t>Third Outline Level</a:t>
            </a:r>
            <a:endParaRPr lang="en-US" sz="2000" b="0" u="none" strike="noStrike">
              <a:solidFill>
                <a:schemeClr val="dk1"/>
              </a:solidFill>
              <a:effectLst/>
              <a:uFillTx/>
              <a:latin typeface="Aptos"/>
            </a:endParaRPr>
          </a:p>
          <a:p>
            <a:pPr marL="1728000" lvl="3" indent="-216000" algn="l">
              <a:spcBef>
                <a:spcPts val="567"/>
              </a:spcBef>
              <a:buClr>
                <a:srgbClr val="000000"/>
              </a:buClr>
              <a:buSzPct val="75000"/>
              <a:buFont typeface="Symbol" charset="2"/>
              <a:buChar char=""/>
            </a:pPr>
            <a:r>
              <a:rPr lang="en-US" sz="2000" b="0" u="none" strike="noStrike">
                <a:solidFill>
                  <a:schemeClr val="dk1"/>
                </a:solidFill>
                <a:effectLst/>
                <a:uFillTx/>
                <a:latin typeface="Aptos"/>
              </a:rPr>
              <a:t>Fourth Outline Level</a:t>
            </a:r>
            <a:endParaRPr lang="en-US" sz="2000" b="0" u="none" strike="noStrike">
              <a:solidFill>
                <a:schemeClr val="dk1"/>
              </a:solidFill>
              <a:effectLst/>
              <a:uFillTx/>
              <a:latin typeface="Aptos"/>
            </a:endParaRPr>
          </a:p>
          <a:p>
            <a:pPr marL="2160000" lvl="4" indent="-216000" algn="l">
              <a:spcBef>
                <a:spcPts val="283"/>
              </a:spcBef>
              <a:buClr>
                <a:srgbClr val="000000"/>
              </a:buClr>
              <a:buSzPct val="45000"/>
              <a:buFont typeface="Wingdings" charset="2"/>
              <a:buChar char=""/>
            </a:pPr>
            <a:r>
              <a:rPr lang="en-US" sz="2000" b="0" u="none" strike="noStrike">
                <a:solidFill>
                  <a:schemeClr val="dk1"/>
                </a:solidFill>
                <a:effectLst/>
                <a:uFillTx/>
                <a:latin typeface="Aptos"/>
              </a:rPr>
              <a:t>Fifth Outline Level</a:t>
            </a:r>
            <a:endParaRPr lang="en-US" sz="2000" b="0" u="none" strike="noStrike">
              <a:solidFill>
                <a:schemeClr val="dk1"/>
              </a:solidFill>
              <a:effectLst/>
              <a:uFillTx/>
              <a:latin typeface="Aptos"/>
            </a:endParaRPr>
          </a:p>
          <a:p>
            <a:pPr marL="2592000" lvl="5" indent="-216000" algn="l">
              <a:spcBef>
                <a:spcPts val="283"/>
              </a:spcBef>
              <a:buClr>
                <a:srgbClr val="000000"/>
              </a:buClr>
              <a:buSzPct val="45000"/>
              <a:buFont typeface="Wingdings" charset="2"/>
              <a:buChar char=""/>
            </a:pPr>
            <a:r>
              <a:rPr lang="en-US" sz="2000" b="0" u="none" strike="noStrike">
                <a:solidFill>
                  <a:schemeClr val="dk1"/>
                </a:solidFill>
                <a:effectLst/>
                <a:uFillTx/>
                <a:latin typeface="Aptos"/>
              </a:rPr>
              <a:t>Sixth Outline Level</a:t>
            </a:r>
            <a:endParaRPr lang="en-US" sz="2000" b="0" u="none" strike="noStrike">
              <a:solidFill>
                <a:schemeClr val="dk1"/>
              </a:solidFill>
              <a:effectLst/>
              <a:uFillTx/>
              <a:latin typeface="Aptos"/>
            </a:endParaRPr>
          </a:p>
          <a:p>
            <a:pPr marL="3024000" lvl="6" indent="-216000" algn="l">
              <a:spcBef>
                <a:spcPts val="283"/>
              </a:spcBef>
              <a:buClr>
                <a:srgbClr val="000000"/>
              </a:buClr>
              <a:buSzPct val="45000"/>
              <a:buFont typeface="Wingdings" charset="2"/>
              <a:buChar char=""/>
            </a:pPr>
            <a:r>
              <a:rPr lang="en-US" sz="2000" b="0" u="none" strike="noStrike">
                <a:solidFill>
                  <a:schemeClr val="dk1"/>
                </a:solidFill>
                <a:effectLst/>
                <a:uFillTx/>
                <a:latin typeface="Aptos"/>
              </a:rPr>
              <a:t>Seventh Outline Level</a:t>
            </a:r>
            <a:endParaRPr lang="en-US" sz="2000" b="0" u="none" strike="noStrike">
              <a:solidFill>
                <a:schemeClr val="dk1"/>
              </a:solidFill>
              <a:effectLst/>
              <a:uFillTx/>
              <a:latin typeface="Aptos"/>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2.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 name="Image 0" descr="/mnt/data/a_wide_clean_modern_tech_it_support_control_room_batch_1.png"/>
          <p:cNvPicPr/>
          <p:nvPr/>
        </p:nvPicPr>
        <p:blipFill>
          <a:blip r:embed="rId1"/>
          <a:srcRect l="0" t="24" r="0" b="24"/>
          <a:stretch/>
        </p:blipFill>
        <p:spPr>
          <a:xfrm>
            <a:off x="0" y="0"/>
            <a:ext cx="12188520" cy="6857640"/>
          </a:xfrm>
          <a:prstGeom prst="rect">
            <a:avLst/>
          </a:prstGeom>
          <a:noFill/>
          <a:ln w="0">
            <a:noFill/>
          </a:ln>
        </p:spPr>
      </p:pic>
      <p:sp>
        <p:nvSpPr>
          <p:cNvPr id="11" name="Shape 0"/>
          <p:cNvSpPr/>
          <p:nvPr/>
        </p:nvSpPr>
        <p:spPr>
          <a:xfrm>
            <a:off x="360" y="0"/>
            <a:ext cx="6307560" cy="6857640"/>
          </a:xfrm>
          <a:prstGeom prst="rect">
            <a:avLst/>
          </a:prstGeom>
          <a:solidFill>
            <a:srgbClr val="0B1F3A">
              <a:alpha val="95000"/>
            </a:srgbClr>
          </a:solidFill>
          <a:ln w="12700">
            <a:solidFill>
              <a:srgbClr val="0B1F3A">
                <a:alpha val="0"/>
              </a:srgbClr>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2" name="Text 1"/>
          <p:cNvSpPr/>
          <p:nvPr/>
        </p:nvSpPr>
        <p:spPr>
          <a:xfrm>
            <a:off x="685440" y="640080"/>
            <a:ext cx="274212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trike="noStrike">
                <a:solidFill>
                  <a:srgbClr val="62D2E3"/>
                </a:solidFill>
                <a:effectLst/>
                <a:uFillTx/>
                <a:latin typeface="Aptos"/>
              </a:rPr>
              <a:t>KICK-OFF</a:t>
            </a:r>
            <a:endParaRPr lang="en-US" sz="1100" b="0" u="none" strike="noStrike">
              <a:solidFill>
                <a:srgbClr val="000000"/>
              </a:solidFill>
              <a:effectLst/>
              <a:uFillTx/>
              <a:latin typeface="Arial"/>
            </a:endParaRPr>
          </a:p>
        </p:txBody>
      </p:sp>
      <p:sp>
        <p:nvSpPr>
          <p:cNvPr id="13" name="Text 2"/>
          <p:cNvSpPr/>
          <p:nvPr/>
        </p:nvSpPr>
        <p:spPr>
          <a:xfrm>
            <a:off x="685440" y="1417320"/>
            <a:ext cx="511920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4500" b="1" u="none" strike="noStrike">
                <a:solidFill>
                  <a:srgbClr val="FFFFFF"/>
                </a:solidFill>
                <a:effectLst/>
                <a:uFillTx/>
                <a:latin typeface="Aptos Display"/>
                <a:ea typeface="Aptos Display"/>
              </a:rPr>
              <a:t>ServiceDesk</a:t>
            </a:r>
            <a:endParaRPr lang="en-US" sz="4500" b="0" u="none" strike="noStrike">
              <a:solidFill>
                <a:srgbClr val="000000"/>
              </a:solidFill>
              <a:effectLst/>
              <a:uFillTx/>
              <a:latin typeface="Arial"/>
            </a:endParaRPr>
          </a:p>
        </p:txBody>
      </p:sp>
      <p:sp>
        <p:nvSpPr>
          <p:cNvPr id="14" name="Text 3"/>
          <p:cNvSpPr/>
          <p:nvPr/>
        </p:nvSpPr>
        <p:spPr>
          <a:xfrm>
            <a:off x="712800" y="2148840"/>
            <a:ext cx="493632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0" u="none" strike="noStrike">
                <a:solidFill>
                  <a:srgbClr val="D7F4FF"/>
                </a:solidFill>
                <a:effectLst/>
                <a:uFillTx/>
                <a:latin typeface="Aptos"/>
              </a:rPr>
              <a:t>Solución para gestionar el soporte de IT</a:t>
            </a:r>
            <a:endParaRPr lang="en-US" sz="2200" b="0" u="none" strike="noStrike">
              <a:solidFill>
                <a:srgbClr val="000000"/>
              </a:solidFill>
              <a:effectLst/>
              <a:uFillTx/>
              <a:latin typeface="Arial"/>
            </a:endParaRPr>
          </a:p>
        </p:txBody>
      </p:sp>
      <p:sp>
        <p:nvSpPr>
          <p:cNvPr id="15" name="Shape 4"/>
          <p:cNvSpPr/>
          <p:nvPr/>
        </p:nvSpPr>
        <p:spPr>
          <a:xfrm>
            <a:off x="731160" y="2852640"/>
            <a:ext cx="2833920" cy="360"/>
          </a:xfrm>
          <a:prstGeom prst="line">
            <a:avLst/>
          </a:prstGeom>
          <a:ln w="38100">
            <a:solidFill>
              <a:srgbClr val="D9A441"/>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16" name="Text 5"/>
          <p:cNvSpPr/>
          <p:nvPr/>
        </p:nvSpPr>
        <p:spPr>
          <a:xfrm>
            <a:off x="731160" y="3246120"/>
            <a:ext cx="4936320" cy="731160"/>
          </a:xfrm>
          <a:prstGeom prst="rect">
            <a:avLst/>
          </a:prstGeom>
          <a:noFill/>
          <a:ln w="0">
            <a:noFill/>
          </a:ln>
        </p:spPr>
        <p:style>
          <a:lnRef idx="0"/>
          <a:fillRef idx="0"/>
          <a:effectRef idx="0"/>
          <a:fontRef idx="minor"/>
        </p:style>
        <p:txBody>
          <a:bodyPr lIns="360" tIns="360" rIns="360" bIns="360" anchor="ctr">
            <a:normAutofit lnSpcReduction="9999"/>
          </a:bodyPr>
          <a:p>
            <a:pPr defTabSz="914400">
              <a:lnSpc>
                <a:spcPct val="100000"/>
              </a:lnSpc>
              <a:tabLst>
                <a:tab pos="0" algn="l"/>
              </a:tabLst>
            </a:pPr>
            <a:r>
              <a:rPr lang="en-US" sz="1700" b="0" u="none" strike="noStrike">
                <a:solidFill>
                  <a:srgbClr val="FFFFFF"/>
                </a:solidFill>
                <a:effectLst/>
                <a:uFillTx/>
                <a:latin typeface="Aptos"/>
              </a:rPr>
              <a:t>Primer nivel: Help Desk</a:t>
            </a:r>
            <a:endParaRPr lang="en-US" sz="1700" b="0" u="none" strike="noStrike">
              <a:solidFill>
                <a:srgbClr val="000000"/>
              </a:solidFill>
              <a:effectLst/>
              <a:uFillTx/>
              <a:latin typeface="Arial"/>
            </a:endParaRPr>
          </a:p>
          <a:p>
            <a:pPr defTabSz="914400">
              <a:lnSpc>
                <a:spcPct val="100000"/>
              </a:lnSpc>
              <a:tabLst>
                <a:tab pos="0" algn="l"/>
              </a:tabLst>
            </a:pPr>
            <a:r>
              <a:rPr lang="en-US" sz="1700" b="0" u="none" strike="noStrike">
                <a:solidFill>
                  <a:srgbClr val="FFFFFF"/>
                </a:solidFill>
                <a:effectLst/>
                <a:uFillTx/>
                <a:latin typeface="Aptos"/>
              </a:rPr>
              <a:t>Segundo nivel: Network, Business Applications e Information Security</a:t>
            </a:r>
            <a:endParaRPr lang="en-US" sz="1700" b="0" u="none" strike="noStrike">
              <a:solidFill>
                <a:srgbClr val="000000"/>
              </a:solidFill>
              <a:effectLst/>
              <a:uFillTx/>
              <a:latin typeface="Arial"/>
            </a:endParaRPr>
          </a:p>
        </p:txBody>
      </p:sp>
      <p:sp>
        <p:nvSpPr>
          <p:cNvPr id="17" name="Text 6"/>
          <p:cNvSpPr/>
          <p:nvPr/>
        </p:nvSpPr>
        <p:spPr>
          <a:xfrm>
            <a:off x="731160" y="5349240"/>
            <a:ext cx="502776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0" u="none" strike="noStrike">
                <a:solidFill>
                  <a:srgbClr val="BDECF4"/>
                </a:solidFill>
                <a:effectLst/>
                <a:uFillTx/>
                <a:latin typeface="Aptos"/>
              </a:rPr>
              <a:t>Objetivo: dar visibilidad, trazabilidad y control al proceso de atención.</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7FB"/>
        </a:solidFill>
      </p:bgPr>
    </p:bg>
    <p:spTree>
      <p:nvGrpSpPr>
        <p:cNvPr id="1" name=""/>
        <p:cNvGrpSpPr/>
        <p:nvPr/>
      </p:nvGrpSpPr>
      <p:grpSpPr>
        <a:xfrm>
          <a:off x="0" y="0"/>
          <a:ext cx="0" cy="0"/>
          <a:chOff x="0" y="0"/>
          <a:chExt cx="0" cy="0"/>
        </a:xfrm>
      </p:grpSpPr>
      <p:sp>
        <p:nvSpPr>
          <p:cNvPr id="18" name="Text 0"/>
          <p:cNvSpPr/>
          <p:nvPr/>
        </p:nvSpPr>
        <p:spPr>
          <a:xfrm>
            <a:off x="667080" y="201240"/>
            <a:ext cx="1087848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1" u="none" strike="noStrike">
                <a:solidFill>
                  <a:srgbClr val="0EA5A8"/>
                </a:solidFill>
                <a:effectLst/>
                <a:uFillTx/>
                <a:latin typeface="Aptos"/>
                <a:ea typeface="Aptos"/>
              </a:rPr>
              <a:t>CONTEXTO</a:t>
            </a:r>
            <a:endParaRPr lang="en-US" sz="900" b="0" u="none" strike="noStrike">
              <a:solidFill>
                <a:srgbClr val="000000"/>
              </a:solidFill>
              <a:effectLst/>
              <a:uFillTx/>
              <a:latin typeface="Arial"/>
            </a:endParaRPr>
          </a:p>
        </p:txBody>
      </p:sp>
      <p:sp>
        <p:nvSpPr>
          <p:cNvPr id="19" name="Text 1"/>
          <p:cNvSpPr/>
          <p:nvPr/>
        </p:nvSpPr>
        <p:spPr>
          <a:xfrm>
            <a:off x="639720" y="530280"/>
            <a:ext cx="10878480" cy="502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0B1F3A"/>
                </a:solidFill>
                <a:effectLst/>
                <a:uFillTx/>
                <a:latin typeface="Aptos Display"/>
                <a:ea typeface="Aptos Display"/>
              </a:rPr>
              <a:t>El reto que queremos resolver</a:t>
            </a:r>
            <a:endParaRPr lang="en-US" sz="3000" b="0" u="none" strike="noStrike">
              <a:solidFill>
                <a:srgbClr val="000000"/>
              </a:solidFill>
              <a:effectLst/>
              <a:uFillTx/>
              <a:latin typeface="Arial"/>
            </a:endParaRPr>
          </a:p>
        </p:txBody>
      </p:sp>
      <p:sp>
        <p:nvSpPr>
          <p:cNvPr id="20" name="Text 2"/>
          <p:cNvSpPr/>
          <p:nvPr/>
        </p:nvSpPr>
        <p:spPr>
          <a:xfrm>
            <a:off x="685440" y="1234440"/>
            <a:ext cx="5484600" cy="91404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2400" b="1" u="none" strike="noStrike">
                <a:solidFill>
                  <a:srgbClr val="0B1F3A"/>
                </a:solidFill>
                <a:effectLst/>
                <a:uFillTx/>
                <a:latin typeface="Aptos"/>
              </a:rPr>
              <a:t>Las solicitudes de soporte llegan por distintos canales y no siempre quedan documentadas con claridad.</a:t>
            </a:r>
            <a:endParaRPr lang="en-US" sz="2400" b="0" u="none" strike="noStrike">
              <a:solidFill>
                <a:srgbClr val="000000"/>
              </a:solidFill>
              <a:effectLst/>
              <a:uFillTx/>
              <a:latin typeface="Arial"/>
            </a:endParaRPr>
          </a:p>
        </p:txBody>
      </p:sp>
      <p:sp>
        <p:nvSpPr>
          <p:cNvPr id="21" name="Shape 3"/>
          <p:cNvSpPr/>
          <p:nvPr/>
        </p:nvSpPr>
        <p:spPr>
          <a:xfrm>
            <a:off x="868320" y="2743200"/>
            <a:ext cx="4799160" cy="785880"/>
          </a:xfrm>
          <a:prstGeom prst="roundRect">
            <a:avLst>
              <a:gd name="adj" fmla="val 9302"/>
            </a:avLst>
          </a:prstGeom>
          <a:solidFill>
            <a:srgbClr val="FFFFFF"/>
          </a:solidFill>
          <a:ln w="12700">
            <a:solidFill>
              <a:srgbClr val="D8E6ED"/>
            </a:solidFill>
            <a:round/>
          </a:ln>
          <a:effectLst>
            <a:outerShdw algn="bl" blurRad="12600" dir="2700000" dist="6109" kx="0" ky="0" rotWithShape="0" sx="100000" sy="100000">
              <a:srgbClr val="93A3B5">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2" name="Shape 4"/>
          <p:cNvSpPr/>
          <p:nvPr/>
        </p:nvSpPr>
        <p:spPr>
          <a:xfrm>
            <a:off x="1032840" y="2898360"/>
            <a:ext cx="360" cy="439200"/>
          </a:xfrm>
          <a:prstGeom prst="line">
            <a:avLst/>
          </a:prstGeom>
          <a:ln w="38100">
            <a:solidFill>
              <a:srgbClr val="0E5F9F"/>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23" name="Text 5"/>
          <p:cNvSpPr/>
          <p:nvPr/>
        </p:nvSpPr>
        <p:spPr>
          <a:xfrm>
            <a:off x="1215720" y="2853000"/>
            <a:ext cx="425052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0B1F3A"/>
                </a:solidFill>
                <a:effectLst/>
                <a:uFillTx/>
                <a:latin typeface="Aptos"/>
              </a:rPr>
              <a:t>Solicitudes dispersas</a:t>
            </a:r>
            <a:endParaRPr lang="en-US" sz="1400" b="0" u="none" strike="noStrike">
              <a:solidFill>
                <a:srgbClr val="000000"/>
              </a:solidFill>
              <a:effectLst/>
              <a:uFillTx/>
              <a:latin typeface="Arial"/>
            </a:endParaRPr>
          </a:p>
        </p:txBody>
      </p:sp>
      <p:sp>
        <p:nvSpPr>
          <p:cNvPr id="24" name="Text 6"/>
          <p:cNvSpPr/>
          <p:nvPr/>
        </p:nvSpPr>
        <p:spPr>
          <a:xfrm>
            <a:off x="1215720" y="3136320"/>
            <a:ext cx="4250520" cy="2282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050" b="0" u="none" strike="noStrike">
                <a:solidFill>
                  <a:srgbClr val="65758B"/>
                </a:solidFill>
                <a:effectLst/>
                <a:uFillTx/>
                <a:latin typeface="Aptos"/>
              </a:rPr>
              <a:t>Correo, mensajes, llamadas y acuerdos informales.</a:t>
            </a:r>
            <a:endParaRPr lang="en-US" sz="1050" b="0" u="none" strike="noStrike">
              <a:solidFill>
                <a:srgbClr val="000000"/>
              </a:solidFill>
              <a:effectLst/>
              <a:uFillTx/>
              <a:latin typeface="Arial"/>
            </a:endParaRPr>
          </a:p>
        </p:txBody>
      </p:sp>
      <p:sp>
        <p:nvSpPr>
          <p:cNvPr id="25" name="Shape 7"/>
          <p:cNvSpPr/>
          <p:nvPr/>
        </p:nvSpPr>
        <p:spPr>
          <a:xfrm>
            <a:off x="6307560" y="2743200"/>
            <a:ext cx="4799160" cy="785880"/>
          </a:xfrm>
          <a:prstGeom prst="roundRect">
            <a:avLst>
              <a:gd name="adj" fmla="val 9302"/>
            </a:avLst>
          </a:prstGeom>
          <a:solidFill>
            <a:srgbClr val="FFFFFF"/>
          </a:solidFill>
          <a:ln w="12700">
            <a:solidFill>
              <a:srgbClr val="D8E6ED"/>
            </a:solidFill>
            <a:round/>
          </a:ln>
          <a:effectLst>
            <a:outerShdw algn="bl" blurRad="12600" dir="2700000" dist="6109" kx="0" ky="0" rotWithShape="0" sx="100000" sy="100000">
              <a:srgbClr val="93A3B5">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6" name="Shape 8"/>
          <p:cNvSpPr/>
          <p:nvPr/>
        </p:nvSpPr>
        <p:spPr>
          <a:xfrm>
            <a:off x="6472080" y="2898360"/>
            <a:ext cx="360" cy="439200"/>
          </a:xfrm>
          <a:prstGeom prst="line">
            <a:avLst/>
          </a:prstGeom>
          <a:ln w="38100">
            <a:solidFill>
              <a:srgbClr val="0EA5A8"/>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27" name="Text 9"/>
          <p:cNvSpPr/>
          <p:nvPr/>
        </p:nvSpPr>
        <p:spPr>
          <a:xfrm>
            <a:off x="6654960" y="2853000"/>
            <a:ext cx="425052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0B1F3A"/>
                </a:solidFill>
                <a:effectLst/>
                <a:uFillTx/>
                <a:latin typeface="Aptos"/>
              </a:rPr>
              <a:t>Escalamiento poco visible</a:t>
            </a:r>
            <a:endParaRPr lang="en-US" sz="1400" b="0" u="none" strike="noStrike">
              <a:solidFill>
                <a:srgbClr val="000000"/>
              </a:solidFill>
              <a:effectLst/>
              <a:uFillTx/>
              <a:latin typeface="Arial"/>
            </a:endParaRPr>
          </a:p>
        </p:txBody>
      </p:sp>
      <p:sp>
        <p:nvSpPr>
          <p:cNvPr id="28" name="Text 10"/>
          <p:cNvSpPr/>
          <p:nvPr/>
        </p:nvSpPr>
        <p:spPr>
          <a:xfrm>
            <a:off x="6654960" y="3136320"/>
            <a:ext cx="4250520" cy="2282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050" b="0" u="none" strike="noStrike">
                <a:solidFill>
                  <a:srgbClr val="65758B"/>
                </a:solidFill>
                <a:effectLst/>
                <a:uFillTx/>
                <a:latin typeface="Aptos"/>
              </a:rPr>
              <a:t>No siempre queda claro cuándo debe intervenir segundo nivel.</a:t>
            </a:r>
            <a:endParaRPr lang="en-US" sz="1050" b="0" u="none" strike="noStrike">
              <a:solidFill>
                <a:srgbClr val="000000"/>
              </a:solidFill>
              <a:effectLst/>
              <a:uFillTx/>
              <a:latin typeface="Arial"/>
            </a:endParaRPr>
          </a:p>
        </p:txBody>
      </p:sp>
      <p:sp>
        <p:nvSpPr>
          <p:cNvPr id="29" name="Shape 11"/>
          <p:cNvSpPr/>
          <p:nvPr/>
        </p:nvSpPr>
        <p:spPr>
          <a:xfrm>
            <a:off x="868320" y="3977640"/>
            <a:ext cx="4799160" cy="785880"/>
          </a:xfrm>
          <a:prstGeom prst="roundRect">
            <a:avLst>
              <a:gd name="adj" fmla="val 9302"/>
            </a:avLst>
          </a:prstGeom>
          <a:solidFill>
            <a:srgbClr val="FFFFFF"/>
          </a:solidFill>
          <a:ln w="12700">
            <a:solidFill>
              <a:srgbClr val="D8E6ED"/>
            </a:solidFill>
            <a:round/>
          </a:ln>
          <a:effectLst>
            <a:outerShdw algn="bl" blurRad="12600" dir="2700000" dist="6109" kx="0" ky="0" rotWithShape="0" sx="100000" sy="100000">
              <a:srgbClr val="93A3B5">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0" name="Shape 12"/>
          <p:cNvSpPr/>
          <p:nvPr/>
        </p:nvSpPr>
        <p:spPr>
          <a:xfrm>
            <a:off x="1032840" y="4132800"/>
            <a:ext cx="360" cy="439200"/>
          </a:xfrm>
          <a:prstGeom prst="line">
            <a:avLst/>
          </a:prstGeom>
          <a:ln w="38100">
            <a:solidFill>
              <a:srgbClr val="D9A441"/>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31" name="Text 13"/>
          <p:cNvSpPr/>
          <p:nvPr/>
        </p:nvSpPr>
        <p:spPr>
          <a:xfrm>
            <a:off x="1215720" y="4087440"/>
            <a:ext cx="425052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0B1F3A"/>
                </a:solidFill>
                <a:effectLst/>
                <a:uFillTx/>
                <a:latin typeface="Aptos"/>
              </a:rPr>
              <a:t>Poca trazabilidad</a:t>
            </a:r>
            <a:endParaRPr lang="en-US" sz="1400" b="0" u="none" strike="noStrike">
              <a:solidFill>
                <a:srgbClr val="000000"/>
              </a:solidFill>
              <a:effectLst/>
              <a:uFillTx/>
              <a:latin typeface="Arial"/>
            </a:endParaRPr>
          </a:p>
        </p:txBody>
      </p:sp>
      <p:sp>
        <p:nvSpPr>
          <p:cNvPr id="32" name="Text 14"/>
          <p:cNvSpPr/>
          <p:nvPr/>
        </p:nvSpPr>
        <p:spPr>
          <a:xfrm>
            <a:off x="1215720" y="4370760"/>
            <a:ext cx="4250520" cy="2282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050" b="0" u="none" strike="noStrike">
                <a:solidFill>
                  <a:srgbClr val="65758B"/>
                </a:solidFill>
                <a:effectLst/>
                <a:uFillTx/>
                <a:latin typeface="Aptos"/>
              </a:rPr>
              <a:t>Historial, tiempos, responsables y evidencia quedan fragmentados.</a:t>
            </a:r>
            <a:endParaRPr lang="en-US" sz="1050" b="0" u="none" strike="noStrike">
              <a:solidFill>
                <a:srgbClr val="000000"/>
              </a:solidFill>
              <a:effectLst/>
              <a:uFillTx/>
              <a:latin typeface="Arial"/>
            </a:endParaRPr>
          </a:p>
        </p:txBody>
      </p:sp>
      <p:sp>
        <p:nvSpPr>
          <p:cNvPr id="33" name="Shape 15"/>
          <p:cNvSpPr/>
          <p:nvPr/>
        </p:nvSpPr>
        <p:spPr>
          <a:xfrm>
            <a:off x="6307560" y="3977640"/>
            <a:ext cx="4799160" cy="785880"/>
          </a:xfrm>
          <a:prstGeom prst="roundRect">
            <a:avLst>
              <a:gd name="adj" fmla="val 9302"/>
            </a:avLst>
          </a:prstGeom>
          <a:solidFill>
            <a:srgbClr val="FFFFFF"/>
          </a:solidFill>
          <a:ln w="12700">
            <a:solidFill>
              <a:srgbClr val="D8E6ED"/>
            </a:solidFill>
            <a:round/>
          </a:ln>
          <a:effectLst>
            <a:outerShdw algn="bl" blurRad="12600" dir="2700000" dist="6109" kx="0" ky="0" rotWithShape="0" sx="100000" sy="100000">
              <a:srgbClr val="93A3B5">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4" name="Shape 16"/>
          <p:cNvSpPr/>
          <p:nvPr/>
        </p:nvSpPr>
        <p:spPr>
          <a:xfrm>
            <a:off x="6472080" y="4132800"/>
            <a:ext cx="360" cy="439200"/>
          </a:xfrm>
          <a:prstGeom prst="line">
            <a:avLst/>
          </a:prstGeom>
          <a:ln w="38100">
            <a:solidFill>
              <a:srgbClr val="7C6BD1"/>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35" name="Text 17"/>
          <p:cNvSpPr/>
          <p:nvPr/>
        </p:nvSpPr>
        <p:spPr>
          <a:xfrm>
            <a:off x="6654960" y="4087440"/>
            <a:ext cx="425052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0B1F3A"/>
                </a:solidFill>
                <a:effectLst/>
                <a:uFillTx/>
                <a:latin typeface="Aptos"/>
              </a:rPr>
              <a:t>Información limitada</a:t>
            </a:r>
            <a:endParaRPr lang="en-US" sz="1400" b="0" u="none" strike="noStrike">
              <a:solidFill>
                <a:srgbClr val="000000"/>
              </a:solidFill>
              <a:effectLst/>
              <a:uFillTx/>
              <a:latin typeface="Arial"/>
            </a:endParaRPr>
          </a:p>
        </p:txBody>
      </p:sp>
      <p:sp>
        <p:nvSpPr>
          <p:cNvPr id="36" name="Text 18"/>
          <p:cNvSpPr/>
          <p:nvPr/>
        </p:nvSpPr>
        <p:spPr>
          <a:xfrm>
            <a:off x="6654960" y="4370760"/>
            <a:ext cx="4250520" cy="2282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050" b="0" u="none" strike="noStrike">
                <a:solidFill>
                  <a:srgbClr val="65758B"/>
                </a:solidFill>
                <a:effectLst/>
                <a:uFillTx/>
                <a:latin typeface="Aptos"/>
              </a:rPr>
              <a:t>La dirección no siempre cuenta con métricas confiables del soporte.</a:t>
            </a:r>
            <a:endParaRPr lang="en-US" sz="1050" b="0" u="none" strike="noStrike">
              <a:solidFill>
                <a:srgbClr val="000000"/>
              </a:solidFill>
              <a:effectLst/>
              <a:uFillTx/>
              <a:latin typeface="Arial"/>
            </a:endParaRPr>
          </a:p>
        </p:txBody>
      </p:sp>
      <p:sp>
        <p:nvSpPr>
          <p:cNvPr id="37" name="Shape 19"/>
          <p:cNvSpPr/>
          <p:nvPr/>
        </p:nvSpPr>
        <p:spPr>
          <a:xfrm>
            <a:off x="639720" y="6510240"/>
            <a:ext cx="10878840" cy="360"/>
          </a:xfrm>
          <a:prstGeom prst="line">
            <a:avLst/>
          </a:prstGeom>
          <a:ln w="6350">
            <a:solidFill>
              <a:srgbClr val="D9E3EA"/>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38" name="Text 20"/>
          <p:cNvSpPr/>
          <p:nvPr/>
        </p:nvSpPr>
        <p:spPr>
          <a:xfrm>
            <a:off x="639720" y="6583680"/>
            <a:ext cx="365652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0" u="none" strike="noStrike">
                <a:solidFill>
                  <a:srgbClr val="65758B"/>
                </a:solidFill>
                <a:effectLst/>
                <a:uFillTx/>
                <a:latin typeface="Aptos"/>
              </a:rPr>
              <a:t>ServiceDesk Kick-off</a:t>
            </a:r>
            <a:endParaRPr lang="en-US" sz="800" b="0" u="none" strike="noStrike">
              <a:solidFill>
                <a:srgbClr val="000000"/>
              </a:solidFill>
              <a:effectLst/>
              <a:uFillTx/>
              <a:latin typeface="Arial"/>
            </a:endParaRPr>
          </a:p>
        </p:txBody>
      </p:sp>
      <p:sp>
        <p:nvSpPr>
          <p:cNvPr id="39" name="Text 21"/>
          <p:cNvSpPr/>
          <p:nvPr/>
        </p:nvSpPr>
        <p:spPr>
          <a:xfrm>
            <a:off x="10969920" y="6565320"/>
            <a:ext cx="548280" cy="1825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00" b="0" u="none" strike="noStrike">
                <a:solidFill>
                  <a:srgbClr val="65758B"/>
                </a:solidFill>
                <a:effectLst/>
                <a:uFillTx/>
                <a:latin typeface="Aptos"/>
              </a:rPr>
              <a:t>02</a:t>
            </a:r>
            <a:endParaRPr lang="en-US" sz="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0" name="Text 0"/>
          <p:cNvSpPr/>
          <p:nvPr/>
        </p:nvSpPr>
        <p:spPr>
          <a:xfrm>
            <a:off x="667080" y="201240"/>
            <a:ext cx="1087848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1" u="none" strike="noStrike">
                <a:solidFill>
                  <a:srgbClr val="0EA5A8"/>
                </a:solidFill>
                <a:effectLst/>
                <a:uFillTx/>
                <a:latin typeface="Aptos"/>
                <a:ea typeface="Aptos"/>
              </a:rPr>
              <a:t>MODELO DE ATENCIÓN</a:t>
            </a:r>
            <a:endParaRPr lang="en-US" sz="900" b="0" u="none" strike="noStrike">
              <a:solidFill>
                <a:srgbClr val="000000"/>
              </a:solidFill>
              <a:effectLst/>
              <a:uFillTx/>
              <a:latin typeface="Arial"/>
            </a:endParaRPr>
          </a:p>
        </p:txBody>
      </p:sp>
      <p:sp>
        <p:nvSpPr>
          <p:cNvPr id="41" name="Text 1"/>
          <p:cNvSpPr/>
          <p:nvPr/>
        </p:nvSpPr>
        <p:spPr>
          <a:xfrm>
            <a:off x="639720" y="530280"/>
            <a:ext cx="10878480" cy="502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0B1F3A"/>
                </a:solidFill>
                <a:effectLst/>
                <a:uFillTx/>
                <a:latin typeface="Aptos Display"/>
                <a:ea typeface="Aptos Display"/>
              </a:rPr>
              <a:t>Help Desk como punto de entrada</a:t>
            </a:r>
            <a:endParaRPr lang="en-US" sz="3000" b="0" u="none" strike="noStrike">
              <a:solidFill>
                <a:srgbClr val="000000"/>
              </a:solidFill>
              <a:effectLst/>
              <a:uFillTx/>
              <a:latin typeface="Arial"/>
            </a:endParaRPr>
          </a:p>
        </p:txBody>
      </p:sp>
      <p:sp>
        <p:nvSpPr>
          <p:cNvPr id="42" name="Text 2"/>
          <p:cNvSpPr/>
          <p:nvPr/>
        </p:nvSpPr>
        <p:spPr>
          <a:xfrm>
            <a:off x="685440" y="1143000"/>
            <a:ext cx="1078704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0" u="none" strike="noStrike">
                <a:solidFill>
                  <a:srgbClr val="172033"/>
                </a:solidFill>
                <a:effectLst/>
                <a:uFillTx/>
                <a:latin typeface="Aptos"/>
              </a:rPr>
              <a:t>El Help Desk centraliza la solicitud, clasifica, resuelve casos básicos y escala a los equipos especializados cuando corresponde.</a:t>
            </a:r>
            <a:endParaRPr lang="en-US" sz="1800" b="0" u="none" strike="noStrike">
              <a:solidFill>
                <a:srgbClr val="000000"/>
              </a:solidFill>
              <a:effectLst/>
              <a:uFillTx/>
              <a:latin typeface="Arial"/>
            </a:endParaRPr>
          </a:p>
        </p:txBody>
      </p:sp>
      <p:sp>
        <p:nvSpPr>
          <p:cNvPr id="43" name="Shape 3"/>
          <p:cNvSpPr/>
          <p:nvPr/>
        </p:nvSpPr>
        <p:spPr>
          <a:xfrm>
            <a:off x="2541240" y="3136320"/>
            <a:ext cx="1078560" cy="360"/>
          </a:xfrm>
          <a:prstGeom prst="line">
            <a:avLst/>
          </a:prstGeom>
          <a:ln w="27940">
            <a:solidFill>
              <a:srgbClr val="0E5F9F"/>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44" name="Shape 4"/>
          <p:cNvSpPr/>
          <p:nvPr/>
        </p:nvSpPr>
        <p:spPr>
          <a:xfrm flipV="1">
            <a:off x="5832360" y="1974960"/>
            <a:ext cx="959760" cy="1078920"/>
          </a:xfrm>
          <a:prstGeom prst="line">
            <a:avLst/>
          </a:prstGeom>
          <a:ln w="25400">
            <a:solidFill>
              <a:srgbClr val="0EA5A8"/>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45" name="Shape 5"/>
          <p:cNvSpPr/>
          <p:nvPr/>
        </p:nvSpPr>
        <p:spPr>
          <a:xfrm>
            <a:off x="5832360" y="3053880"/>
            <a:ext cx="959760" cy="360"/>
          </a:xfrm>
          <a:prstGeom prst="line">
            <a:avLst/>
          </a:prstGeom>
          <a:ln w="25400">
            <a:solidFill>
              <a:srgbClr val="0EA5A8"/>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46" name="Shape 6"/>
          <p:cNvSpPr/>
          <p:nvPr/>
        </p:nvSpPr>
        <p:spPr>
          <a:xfrm>
            <a:off x="5832360" y="3053880"/>
            <a:ext cx="959760" cy="1078920"/>
          </a:xfrm>
          <a:prstGeom prst="line">
            <a:avLst/>
          </a:prstGeom>
          <a:ln w="25400">
            <a:solidFill>
              <a:srgbClr val="0EA5A8"/>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47" name="Shape 7"/>
          <p:cNvSpPr/>
          <p:nvPr/>
        </p:nvSpPr>
        <p:spPr>
          <a:xfrm>
            <a:off x="731160" y="2853000"/>
            <a:ext cx="1736640" cy="566640"/>
          </a:xfrm>
          <a:prstGeom prst="roundRect">
            <a:avLst>
              <a:gd name="adj" fmla="val 19355"/>
            </a:avLst>
          </a:prstGeom>
          <a:solidFill>
            <a:srgbClr val="D9ECF8"/>
          </a:solidFill>
          <a:ln w="19050">
            <a:solidFill>
              <a:srgbClr val="0E5F9F"/>
            </a:solidFill>
            <a:round/>
          </a:ln>
          <a:effectLst>
            <a:outerShdw algn="bl" blurRad="12600" dir="2700000" dist="7127" kx="0" ky="0" rotWithShape="0" sx="100000" sy="100000">
              <a:srgbClr val="334155">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8" name="Text 8"/>
          <p:cNvSpPr/>
          <p:nvPr/>
        </p:nvSpPr>
        <p:spPr>
          <a:xfrm>
            <a:off x="840960" y="3008520"/>
            <a:ext cx="1517040" cy="255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172033"/>
                </a:solidFill>
                <a:effectLst/>
                <a:uFillTx/>
                <a:latin typeface="Aptos"/>
              </a:rPr>
              <a:t>Departamentos</a:t>
            </a:r>
            <a:endParaRPr lang="en-US" sz="1100" b="0" u="none" strike="noStrike">
              <a:solidFill>
                <a:srgbClr val="000000"/>
              </a:solidFill>
              <a:effectLst/>
              <a:uFillTx/>
              <a:latin typeface="Arial"/>
            </a:endParaRPr>
          </a:p>
          <a:p>
            <a:pPr algn="ctr" defTabSz="914400">
              <a:lnSpc>
                <a:spcPct val="100000"/>
              </a:lnSpc>
              <a:tabLst>
                <a:tab pos="0" algn="l"/>
              </a:tabLst>
            </a:pPr>
            <a:r>
              <a:rPr lang="en-US" sz="1100" b="1" u="none" strike="noStrike">
                <a:solidFill>
                  <a:srgbClr val="172033"/>
                </a:solidFill>
                <a:effectLst/>
                <a:uFillTx/>
                <a:latin typeface="Aptos"/>
              </a:rPr>
              <a:t>usuarios</a:t>
            </a:r>
            <a:endParaRPr lang="en-US" sz="1100" b="0" u="none" strike="noStrike">
              <a:solidFill>
                <a:srgbClr val="000000"/>
              </a:solidFill>
              <a:effectLst/>
              <a:uFillTx/>
              <a:latin typeface="Arial"/>
            </a:endParaRPr>
          </a:p>
        </p:txBody>
      </p:sp>
      <p:sp>
        <p:nvSpPr>
          <p:cNvPr id="49" name="Shape 9"/>
          <p:cNvSpPr/>
          <p:nvPr/>
        </p:nvSpPr>
        <p:spPr>
          <a:xfrm>
            <a:off x="3702240" y="2761560"/>
            <a:ext cx="2056680" cy="566640"/>
          </a:xfrm>
          <a:prstGeom prst="roundRect">
            <a:avLst>
              <a:gd name="adj" fmla="val 19355"/>
            </a:avLst>
          </a:prstGeom>
          <a:solidFill>
            <a:srgbClr val="FFFFFF"/>
          </a:solidFill>
          <a:ln w="19050">
            <a:solidFill>
              <a:srgbClr val="D9A441"/>
            </a:solidFill>
            <a:round/>
          </a:ln>
          <a:effectLst>
            <a:outerShdw algn="bl" blurRad="12600" dir="2700000" dist="7127" kx="0" ky="0" rotWithShape="0" sx="100000" sy="100000">
              <a:srgbClr val="334155">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0" name="Text 10"/>
          <p:cNvSpPr/>
          <p:nvPr/>
        </p:nvSpPr>
        <p:spPr>
          <a:xfrm>
            <a:off x="3812040" y="2917080"/>
            <a:ext cx="1837080" cy="255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172033"/>
                </a:solidFill>
                <a:effectLst/>
                <a:uFillTx/>
                <a:latin typeface="Aptos"/>
              </a:rPr>
              <a:t>Help Desk</a:t>
            </a:r>
            <a:endParaRPr lang="en-US" sz="1100" b="0" u="none" strike="noStrike">
              <a:solidFill>
                <a:srgbClr val="000000"/>
              </a:solidFill>
              <a:effectLst/>
              <a:uFillTx/>
              <a:latin typeface="Arial"/>
            </a:endParaRPr>
          </a:p>
          <a:p>
            <a:pPr algn="ctr" defTabSz="914400">
              <a:lnSpc>
                <a:spcPct val="100000"/>
              </a:lnSpc>
              <a:tabLst>
                <a:tab pos="0" algn="l"/>
              </a:tabLst>
            </a:pPr>
            <a:r>
              <a:rPr lang="en-US" sz="1100" b="1" u="none" strike="noStrike">
                <a:solidFill>
                  <a:srgbClr val="172033"/>
                </a:solidFill>
                <a:effectLst/>
                <a:uFillTx/>
                <a:latin typeface="Aptos"/>
              </a:rPr>
              <a:t>Primer nivel</a:t>
            </a:r>
            <a:endParaRPr lang="en-US" sz="1100" b="0" u="none" strike="noStrike">
              <a:solidFill>
                <a:srgbClr val="000000"/>
              </a:solidFill>
              <a:effectLst/>
              <a:uFillTx/>
              <a:latin typeface="Arial"/>
            </a:endParaRPr>
          </a:p>
        </p:txBody>
      </p:sp>
      <p:sp>
        <p:nvSpPr>
          <p:cNvPr id="51" name="Shape 11"/>
          <p:cNvSpPr/>
          <p:nvPr/>
        </p:nvSpPr>
        <p:spPr>
          <a:xfrm>
            <a:off x="6901920" y="1691640"/>
            <a:ext cx="2056680" cy="566640"/>
          </a:xfrm>
          <a:prstGeom prst="roundRect">
            <a:avLst>
              <a:gd name="adj" fmla="val 19355"/>
            </a:avLst>
          </a:prstGeom>
          <a:solidFill>
            <a:srgbClr val="FFFFFF"/>
          </a:solidFill>
          <a:ln w="19050">
            <a:solidFill>
              <a:srgbClr val="0EA5A8"/>
            </a:solidFill>
            <a:round/>
          </a:ln>
          <a:effectLst>
            <a:outerShdw algn="bl" blurRad="12600" dir="2700000" dist="7127" kx="0" ky="0" rotWithShape="0" sx="100000" sy="100000">
              <a:srgbClr val="334155">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2" name="Text 12"/>
          <p:cNvSpPr/>
          <p:nvPr/>
        </p:nvSpPr>
        <p:spPr>
          <a:xfrm>
            <a:off x="7011720" y="1847160"/>
            <a:ext cx="1837080" cy="255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172033"/>
                </a:solidFill>
                <a:effectLst/>
                <a:uFillTx/>
                <a:latin typeface="Aptos"/>
              </a:rPr>
              <a:t>Network</a:t>
            </a:r>
            <a:endParaRPr lang="en-US" sz="1100" b="0" u="none" strike="noStrike">
              <a:solidFill>
                <a:srgbClr val="000000"/>
              </a:solidFill>
              <a:effectLst/>
              <a:uFillTx/>
              <a:latin typeface="Arial"/>
            </a:endParaRPr>
          </a:p>
        </p:txBody>
      </p:sp>
      <p:sp>
        <p:nvSpPr>
          <p:cNvPr id="53" name="Shape 13"/>
          <p:cNvSpPr/>
          <p:nvPr/>
        </p:nvSpPr>
        <p:spPr>
          <a:xfrm>
            <a:off x="6901920" y="2788920"/>
            <a:ext cx="2056680" cy="566640"/>
          </a:xfrm>
          <a:prstGeom prst="roundRect">
            <a:avLst>
              <a:gd name="adj" fmla="val 19355"/>
            </a:avLst>
          </a:prstGeom>
          <a:solidFill>
            <a:srgbClr val="FFFFFF"/>
          </a:solidFill>
          <a:ln w="19050">
            <a:solidFill>
              <a:srgbClr val="0EA5A8"/>
            </a:solidFill>
            <a:round/>
          </a:ln>
          <a:effectLst>
            <a:outerShdw algn="bl" blurRad="12600" dir="2700000" dist="7127" kx="0" ky="0" rotWithShape="0" sx="100000" sy="100000">
              <a:srgbClr val="334155">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4" name="Text 14"/>
          <p:cNvSpPr/>
          <p:nvPr/>
        </p:nvSpPr>
        <p:spPr>
          <a:xfrm>
            <a:off x="7011720" y="2944440"/>
            <a:ext cx="1837080" cy="255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172033"/>
                </a:solidFill>
                <a:effectLst/>
                <a:uFillTx/>
                <a:latin typeface="Aptos"/>
              </a:rPr>
              <a:t>Business</a:t>
            </a:r>
            <a:endParaRPr lang="en-US" sz="1100" b="0" u="none" strike="noStrike">
              <a:solidFill>
                <a:srgbClr val="000000"/>
              </a:solidFill>
              <a:effectLst/>
              <a:uFillTx/>
              <a:latin typeface="Arial"/>
            </a:endParaRPr>
          </a:p>
          <a:p>
            <a:pPr algn="ctr" defTabSz="914400">
              <a:lnSpc>
                <a:spcPct val="100000"/>
              </a:lnSpc>
              <a:tabLst>
                <a:tab pos="0" algn="l"/>
              </a:tabLst>
            </a:pPr>
            <a:r>
              <a:rPr lang="en-US" sz="1100" b="1" u="none" strike="noStrike">
                <a:solidFill>
                  <a:srgbClr val="172033"/>
                </a:solidFill>
                <a:effectLst/>
                <a:uFillTx/>
                <a:latin typeface="Aptos"/>
              </a:rPr>
              <a:t>Applications</a:t>
            </a:r>
            <a:endParaRPr lang="en-US" sz="1100" b="0" u="none" strike="noStrike">
              <a:solidFill>
                <a:srgbClr val="000000"/>
              </a:solidFill>
              <a:effectLst/>
              <a:uFillTx/>
              <a:latin typeface="Arial"/>
            </a:endParaRPr>
          </a:p>
        </p:txBody>
      </p:sp>
      <p:sp>
        <p:nvSpPr>
          <p:cNvPr id="55" name="Shape 15"/>
          <p:cNvSpPr/>
          <p:nvPr/>
        </p:nvSpPr>
        <p:spPr>
          <a:xfrm>
            <a:off x="6901920" y="3886200"/>
            <a:ext cx="2056680" cy="566640"/>
          </a:xfrm>
          <a:prstGeom prst="roundRect">
            <a:avLst>
              <a:gd name="adj" fmla="val 19355"/>
            </a:avLst>
          </a:prstGeom>
          <a:solidFill>
            <a:srgbClr val="FFFFFF"/>
          </a:solidFill>
          <a:ln w="19050">
            <a:solidFill>
              <a:srgbClr val="0EA5A8"/>
            </a:solidFill>
            <a:round/>
          </a:ln>
          <a:effectLst>
            <a:outerShdw algn="bl" blurRad="12600" dir="2700000" dist="7127" kx="0" ky="0" rotWithShape="0" sx="100000" sy="100000">
              <a:srgbClr val="334155">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6" name="Text 16"/>
          <p:cNvSpPr/>
          <p:nvPr/>
        </p:nvSpPr>
        <p:spPr>
          <a:xfrm>
            <a:off x="7011720" y="4041720"/>
            <a:ext cx="1837080" cy="255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172033"/>
                </a:solidFill>
                <a:effectLst/>
                <a:uFillTx/>
                <a:latin typeface="Aptos"/>
              </a:rPr>
              <a:t>Information</a:t>
            </a:r>
            <a:endParaRPr lang="en-US" sz="1100" b="0" u="none" strike="noStrike">
              <a:solidFill>
                <a:srgbClr val="000000"/>
              </a:solidFill>
              <a:effectLst/>
              <a:uFillTx/>
              <a:latin typeface="Arial"/>
            </a:endParaRPr>
          </a:p>
          <a:p>
            <a:pPr algn="ctr" defTabSz="914400">
              <a:lnSpc>
                <a:spcPct val="100000"/>
              </a:lnSpc>
              <a:tabLst>
                <a:tab pos="0" algn="l"/>
              </a:tabLst>
            </a:pPr>
            <a:r>
              <a:rPr lang="en-US" sz="1100" b="1" u="none" strike="noStrike">
                <a:solidFill>
                  <a:srgbClr val="172033"/>
                </a:solidFill>
                <a:effectLst/>
                <a:uFillTx/>
                <a:latin typeface="Aptos"/>
              </a:rPr>
              <a:t>Security</a:t>
            </a:r>
            <a:endParaRPr lang="en-US" sz="1100" b="0" u="none" strike="noStrike">
              <a:solidFill>
                <a:srgbClr val="000000"/>
              </a:solidFill>
              <a:effectLst/>
              <a:uFillTx/>
              <a:latin typeface="Arial"/>
            </a:endParaRPr>
          </a:p>
        </p:txBody>
      </p:sp>
      <p:sp>
        <p:nvSpPr>
          <p:cNvPr id="57" name="Text 17"/>
          <p:cNvSpPr/>
          <p:nvPr/>
        </p:nvSpPr>
        <p:spPr>
          <a:xfrm>
            <a:off x="6901920" y="4754880"/>
            <a:ext cx="2056680" cy="2282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1" u="none" strike="noStrike">
                <a:solidFill>
                  <a:srgbClr val="0EA5A8"/>
                </a:solidFill>
                <a:effectLst/>
                <a:uFillTx/>
                <a:latin typeface="Aptos"/>
              </a:rPr>
              <a:t>Segundo nivel / escalamiento</a:t>
            </a:r>
            <a:endParaRPr lang="en-US" sz="1000" b="0" u="none" strike="noStrike">
              <a:solidFill>
                <a:srgbClr val="000000"/>
              </a:solidFill>
              <a:effectLst/>
              <a:uFillTx/>
              <a:latin typeface="Arial"/>
            </a:endParaRPr>
          </a:p>
        </p:txBody>
      </p:sp>
      <p:sp>
        <p:nvSpPr>
          <p:cNvPr id="58" name="Shape 18"/>
          <p:cNvSpPr/>
          <p:nvPr/>
        </p:nvSpPr>
        <p:spPr>
          <a:xfrm>
            <a:off x="9415800" y="1828800"/>
            <a:ext cx="1325160" cy="438480"/>
          </a:xfrm>
          <a:prstGeom prst="roundRect">
            <a:avLst>
              <a:gd name="adj" fmla="val 25000"/>
            </a:avLst>
          </a:prstGeom>
          <a:solidFill>
            <a:srgbClr val="0E5F9F"/>
          </a:solidFill>
          <a:ln w="12700">
            <a:solidFill>
              <a:srgbClr val="0E5F9F">
                <a:alpha val="0"/>
              </a:srgbClr>
            </a:solidFill>
            <a:round/>
          </a:ln>
          <a:effectLst>
            <a:outerShdw algn="bl" blurRad="12600" dir="2700000" dist="9673" kx="0" ky="0" rotWithShape="0" sx="100000" sy="100000">
              <a:srgbClr val="6B7280">
                <a:alpha val="1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9" name="Text 19"/>
          <p:cNvSpPr/>
          <p:nvPr/>
        </p:nvSpPr>
        <p:spPr>
          <a:xfrm>
            <a:off x="9525600" y="1947600"/>
            <a:ext cx="1105560" cy="1825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FFFFFF"/>
                </a:solidFill>
                <a:effectLst/>
                <a:uFillTx/>
                <a:latin typeface="Aptos"/>
              </a:rPr>
              <a:t>Registrar</a:t>
            </a:r>
            <a:endParaRPr lang="en-US" sz="1100" b="0" u="none" strike="noStrike">
              <a:solidFill>
                <a:srgbClr val="000000"/>
              </a:solidFill>
              <a:effectLst/>
              <a:uFillTx/>
              <a:latin typeface="Arial"/>
            </a:endParaRPr>
          </a:p>
        </p:txBody>
      </p:sp>
      <p:sp>
        <p:nvSpPr>
          <p:cNvPr id="60" name="Shape 20"/>
          <p:cNvSpPr/>
          <p:nvPr/>
        </p:nvSpPr>
        <p:spPr>
          <a:xfrm>
            <a:off x="9415800" y="2468880"/>
            <a:ext cx="1325160" cy="438480"/>
          </a:xfrm>
          <a:prstGeom prst="roundRect">
            <a:avLst>
              <a:gd name="adj" fmla="val 25000"/>
            </a:avLst>
          </a:prstGeom>
          <a:solidFill>
            <a:srgbClr val="0EA5A8"/>
          </a:solidFill>
          <a:ln w="12700">
            <a:solidFill>
              <a:srgbClr val="0EA5A8">
                <a:alpha val="0"/>
              </a:srgbClr>
            </a:solidFill>
            <a:round/>
          </a:ln>
          <a:effectLst>
            <a:outerShdw algn="bl" blurRad="12600" dir="2700000" dist="9673" kx="0" ky="0" rotWithShape="0" sx="100000" sy="100000">
              <a:srgbClr val="6B7280">
                <a:alpha val="1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1" name="Text 21"/>
          <p:cNvSpPr/>
          <p:nvPr/>
        </p:nvSpPr>
        <p:spPr>
          <a:xfrm>
            <a:off x="9525600" y="2587680"/>
            <a:ext cx="1105560" cy="1825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FFFFFF"/>
                </a:solidFill>
                <a:effectLst/>
                <a:uFillTx/>
                <a:latin typeface="Aptos"/>
              </a:rPr>
              <a:t>Priorizar</a:t>
            </a:r>
            <a:endParaRPr lang="en-US" sz="1100" b="0" u="none" strike="noStrike">
              <a:solidFill>
                <a:srgbClr val="000000"/>
              </a:solidFill>
              <a:effectLst/>
              <a:uFillTx/>
              <a:latin typeface="Arial"/>
            </a:endParaRPr>
          </a:p>
        </p:txBody>
      </p:sp>
      <p:sp>
        <p:nvSpPr>
          <p:cNvPr id="62" name="Shape 22"/>
          <p:cNvSpPr/>
          <p:nvPr/>
        </p:nvSpPr>
        <p:spPr>
          <a:xfrm>
            <a:off x="9415800" y="3108960"/>
            <a:ext cx="1325160" cy="438480"/>
          </a:xfrm>
          <a:prstGeom prst="roundRect">
            <a:avLst>
              <a:gd name="adj" fmla="val 25000"/>
            </a:avLst>
          </a:prstGeom>
          <a:solidFill>
            <a:srgbClr val="D9A441"/>
          </a:solidFill>
          <a:ln w="12700">
            <a:solidFill>
              <a:srgbClr val="D9A441">
                <a:alpha val="0"/>
              </a:srgbClr>
            </a:solidFill>
            <a:round/>
          </a:ln>
          <a:effectLst>
            <a:outerShdw algn="bl" blurRad="12600" dir="2700000" dist="9673" kx="0" ky="0" rotWithShape="0" sx="100000" sy="100000">
              <a:srgbClr val="6B7280">
                <a:alpha val="1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3" name="Text 23"/>
          <p:cNvSpPr/>
          <p:nvPr/>
        </p:nvSpPr>
        <p:spPr>
          <a:xfrm>
            <a:off x="9525600" y="3227760"/>
            <a:ext cx="1105560" cy="1825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0B1F3A"/>
                </a:solidFill>
                <a:effectLst/>
                <a:uFillTx/>
                <a:latin typeface="Aptos"/>
              </a:rPr>
              <a:t>Asignar</a:t>
            </a:r>
            <a:endParaRPr lang="en-US" sz="1100" b="0" u="none" strike="noStrike">
              <a:solidFill>
                <a:srgbClr val="000000"/>
              </a:solidFill>
              <a:effectLst/>
              <a:uFillTx/>
              <a:latin typeface="Arial"/>
            </a:endParaRPr>
          </a:p>
        </p:txBody>
      </p:sp>
      <p:sp>
        <p:nvSpPr>
          <p:cNvPr id="64" name="Shape 24"/>
          <p:cNvSpPr/>
          <p:nvPr/>
        </p:nvSpPr>
        <p:spPr>
          <a:xfrm>
            <a:off x="9415800" y="3749040"/>
            <a:ext cx="1325160" cy="438480"/>
          </a:xfrm>
          <a:prstGeom prst="roundRect">
            <a:avLst>
              <a:gd name="adj" fmla="val 25000"/>
            </a:avLst>
          </a:prstGeom>
          <a:solidFill>
            <a:srgbClr val="7C6BD1"/>
          </a:solidFill>
          <a:ln w="12700">
            <a:solidFill>
              <a:srgbClr val="7C6BD1">
                <a:alpha val="0"/>
              </a:srgbClr>
            </a:solidFill>
            <a:round/>
          </a:ln>
          <a:effectLst>
            <a:outerShdw algn="bl" blurRad="12600" dir="2700000" dist="9673" kx="0" ky="0" rotWithShape="0" sx="100000" sy="100000">
              <a:srgbClr val="6B7280">
                <a:alpha val="1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5" name="Text 25"/>
          <p:cNvSpPr/>
          <p:nvPr/>
        </p:nvSpPr>
        <p:spPr>
          <a:xfrm>
            <a:off x="9525600" y="3867840"/>
            <a:ext cx="1105560" cy="1825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FFFFFF"/>
                </a:solidFill>
                <a:effectLst/>
                <a:uFillTx/>
                <a:latin typeface="Aptos"/>
              </a:rPr>
              <a:t>Medir</a:t>
            </a:r>
            <a:endParaRPr lang="en-US" sz="1100" b="0" u="none" strike="noStrike">
              <a:solidFill>
                <a:srgbClr val="000000"/>
              </a:solidFill>
              <a:effectLst/>
              <a:uFillTx/>
              <a:latin typeface="Arial"/>
            </a:endParaRPr>
          </a:p>
        </p:txBody>
      </p:sp>
      <p:sp>
        <p:nvSpPr>
          <p:cNvPr id="66" name="Shape 26"/>
          <p:cNvSpPr/>
          <p:nvPr/>
        </p:nvSpPr>
        <p:spPr>
          <a:xfrm>
            <a:off x="639720" y="6510240"/>
            <a:ext cx="10878840" cy="360"/>
          </a:xfrm>
          <a:prstGeom prst="line">
            <a:avLst/>
          </a:prstGeom>
          <a:ln w="6350">
            <a:solidFill>
              <a:srgbClr val="D9E3EA"/>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67" name="Text 27"/>
          <p:cNvSpPr/>
          <p:nvPr/>
        </p:nvSpPr>
        <p:spPr>
          <a:xfrm>
            <a:off x="639720" y="6583680"/>
            <a:ext cx="365652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0" u="none" strike="noStrike">
                <a:solidFill>
                  <a:srgbClr val="65758B"/>
                </a:solidFill>
                <a:effectLst/>
                <a:uFillTx/>
                <a:latin typeface="Aptos"/>
              </a:rPr>
              <a:t>ServiceDesk Kick-off</a:t>
            </a:r>
            <a:endParaRPr lang="en-US" sz="800" b="0" u="none" strike="noStrike">
              <a:solidFill>
                <a:srgbClr val="000000"/>
              </a:solidFill>
              <a:effectLst/>
              <a:uFillTx/>
              <a:latin typeface="Arial"/>
            </a:endParaRPr>
          </a:p>
        </p:txBody>
      </p:sp>
      <p:sp>
        <p:nvSpPr>
          <p:cNvPr id="68" name="Text 28"/>
          <p:cNvSpPr/>
          <p:nvPr/>
        </p:nvSpPr>
        <p:spPr>
          <a:xfrm>
            <a:off x="10969920" y="6565320"/>
            <a:ext cx="548280" cy="1825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00" b="0" u="none" strike="noStrike">
                <a:solidFill>
                  <a:srgbClr val="65758B"/>
                </a:solidFill>
                <a:effectLst/>
                <a:uFillTx/>
                <a:latin typeface="Aptos"/>
              </a:rPr>
              <a:t>03</a:t>
            </a:r>
            <a:endParaRPr lang="en-US" sz="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9" name="Text 0"/>
          <p:cNvSpPr/>
          <p:nvPr/>
        </p:nvSpPr>
        <p:spPr>
          <a:xfrm>
            <a:off x="667080" y="201240"/>
            <a:ext cx="1087848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1" u="none" strike="noStrike">
                <a:solidFill>
                  <a:srgbClr val="0EA5A8"/>
                </a:solidFill>
                <a:effectLst/>
                <a:uFillTx/>
                <a:latin typeface="Aptos"/>
                <a:ea typeface="Aptos"/>
              </a:rPr>
              <a:t>ALCANCE FUNCIONAL</a:t>
            </a:r>
            <a:endParaRPr lang="en-US" sz="900" b="0" u="none" strike="noStrike">
              <a:solidFill>
                <a:srgbClr val="000000"/>
              </a:solidFill>
              <a:effectLst/>
              <a:uFillTx/>
              <a:latin typeface="Arial"/>
            </a:endParaRPr>
          </a:p>
        </p:txBody>
      </p:sp>
      <p:sp>
        <p:nvSpPr>
          <p:cNvPr id="70" name="Text 1"/>
          <p:cNvSpPr/>
          <p:nvPr/>
        </p:nvSpPr>
        <p:spPr>
          <a:xfrm>
            <a:off x="639720" y="530280"/>
            <a:ext cx="10878480" cy="502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0B1F3A"/>
                </a:solidFill>
                <a:effectLst/>
                <a:uFillTx/>
                <a:latin typeface="Aptos Display"/>
                <a:ea typeface="Aptos Display"/>
              </a:rPr>
              <a:t>Clientes internos y usuarios de la plataforma</a:t>
            </a:r>
            <a:endParaRPr lang="en-US" sz="3000" b="0" u="none" strike="noStrike">
              <a:solidFill>
                <a:srgbClr val="000000"/>
              </a:solidFill>
              <a:effectLst/>
              <a:uFillTx/>
              <a:latin typeface="Arial"/>
            </a:endParaRPr>
          </a:p>
        </p:txBody>
      </p:sp>
      <p:sp>
        <p:nvSpPr>
          <p:cNvPr id="71" name="Text 2"/>
          <p:cNvSpPr/>
          <p:nvPr/>
        </p:nvSpPr>
        <p:spPr>
          <a:xfrm>
            <a:off x="685440" y="1170360"/>
            <a:ext cx="5941800" cy="502560"/>
          </a:xfrm>
          <a:prstGeom prst="rect">
            <a:avLst/>
          </a:prstGeom>
          <a:noFill/>
          <a:ln w="0">
            <a:noFill/>
          </a:ln>
        </p:spPr>
        <p:style>
          <a:lnRef idx="0"/>
          <a:fillRef idx="0"/>
          <a:effectRef idx="0"/>
          <a:fontRef idx="minor"/>
        </p:style>
        <p:txBody>
          <a:bodyPr lIns="0" tIns="0" rIns="0" bIns="0" anchor="ctr">
            <a:normAutofit fontScale="85000" lnSpcReduction="9999"/>
          </a:bodyPr>
          <a:p>
            <a:pPr defTabSz="914400">
              <a:lnSpc>
                <a:spcPct val="100000"/>
              </a:lnSpc>
              <a:tabLst>
                <a:tab pos="0" algn="l"/>
              </a:tabLst>
            </a:pPr>
            <a:r>
              <a:rPr lang="en-US" sz="1800" b="0" u="none" strike="noStrike">
                <a:solidFill>
                  <a:srgbClr val="172033"/>
                </a:solidFill>
                <a:effectLst/>
                <a:uFillTx/>
                <a:latin typeface="Aptos"/>
              </a:rPr>
              <a:t>La solución atenderá a los departamentos como clientes del servicio y, al mismo tiempo, como usuarios del sistema.</a:t>
            </a:r>
            <a:endParaRPr lang="en-US" sz="1800" b="0" u="none" strike="noStrike">
              <a:solidFill>
                <a:srgbClr val="000000"/>
              </a:solidFill>
              <a:effectLst/>
              <a:uFillTx/>
              <a:latin typeface="Arial"/>
            </a:endParaRPr>
          </a:p>
        </p:txBody>
      </p:sp>
      <p:pic>
        <p:nvPicPr>
          <p:cNvPr id="72" name="Image 0" descr="/mnt/data/a_wide_clean_modern_isometric_3d_infographic_sce_batch_3.png"/>
          <p:cNvPicPr/>
          <p:nvPr/>
        </p:nvPicPr>
        <p:blipFill>
          <a:blip r:embed="rId1"/>
          <a:stretch/>
        </p:blipFill>
        <p:spPr>
          <a:xfrm>
            <a:off x="6673320" y="1554480"/>
            <a:ext cx="4799160" cy="2697120"/>
          </a:xfrm>
          <a:prstGeom prst="rect">
            <a:avLst/>
          </a:prstGeom>
          <a:noFill/>
          <a:ln w="0">
            <a:noFill/>
          </a:ln>
        </p:spPr>
      </p:pic>
      <p:sp>
        <p:nvSpPr>
          <p:cNvPr id="73" name="Shape 3"/>
          <p:cNvSpPr/>
          <p:nvPr/>
        </p:nvSpPr>
        <p:spPr>
          <a:xfrm>
            <a:off x="6719040" y="4526280"/>
            <a:ext cx="4662360" cy="360"/>
          </a:xfrm>
          <a:prstGeom prst="line">
            <a:avLst/>
          </a:prstGeom>
          <a:ln w="10160">
            <a:solidFill>
              <a:srgbClr val="D9E6EE"/>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74" name="Shape 4"/>
          <p:cNvSpPr/>
          <p:nvPr/>
        </p:nvSpPr>
        <p:spPr>
          <a:xfrm>
            <a:off x="776880" y="2148840"/>
            <a:ext cx="5347440" cy="502560"/>
          </a:xfrm>
          <a:prstGeom prst="roundRect">
            <a:avLst>
              <a:gd name="adj" fmla="val 14545"/>
            </a:avLst>
          </a:prstGeom>
          <a:solidFill>
            <a:srgbClr val="EEF7FB">
              <a:alpha val="75000"/>
            </a:srgbClr>
          </a:solidFill>
          <a:ln w="12700">
            <a:solidFill>
              <a:srgbClr val="DCE8F0"/>
            </a:solidFill>
            <a:round/>
          </a:ln>
          <a:effectLst>
            <a:outerShdw algn="bl" blurRad="12600" dir="2700000" dist="4582" kx="0" ky="0" rotWithShape="0" sx="100000" sy="100000">
              <a:srgbClr val="8CA0B3">
                <a:alpha val="10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5" name="Text 5"/>
          <p:cNvSpPr/>
          <p:nvPr/>
        </p:nvSpPr>
        <p:spPr>
          <a:xfrm>
            <a:off x="959760" y="2277000"/>
            <a:ext cx="1553760" cy="200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0B1F3A"/>
                </a:solidFill>
                <a:effectLst/>
                <a:uFillTx/>
                <a:latin typeface="Aptos"/>
              </a:rPr>
              <a:t>Departamentos</a:t>
            </a:r>
            <a:endParaRPr lang="en-US" sz="1250" b="0" u="none" strike="noStrike">
              <a:solidFill>
                <a:srgbClr val="000000"/>
              </a:solidFill>
              <a:effectLst/>
              <a:uFillTx/>
              <a:latin typeface="Arial"/>
            </a:endParaRPr>
          </a:p>
        </p:txBody>
      </p:sp>
      <p:sp>
        <p:nvSpPr>
          <p:cNvPr id="76" name="Text 6"/>
          <p:cNvSpPr/>
          <p:nvPr/>
        </p:nvSpPr>
        <p:spPr>
          <a:xfrm>
            <a:off x="2605320" y="2277000"/>
            <a:ext cx="3245040" cy="20088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050" b="0" u="none" strike="noStrike">
                <a:solidFill>
                  <a:srgbClr val="65758B"/>
                </a:solidFill>
                <a:effectLst/>
                <a:uFillTx/>
                <a:latin typeface="Aptos"/>
              </a:rPr>
              <a:t>Crean solicitudes y consultan avances.</a:t>
            </a:r>
            <a:endParaRPr lang="en-US" sz="1050" b="0" u="none" strike="noStrike">
              <a:solidFill>
                <a:srgbClr val="000000"/>
              </a:solidFill>
              <a:effectLst/>
              <a:uFillTx/>
              <a:latin typeface="Arial"/>
            </a:endParaRPr>
          </a:p>
        </p:txBody>
      </p:sp>
      <p:sp>
        <p:nvSpPr>
          <p:cNvPr id="77" name="Shape 7"/>
          <p:cNvSpPr/>
          <p:nvPr/>
        </p:nvSpPr>
        <p:spPr>
          <a:xfrm>
            <a:off x="776880" y="2862000"/>
            <a:ext cx="5347440" cy="502560"/>
          </a:xfrm>
          <a:prstGeom prst="roundRect">
            <a:avLst>
              <a:gd name="adj" fmla="val 14545"/>
            </a:avLst>
          </a:prstGeom>
          <a:solidFill>
            <a:srgbClr val="EEF7FB">
              <a:alpha val="75000"/>
            </a:srgbClr>
          </a:solidFill>
          <a:ln w="12700">
            <a:solidFill>
              <a:srgbClr val="DCE8F0"/>
            </a:solidFill>
            <a:round/>
          </a:ln>
          <a:effectLst>
            <a:outerShdw algn="bl" blurRad="12600" dir="2700000" dist="4582" kx="0" ky="0" rotWithShape="0" sx="100000" sy="100000">
              <a:srgbClr val="8CA0B3">
                <a:alpha val="10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8" name="Text 8"/>
          <p:cNvSpPr/>
          <p:nvPr/>
        </p:nvSpPr>
        <p:spPr>
          <a:xfrm>
            <a:off x="959760" y="2990160"/>
            <a:ext cx="1553760" cy="200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0B1F3A"/>
                </a:solidFill>
                <a:effectLst/>
                <a:uFillTx/>
                <a:latin typeface="Aptos"/>
              </a:rPr>
              <a:t>Help Desk</a:t>
            </a:r>
            <a:endParaRPr lang="en-US" sz="1250" b="0" u="none" strike="noStrike">
              <a:solidFill>
                <a:srgbClr val="000000"/>
              </a:solidFill>
              <a:effectLst/>
              <a:uFillTx/>
              <a:latin typeface="Arial"/>
            </a:endParaRPr>
          </a:p>
        </p:txBody>
      </p:sp>
      <p:sp>
        <p:nvSpPr>
          <p:cNvPr id="79" name="Text 9"/>
          <p:cNvSpPr/>
          <p:nvPr/>
        </p:nvSpPr>
        <p:spPr>
          <a:xfrm>
            <a:off x="2605320" y="2990160"/>
            <a:ext cx="3245040" cy="20088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050" b="0" u="none" strike="noStrike">
                <a:solidFill>
                  <a:srgbClr val="65758B"/>
                </a:solidFill>
                <a:effectLst/>
                <a:uFillTx/>
                <a:latin typeface="Aptos"/>
              </a:rPr>
              <a:t>Recibe, clasifica y coordina el primer contacto.</a:t>
            </a:r>
            <a:endParaRPr lang="en-US" sz="1050" b="0" u="none" strike="noStrike">
              <a:solidFill>
                <a:srgbClr val="000000"/>
              </a:solidFill>
              <a:effectLst/>
              <a:uFillTx/>
              <a:latin typeface="Arial"/>
            </a:endParaRPr>
          </a:p>
        </p:txBody>
      </p:sp>
      <p:sp>
        <p:nvSpPr>
          <p:cNvPr id="80" name="Shape 10"/>
          <p:cNvSpPr/>
          <p:nvPr/>
        </p:nvSpPr>
        <p:spPr>
          <a:xfrm>
            <a:off x="776880" y="3575160"/>
            <a:ext cx="5347440" cy="502560"/>
          </a:xfrm>
          <a:prstGeom prst="roundRect">
            <a:avLst>
              <a:gd name="adj" fmla="val 14545"/>
            </a:avLst>
          </a:prstGeom>
          <a:solidFill>
            <a:srgbClr val="EEF7FB">
              <a:alpha val="75000"/>
            </a:srgbClr>
          </a:solidFill>
          <a:ln w="12700">
            <a:solidFill>
              <a:srgbClr val="DCE8F0"/>
            </a:solidFill>
            <a:round/>
          </a:ln>
          <a:effectLst>
            <a:outerShdw algn="bl" blurRad="12600" dir="2700000" dist="4582" kx="0" ky="0" rotWithShape="0" sx="100000" sy="100000">
              <a:srgbClr val="8CA0B3">
                <a:alpha val="10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1" name="Text 11"/>
          <p:cNvSpPr/>
          <p:nvPr/>
        </p:nvSpPr>
        <p:spPr>
          <a:xfrm>
            <a:off x="959760" y="3703320"/>
            <a:ext cx="1553760" cy="200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0B1F3A"/>
                </a:solidFill>
                <a:effectLst/>
                <a:uFillTx/>
                <a:latin typeface="Aptos"/>
              </a:rPr>
              <a:t>Segundo nivel</a:t>
            </a:r>
            <a:endParaRPr lang="en-US" sz="1250" b="0" u="none" strike="noStrike">
              <a:solidFill>
                <a:srgbClr val="000000"/>
              </a:solidFill>
              <a:effectLst/>
              <a:uFillTx/>
              <a:latin typeface="Arial"/>
            </a:endParaRPr>
          </a:p>
        </p:txBody>
      </p:sp>
      <p:sp>
        <p:nvSpPr>
          <p:cNvPr id="82" name="Text 12"/>
          <p:cNvSpPr/>
          <p:nvPr/>
        </p:nvSpPr>
        <p:spPr>
          <a:xfrm>
            <a:off x="2605320" y="3703320"/>
            <a:ext cx="3245040" cy="20088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050" b="0" u="none" strike="noStrike">
                <a:solidFill>
                  <a:srgbClr val="65758B"/>
                </a:solidFill>
                <a:effectLst/>
                <a:uFillTx/>
                <a:latin typeface="Aptos"/>
              </a:rPr>
              <a:t>Atiende casos especializados y escalados.</a:t>
            </a:r>
            <a:endParaRPr lang="en-US" sz="1050" b="0" u="none" strike="noStrike">
              <a:solidFill>
                <a:srgbClr val="000000"/>
              </a:solidFill>
              <a:effectLst/>
              <a:uFillTx/>
              <a:latin typeface="Arial"/>
            </a:endParaRPr>
          </a:p>
        </p:txBody>
      </p:sp>
      <p:sp>
        <p:nvSpPr>
          <p:cNvPr id="83" name="Shape 13"/>
          <p:cNvSpPr/>
          <p:nvPr/>
        </p:nvSpPr>
        <p:spPr>
          <a:xfrm>
            <a:off x="776880" y="4288680"/>
            <a:ext cx="5347440" cy="502560"/>
          </a:xfrm>
          <a:prstGeom prst="roundRect">
            <a:avLst>
              <a:gd name="adj" fmla="val 14545"/>
            </a:avLst>
          </a:prstGeom>
          <a:solidFill>
            <a:srgbClr val="EEF7FB"/>
          </a:solidFill>
          <a:ln w="12700">
            <a:solidFill>
              <a:srgbClr val="DCE8F0"/>
            </a:solidFill>
            <a:round/>
          </a:ln>
          <a:effectLst>
            <a:outerShdw algn="bl" blurRad="12600" dir="2700000" dist="4582" kx="0" ky="0" rotWithShape="0" sx="100000" sy="100000">
              <a:srgbClr val="8CA0B3">
                <a:alpha val="10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4" name="Text 14"/>
          <p:cNvSpPr/>
          <p:nvPr/>
        </p:nvSpPr>
        <p:spPr>
          <a:xfrm>
            <a:off x="959760" y="4416480"/>
            <a:ext cx="1553760" cy="200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0B1F3A"/>
                </a:solidFill>
                <a:effectLst/>
                <a:uFillTx/>
                <a:latin typeface="Aptos"/>
              </a:rPr>
              <a:t>Finanzas</a:t>
            </a:r>
            <a:endParaRPr lang="en-US" sz="1250" b="0" u="none" strike="noStrike">
              <a:solidFill>
                <a:srgbClr val="000000"/>
              </a:solidFill>
              <a:effectLst/>
              <a:uFillTx/>
              <a:latin typeface="Arial"/>
            </a:endParaRPr>
          </a:p>
        </p:txBody>
      </p:sp>
      <p:sp>
        <p:nvSpPr>
          <p:cNvPr id="85" name="Text 15"/>
          <p:cNvSpPr/>
          <p:nvPr/>
        </p:nvSpPr>
        <p:spPr>
          <a:xfrm>
            <a:off x="2605320" y="4416480"/>
            <a:ext cx="3245040" cy="20088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1050" b="0" u="none" strike="noStrike">
                <a:solidFill>
                  <a:srgbClr val="65758B"/>
                </a:solidFill>
                <a:effectLst/>
                <a:uFillTx/>
                <a:latin typeface="Aptos"/>
              </a:rPr>
              <a:t>Puede requerir información para control, análisis o reportes.</a:t>
            </a:r>
            <a:endParaRPr lang="en-US" sz="1050" b="0" u="none" strike="noStrike">
              <a:solidFill>
                <a:srgbClr val="000000"/>
              </a:solidFill>
              <a:effectLst/>
              <a:uFillTx/>
              <a:latin typeface="Arial"/>
            </a:endParaRPr>
          </a:p>
        </p:txBody>
      </p:sp>
      <p:sp>
        <p:nvSpPr>
          <p:cNvPr id="86" name="Text 16"/>
          <p:cNvSpPr/>
          <p:nvPr/>
        </p:nvSpPr>
        <p:spPr>
          <a:xfrm>
            <a:off x="6810480" y="4800600"/>
            <a:ext cx="4479120" cy="411120"/>
          </a:xfrm>
          <a:prstGeom prst="rect">
            <a:avLst/>
          </a:prstGeom>
          <a:noFill/>
          <a:ln w="0">
            <a:noFill/>
          </a:ln>
        </p:spPr>
        <p:style>
          <a:lnRef idx="0"/>
          <a:fillRef idx="0"/>
          <a:effectRef idx="0"/>
          <a:fontRef idx="minor"/>
        </p:style>
        <p:txBody>
          <a:bodyPr lIns="0" tIns="0" rIns="0" bIns="0" anchor="ctr">
            <a:normAutofit fontScale="85000" lnSpcReduction="19999"/>
          </a:bodyPr>
          <a:p>
            <a:pPr algn="ctr" defTabSz="914400">
              <a:lnSpc>
                <a:spcPct val="100000"/>
              </a:lnSpc>
              <a:tabLst>
                <a:tab pos="0" algn="l"/>
              </a:tabLst>
            </a:pPr>
            <a:r>
              <a:rPr lang="en-US" sz="1900" b="1" u="none" strike="noStrike">
                <a:solidFill>
                  <a:srgbClr val="0B1F3A"/>
                </a:solidFill>
                <a:effectLst/>
                <a:uFillTx/>
                <a:latin typeface="Aptos"/>
              </a:rPr>
              <a:t>Información operativa y datos para decisiones</a:t>
            </a:r>
            <a:endParaRPr lang="en-US" sz="1900" b="0" u="none" strike="noStrike">
              <a:solidFill>
                <a:srgbClr val="000000"/>
              </a:solidFill>
              <a:effectLst/>
              <a:uFillTx/>
              <a:latin typeface="Arial"/>
            </a:endParaRPr>
          </a:p>
        </p:txBody>
      </p:sp>
      <p:sp>
        <p:nvSpPr>
          <p:cNvPr id="87" name="Text 17"/>
          <p:cNvSpPr/>
          <p:nvPr/>
        </p:nvSpPr>
        <p:spPr>
          <a:xfrm>
            <a:off x="6993360" y="5321880"/>
            <a:ext cx="4159080" cy="41112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1300" b="0" u="none" strike="noStrike">
                <a:solidFill>
                  <a:srgbClr val="65758B"/>
                </a:solidFill>
                <a:effectLst/>
                <a:uFillTx/>
                <a:latin typeface="Aptos"/>
              </a:rPr>
              <a:t>El sistema no sólo registrará tickets; también producirá evidencia, métricas y reportes.</a:t>
            </a:r>
            <a:endParaRPr lang="en-US" sz="1300" b="0" u="none" strike="noStrike">
              <a:solidFill>
                <a:srgbClr val="000000"/>
              </a:solidFill>
              <a:effectLst/>
              <a:uFillTx/>
              <a:latin typeface="Arial"/>
            </a:endParaRPr>
          </a:p>
        </p:txBody>
      </p:sp>
      <p:sp>
        <p:nvSpPr>
          <p:cNvPr id="88" name="Shape 18"/>
          <p:cNvSpPr/>
          <p:nvPr/>
        </p:nvSpPr>
        <p:spPr>
          <a:xfrm>
            <a:off x="639720" y="6510240"/>
            <a:ext cx="10878840" cy="360"/>
          </a:xfrm>
          <a:prstGeom prst="line">
            <a:avLst/>
          </a:prstGeom>
          <a:ln w="6350">
            <a:solidFill>
              <a:srgbClr val="D9E3EA"/>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89" name="Text 19"/>
          <p:cNvSpPr/>
          <p:nvPr/>
        </p:nvSpPr>
        <p:spPr>
          <a:xfrm>
            <a:off x="639720" y="6583680"/>
            <a:ext cx="365652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0" u="none" strike="noStrike">
                <a:solidFill>
                  <a:srgbClr val="65758B"/>
                </a:solidFill>
                <a:effectLst/>
                <a:uFillTx/>
                <a:latin typeface="Aptos"/>
              </a:rPr>
              <a:t>ServiceDesk Kick-off</a:t>
            </a:r>
            <a:endParaRPr lang="en-US" sz="800" b="0" u="none" strike="noStrike">
              <a:solidFill>
                <a:srgbClr val="000000"/>
              </a:solidFill>
              <a:effectLst/>
              <a:uFillTx/>
              <a:latin typeface="Arial"/>
            </a:endParaRPr>
          </a:p>
        </p:txBody>
      </p:sp>
      <p:sp>
        <p:nvSpPr>
          <p:cNvPr id="90" name="Text 20"/>
          <p:cNvSpPr/>
          <p:nvPr/>
        </p:nvSpPr>
        <p:spPr>
          <a:xfrm>
            <a:off x="10969920" y="6565320"/>
            <a:ext cx="548280" cy="1825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00" b="0" u="none" strike="noStrike">
                <a:solidFill>
                  <a:srgbClr val="65758B"/>
                </a:solidFill>
                <a:effectLst/>
                <a:uFillTx/>
                <a:latin typeface="Aptos"/>
              </a:rPr>
              <a:t>04</a:t>
            </a:r>
            <a:endParaRPr lang="en-US" sz="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A"/>
        </a:solidFill>
      </p:bgPr>
    </p:bg>
    <p:spTree>
      <p:nvGrpSpPr>
        <p:cNvPr id="1" name=""/>
        <p:cNvGrpSpPr/>
        <p:nvPr/>
      </p:nvGrpSpPr>
      <p:grpSpPr>
        <a:xfrm>
          <a:off x="0" y="0"/>
          <a:ext cx="0" cy="0"/>
          <a:chOff x="0" y="0"/>
          <a:chExt cx="0" cy="0"/>
        </a:xfrm>
      </p:grpSpPr>
      <p:sp>
        <p:nvSpPr>
          <p:cNvPr id="91" name="Text 0"/>
          <p:cNvSpPr/>
          <p:nvPr/>
        </p:nvSpPr>
        <p:spPr>
          <a:xfrm>
            <a:off x="667080" y="201240"/>
            <a:ext cx="1087848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1" u="none" strike="noStrike">
                <a:solidFill>
                  <a:srgbClr val="0EA5A8"/>
                </a:solidFill>
                <a:effectLst/>
                <a:uFillTx/>
                <a:latin typeface="Aptos"/>
                <a:ea typeface="Aptos"/>
              </a:rPr>
              <a:t>FLUJO GENERAL</a:t>
            </a:r>
            <a:endParaRPr lang="en-US" sz="900" b="0" u="none" strike="noStrike">
              <a:solidFill>
                <a:srgbClr val="000000"/>
              </a:solidFill>
              <a:effectLst/>
              <a:uFillTx/>
              <a:latin typeface="Arial"/>
            </a:endParaRPr>
          </a:p>
        </p:txBody>
      </p:sp>
      <p:sp>
        <p:nvSpPr>
          <p:cNvPr id="92" name="Text 1"/>
          <p:cNvSpPr/>
          <p:nvPr/>
        </p:nvSpPr>
        <p:spPr>
          <a:xfrm>
            <a:off x="639720" y="530280"/>
            <a:ext cx="10878480" cy="502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0B1F3A"/>
                </a:solidFill>
                <a:effectLst/>
                <a:uFillTx/>
                <a:latin typeface="Aptos Display"/>
                <a:ea typeface="Aptos Display"/>
              </a:rPr>
              <a:t>Una ruta común para cada solicitud</a:t>
            </a:r>
            <a:endParaRPr lang="en-US" sz="3000" b="0" u="none" strike="noStrike">
              <a:solidFill>
                <a:srgbClr val="000000"/>
              </a:solidFill>
              <a:effectLst/>
              <a:uFillTx/>
              <a:latin typeface="Arial"/>
            </a:endParaRPr>
          </a:p>
        </p:txBody>
      </p:sp>
      <p:sp>
        <p:nvSpPr>
          <p:cNvPr id="93" name="Text 2"/>
          <p:cNvSpPr/>
          <p:nvPr/>
        </p:nvSpPr>
        <p:spPr>
          <a:xfrm>
            <a:off x="685440" y="1115640"/>
            <a:ext cx="1074132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0" u="none" strike="noStrike">
                <a:solidFill>
                  <a:srgbClr val="172033"/>
                </a:solidFill>
                <a:effectLst/>
                <a:uFillTx/>
                <a:latin typeface="Aptos"/>
              </a:rPr>
              <a:t>El proceso buscará que cada solicitud tenga origen, responsable, estado, evidencia y cierre documentado.</a:t>
            </a:r>
            <a:endParaRPr lang="en-US" sz="1800" b="0" u="none" strike="noStrike">
              <a:solidFill>
                <a:srgbClr val="000000"/>
              </a:solidFill>
              <a:effectLst/>
              <a:uFillTx/>
              <a:latin typeface="Arial"/>
            </a:endParaRPr>
          </a:p>
        </p:txBody>
      </p:sp>
      <p:sp>
        <p:nvSpPr>
          <p:cNvPr id="94" name="Shape 3"/>
          <p:cNvSpPr/>
          <p:nvPr/>
        </p:nvSpPr>
        <p:spPr>
          <a:xfrm>
            <a:off x="2413080" y="3246120"/>
            <a:ext cx="109800" cy="360"/>
          </a:xfrm>
          <a:prstGeom prst="line">
            <a:avLst/>
          </a:prstGeom>
          <a:ln w="15240">
            <a:solidFill>
              <a:srgbClr val="0E5F9F"/>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95" name="Shape 4"/>
          <p:cNvSpPr/>
          <p:nvPr/>
        </p:nvSpPr>
        <p:spPr>
          <a:xfrm>
            <a:off x="4287240" y="3246120"/>
            <a:ext cx="109800" cy="360"/>
          </a:xfrm>
          <a:prstGeom prst="line">
            <a:avLst/>
          </a:prstGeom>
          <a:ln w="15240">
            <a:solidFill>
              <a:srgbClr val="0E5F9F"/>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96" name="Shape 5"/>
          <p:cNvSpPr/>
          <p:nvPr/>
        </p:nvSpPr>
        <p:spPr>
          <a:xfrm>
            <a:off x="6161040" y="3246120"/>
            <a:ext cx="109800" cy="360"/>
          </a:xfrm>
          <a:prstGeom prst="line">
            <a:avLst/>
          </a:prstGeom>
          <a:ln w="15240">
            <a:solidFill>
              <a:srgbClr val="0E5F9F"/>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97" name="Shape 6"/>
          <p:cNvSpPr/>
          <p:nvPr/>
        </p:nvSpPr>
        <p:spPr>
          <a:xfrm>
            <a:off x="8035200" y="3246120"/>
            <a:ext cx="109800" cy="360"/>
          </a:xfrm>
          <a:prstGeom prst="line">
            <a:avLst/>
          </a:prstGeom>
          <a:ln w="15240">
            <a:solidFill>
              <a:srgbClr val="0E5F9F"/>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98" name="Shape 7"/>
          <p:cNvSpPr/>
          <p:nvPr/>
        </p:nvSpPr>
        <p:spPr>
          <a:xfrm>
            <a:off x="9909360" y="3246120"/>
            <a:ext cx="109800" cy="360"/>
          </a:xfrm>
          <a:prstGeom prst="line">
            <a:avLst/>
          </a:prstGeom>
          <a:ln w="15240">
            <a:solidFill>
              <a:srgbClr val="0E5F9F"/>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99" name="Shape 8"/>
          <p:cNvSpPr/>
          <p:nvPr/>
        </p:nvSpPr>
        <p:spPr>
          <a:xfrm>
            <a:off x="685440" y="2743200"/>
            <a:ext cx="1690920" cy="1554120"/>
          </a:xfrm>
          <a:prstGeom prst="roundRect">
            <a:avLst>
              <a:gd name="adj" fmla="val 5882"/>
            </a:avLst>
          </a:prstGeom>
          <a:solidFill>
            <a:srgbClr val="FFFFFF"/>
          </a:solidFill>
          <a:ln w="12700">
            <a:solidFill>
              <a:srgbClr val="D6E2EA"/>
            </a:solidFill>
            <a:round/>
          </a:ln>
          <a:effectLst>
            <a:outerShdw algn="bl" blurRad="12600" dir="2700000" dist="6109" kx="0" ky="0" rotWithShape="0" sx="100000" sy="100000">
              <a:srgbClr val="94A3B8">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0" name="Shape 9"/>
          <p:cNvSpPr/>
          <p:nvPr/>
        </p:nvSpPr>
        <p:spPr>
          <a:xfrm>
            <a:off x="813600" y="2871360"/>
            <a:ext cx="347040" cy="347040"/>
          </a:xfrm>
          <a:prstGeom prst="ellipse">
            <a:avLst/>
          </a:prstGeom>
          <a:solidFill>
            <a:srgbClr val="0E5F9F"/>
          </a:solidFill>
          <a:ln w="12700">
            <a:solidFill>
              <a:srgbClr val="FFFFFF">
                <a:alpha val="0"/>
              </a:srgbClr>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01" name="Text 10"/>
          <p:cNvSpPr/>
          <p:nvPr/>
        </p:nvSpPr>
        <p:spPr>
          <a:xfrm>
            <a:off x="813600" y="2958120"/>
            <a:ext cx="347040" cy="1094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750" b="1" u="none" strike="noStrike">
                <a:solidFill>
                  <a:srgbClr val="FFFFFF"/>
                </a:solidFill>
                <a:effectLst/>
                <a:uFillTx/>
                <a:latin typeface="Aptos"/>
              </a:rPr>
              <a:t>1</a:t>
            </a:r>
            <a:endParaRPr lang="en-US" sz="750" b="0" u="none" strike="noStrike">
              <a:solidFill>
                <a:srgbClr val="000000"/>
              </a:solidFill>
              <a:effectLst/>
              <a:uFillTx/>
              <a:latin typeface="Arial"/>
            </a:endParaRPr>
          </a:p>
        </p:txBody>
      </p:sp>
      <p:sp>
        <p:nvSpPr>
          <p:cNvPr id="102" name="Text 11"/>
          <p:cNvSpPr/>
          <p:nvPr/>
        </p:nvSpPr>
        <p:spPr>
          <a:xfrm>
            <a:off x="849960" y="3401640"/>
            <a:ext cx="1361880" cy="2282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0B1F3A"/>
                </a:solidFill>
                <a:effectLst/>
                <a:uFillTx/>
                <a:latin typeface="Aptos"/>
              </a:rPr>
              <a:t>Solicitud</a:t>
            </a:r>
            <a:endParaRPr lang="en-US" sz="1300" b="0" u="none" strike="noStrike">
              <a:solidFill>
                <a:srgbClr val="000000"/>
              </a:solidFill>
              <a:effectLst/>
              <a:uFillTx/>
              <a:latin typeface="Arial"/>
            </a:endParaRPr>
          </a:p>
        </p:txBody>
      </p:sp>
      <p:sp>
        <p:nvSpPr>
          <p:cNvPr id="103" name="Text 12"/>
          <p:cNvSpPr/>
          <p:nvPr/>
        </p:nvSpPr>
        <p:spPr>
          <a:xfrm>
            <a:off x="840960" y="3712320"/>
            <a:ext cx="1379880" cy="41112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950" b="0" u="none" strike="noStrike">
                <a:solidFill>
                  <a:srgbClr val="65758B"/>
                </a:solidFill>
                <a:effectLst/>
                <a:uFillTx/>
                <a:latin typeface="Aptos"/>
              </a:rPr>
              <a:t>Un área reporta una necesidad o incidente.</a:t>
            </a:r>
            <a:endParaRPr lang="en-US" sz="950" b="0" u="none" strike="noStrike">
              <a:solidFill>
                <a:srgbClr val="000000"/>
              </a:solidFill>
              <a:effectLst/>
              <a:uFillTx/>
              <a:latin typeface="Arial"/>
            </a:endParaRPr>
          </a:p>
        </p:txBody>
      </p:sp>
      <p:sp>
        <p:nvSpPr>
          <p:cNvPr id="104" name="Shape 13"/>
          <p:cNvSpPr/>
          <p:nvPr/>
        </p:nvSpPr>
        <p:spPr>
          <a:xfrm>
            <a:off x="2559600" y="2743200"/>
            <a:ext cx="1690920" cy="1554120"/>
          </a:xfrm>
          <a:prstGeom prst="roundRect">
            <a:avLst>
              <a:gd name="adj" fmla="val 5882"/>
            </a:avLst>
          </a:prstGeom>
          <a:solidFill>
            <a:srgbClr val="FFFFFF"/>
          </a:solidFill>
          <a:ln w="12700">
            <a:solidFill>
              <a:srgbClr val="D6E2EA"/>
            </a:solidFill>
            <a:round/>
          </a:ln>
          <a:effectLst>
            <a:outerShdw algn="bl" blurRad="12600" dir="2700000" dist="6109" kx="0" ky="0" rotWithShape="0" sx="100000" sy="100000">
              <a:srgbClr val="94A3B8">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5" name="Shape 14"/>
          <p:cNvSpPr/>
          <p:nvPr/>
        </p:nvSpPr>
        <p:spPr>
          <a:xfrm>
            <a:off x="2687760" y="2871360"/>
            <a:ext cx="347040" cy="347040"/>
          </a:xfrm>
          <a:prstGeom prst="ellipse">
            <a:avLst/>
          </a:prstGeom>
          <a:solidFill>
            <a:srgbClr val="0EA5A8"/>
          </a:solidFill>
          <a:ln w="12700">
            <a:solidFill>
              <a:srgbClr val="FFFFFF">
                <a:alpha val="0"/>
              </a:srgbClr>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06" name="Text 15"/>
          <p:cNvSpPr/>
          <p:nvPr/>
        </p:nvSpPr>
        <p:spPr>
          <a:xfrm>
            <a:off x="2687760" y="2958120"/>
            <a:ext cx="347040" cy="1094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750" b="1" u="none" strike="noStrike">
                <a:solidFill>
                  <a:srgbClr val="FFFFFF"/>
                </a:solidFill>
                <a:effectLst/>
                <a:uFillTx/>
                <a:latin typeface="Aptos"/>
              </a:rPr>
              <a:t>2</a:t>
            </a:r>
            <a:endParaRPr lang="en-US" sz="750" b="0" u="none" strike="noStrike">
              <a:solidFill>
                <a:srgbClr val="000000"/>
              </a:solidFill>
              <a:effectLst/>
              <a:uFillTx/>
              <a:latin typeface="Arial"/>
            </a:endParaRPr>
          </a:p>
        </p:txBody>
      </p:sp>
      <p:sp>
        <p:nvSpPr>
          <p:cNvPr id="107" name="Text 16"/>
          <p:cNvSpPr/>
          <p:nvPr/>
        </p:nvSpPr>
        <p:spPr>
          <a:xfrm>
            <a:off x="2724120" y="3401640"/>
            <a:ext cx="1361880" cy="2282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0B1F3A"/>
                </a:solidFill>
                <a:effectLst/>
                <a:uFillTx/>
                <a:latin typeface="Aptos"/>
              </a:rPr>
              <a:t>Triage</a:t>
            </a:r>
            <a:endParaRPr lang="en-US" sz="1300" b="0" u="none" strike="noStrike">
              <a:solidFill>
                <a:srgbClr val="000000"/>
              </a:solidFill>
              <a:effectLst/>
              <a:uFillTx/>
              <a:latin typeface="Arial"/>
            </a:endParaRPr>
          </a:p>
        </p:txBody>
      </p:sp>
      <p:sp>
        <p:nvSpPr>
          <p:cNvPr id="108" name="Text 17"/>
          <p:cNvSpPr/>
          <p:nvPr/>
        </p:nvSpPr>
        <p:spPr>
          <a:xfrm>
            <a:off x="2715120" y="3712320"/>
            <a:ext cx="1379880" cy="41112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950" b="0" u="none" strike="noStrike">
                <a:solidFill>
                  <a:srgbClr val="65758B"/>
                </a:solidFill>
                <a:effectLst/>
                <a:uFillTx/>
                <a:latin typeface="Aptos"/>
              </a:rPr>
              <a:t>Help Desk valida, clasifica y prioriza.</a:t>
            </a:r>
            <a:endParaRPr lang="en-US" sz="950" b="0" u="none" strike="noStrike">
              <a:solidFill>
                <a:srgbClr val="000000"/>
              </a:solidFill>
              <a:effectLst/>
              <a:uFillTx/>
              <a:latin typeface="Arial"/>
            </a:endParaRPr>
          </a:p>
        </p:txBody>
      </p:sp>
      <p:sp>
        <p:nvSpPr>
          <p:cNvPr id="109" name="Shape 18"/>
          <p:cNvSpPr/>
          <p:nvPr/>
        </p:nvSpPr>
        <p:spPr>
          <a:xfrm>
            <a:off x="4433760" y="2743200"/>
            <a:ext cx="1690920" cy="1554120"/>
          </a:xfrm>
          <a:prstGeom prst="roundRect">
            <a:avLst>
              <a:gd name="adj" fmla="val 5882"/>
            </a:avLst>
          </a:prstGeom>
          <a:solidFill>
            <a:srgbClr val="FFFFFF"/>
          </a:solidFill>
          <a:ln w="12700">
            <a:solidFill>
              <a:srgbClr val="D6E2EA"/>
            </a:solidFill>
            <a:round/>
          </a:ln>
          <a:effectLst>
            <a:outerShdw algn="bl" blurRad="12600" dir="2700000" dist="6109" kx="0" ky="0" rotWithShape="0" sx="100000" sy="100000">
              <a:srgbClr val="94A3B8">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0" name="Shape 19"/>
          <p:cNvSpPr/>
          <p:nvPr/>
        </p:nvSpPr>
        <p:spPr>
          <a:xfrm>
            <a:off x="4561920" y="2871360"/>
            <a:ext cx="347040" cy="347040"/>
          </a:xfrm>
          <a:prstGeom prst="ellipse">
            <a:avLst/>
          </a:prstGeom>
          <a:solidFill>
            <a:srgbClr val="D9A441"/>
          </a:solidFill>
          <a:ln w="12700">
            <a:solidFill>
              <a:srgbClr val="FFFFFF">
                <a:alpha val="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1" name="Text 20"/>
          <p:cNvSpPr/>
          <p:nvPr/>
        </p:nvSpPr>
        <p:spPr>
          <a:xfrm>
            <a:off x="4561920" y="2958120"/>
            <a:ext cx="347040" cy="1094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750" b="1" u="none" strike="noStrike">
                <a:solidFill>
                  <a:srgbClr val="FFFFFF"/>
                </a:solidFill>
                <a:effectLst/>
                <a:uFillTx/>
                <a:latin typeface="Aptos"/>
              </a:rPr>
              <a:t>3</a:t>
            </a:r>
            <a:endParaRPr lang="en-US" sz="750" b="0" u="none" strike="noStrike">
              <a:solidFill>
                <a:srgbClr val="000000"/>
              </a:solidFill>
              <a:effectLst/>
              <a:uFillTx/>
              <a:latin typeface="Arial"/>
            </a:endParaRPr>
          </a:p>
        </p:txBody>
      </p:sp>
      <p:sp>
        <p:nvSpPr>
          <p:cNvPr id="112" name="Text 21"/>
          <p:cNvSpPr/>
          <p:nvPr/>
        </p:nvSpPr>
        <p:spPr>
          <a:xfrm>
            <a:off x="4597920" y="3401640"/>
            <a:ext cx="1361880" cy="2282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0B1F3A"/>
                </a:solidFill>
                <a:effectLst/>
                <a:uFillTx/>
                <a:latin typeface="Aptos"/>
              </a:rPr>
              <a:t>Atención</a:t>
            </a:r>
            <a:endParaRPr lang="en-US" sz="1300" b="0" u="none" strike="noStrike">
              <a:solidFill>
                <a:srgbClr val="000000"/>
              </a:solidFill>
              <a:effectLst/>
              <a:uFillTx/>
              <a:latin typeface="Arial"/>
            </a:endParaRPr>
          </a:p>
        </p:txBody>
      </p:sp>
      <p:sp>
        <p:nvSpPr>
          <p:cNvPr id="113" name="Text 22"/>
          <p:cNvSpPr/>
          <p:nvPr/>
        </p:nvSpPr>
        <p:spPr>
          <a:xfrm>
            <a:off x="4588920" y="3712320"/>
            <a:ext cx="1379880" cy="41112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950" b="0" u="none" strike="noStrike">
                <a:solidFill>
                  <a:srgbClr val="65758B"/>
                </a:solidFill>
                <a:effectLst/>
                <a:uFillTx/>
                <a:latin typeface="Aptos"/>
              </a:rPr>
              <a:t>Se resuelve en primer nivel o se escala.</a:t>
            </a:r>
            <a:endParaRPr lang="en-US" sz="950" b="0" u="none" strike="noStrike">
              <a:solidFill>
                <a:srgbClr val="000000"/>
              </a:solidFill>
              <a:effectLst/>
              <a:uFillTx/>
              <a:latin typeface="Arial"/>
            </a:endParaRPr>
          </a:p>
        </p:txBody>
      </p:sp>
      <p:sp>
        <p:nvSpPr>
          <p:cNvPr id="114" name="Shape 23"/>
          <p:cNvSpPr/>
          <p:nvPr/>
        </p:nvSpPr>
        <p:spPr>
          <a:xfrm>
            <a:off x="6307560" y="2743200"/>
            <a:ext cx="1690920" cy="1554120"/>
          </a:xfrm>
          <a:prstGeom prst="roundRect">
            <a:avLst>
              <a:gd name="adj" fmla="val 5882"/>
            </a:avLst>
          </a:prstGeom>
          <a:solidFill>
            <a:srgbClr val="FFFFFF"/>
          </a:solidFill>
          <a:ln w="12700">
            <a:solidFill>
              <a:srgbClr val="D6E2EA"/>
            </a:solidFill>
            <a:round/>
          </a:ln>
          <a:effectLst>
            <a:outerShdw algn="bl" blurRad="12600" dir="2700000" dist="6109" kx="0" ky="0" rotWithShape="0" sx="100000" sy="100000">
              <a:srgbClr val="94A3B8">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5" name="Shape 24"/>
          <p:cNvSpPr/>
          <p:nvPr/>
        </p:nvSpPr>
        <p:spPr>
          <a:xfrm>
            <a:off x="6435720" y="2871360"/>
            <a:ext cx="347040" cy="347040"/>
          </a:xfrm>
          <a:prstGeom prst="ellipse">
            <a:avLst/>
          </a:prstGeom>
          <a:solidFill>
            <a:srgbClr val="4CB88A"/>
          </a:solidFill>
          <a:ln w="12700">
            <a:solidFill>
              <a:srgbClr val="FFFFFF">
                <a:alpha val="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6" name="Text 25"/>
          <p:cNvSpPr/>
          <p:nvPr/>
        </p:nvSpPr>
        <p:spPr>
          <a:xfrm>
            <a:off x="6435720" y="2958120"/>
            <a:ext cx="347040" cy="1094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750" b="1" u="none" strike="noStrike">
                <a:solidFill>
                  <a:srgbClr val="FFFFFF"/>
                </a:solidFill>
                <a:effectLst/>
                <a:uFillTx/>
                <a:latin typeface="Aptos"/>
              </a:rPr>
              <a:t>4</a:t>
            </a:r>
            <a:endParaRPr lang="en-US" sz="750" b="0" u="none" strike="noStrike">
              <a:solidFill>
                <a:srgbClr val="000000"/>
              </a:solidFill>
              <a:effectLst/>
              <a:uFillTx/>
              <a:latin typeface="Arial"/>
            </a:endParaRPr>
          </a:p>
        </p:txBody>
      </p:sp>
      <p:sp>
        <p:nvSpPr>
          <p:cNvPr id="117" name="Text 26"/>
          <p:cNvSpPr/>
          <p:nvPr/>
        </p:nvSpPr>
        <p:spPr>
          <a:xfrm>
            <a:off x="6472080" y="3401640"/>
            <a:ext cx="1361880" cy="2282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0B1F3A"/>
                </a:solidFill>
                <a:effectLst/>
                <a:uFillTx/>
                <a:latin typeface="Aptos"/>
              </a:rPr>
              <a:t>Escalamiento</a:t>
            </a:r>
            <a:endParaRPr lang="en-US" sz="1300" b="0" u="none" strike="noStrike">
              <a:solidFill>
                <a:srgbClr val="000000"/>
              </a:solidFill>
              <a:effectLst/>
              <a:uFillTx/>
              <a:latin typeface="Arial"/>
            </a:endParaRPr>
          </a:p>
        </p:txBody>
      </p:sp>
      <p:sp>
        <p:nvSpPr>
          <p:cNvPr id="118" name="Text 27"/>
          <p:cNvSpPr/>
          <p:nvPr/>
        </p:nvSpPr>
        <p:spPr>
          <a:xfrm>
            <a:off x="6463080" y="3712320"/>
            <a:ext cx="1379880" cy="411120"/>
          </a:xfrm>
          <a:prstGeom prst="rect">
            <a:avLst/>
          </a:prstGeom>
          <a:noFill/>
          <a:ln w="0">
            <a:noFill/>
          </a:ln>
        </p:spPr>
        <p:style>
          <a:lnRef idx="0"/>
          <a:fillRef idx="0"/>
          <a:effectRef idx="0"/>
          <a:fontRef idx="minor"/>
        </p:style>
        <p:txBody>
          <a:bodyPr lIns="0" tIns="0" rIns="0" bIns="0" anchor="ctr">
            <a:normAutofit lnSpcReduction="9999"/>
          </a:bodyPr>
          <a:p>
            <a:pPr algn="ctr" defTabSz="914400">
              <a:lnSpc>
                <a:spcPct val="100000"/>
              </a:lnSpc>
              <a:tabLst>
                <a:tab pos="0" algn="l"/>
              </a:tabLst>
            </a:pPr>
            <a:r>
              <a:rPr lang="en-US" sz="950" b="0" u="none" strike="noStrike">
                <a:solidFill>
                  <a:srgbClr val="65758B"/>
                </a:solidFill>
                <a:effectLst/>
                <a:uFillTx/>
                <a:latin typeface="Aptos"/>
              </a:rPr>
              <a:t>Network, Apps o Security atienden el caso.</a:t>
            </a:r>
            <a:endParaRPr lang="en-US" sz="950" b="0" u="none" strike="noStrike">
              <a:solidFill>
                <a:srgbClr val="000000"/>
              </a:solidFill>
              <a:effectLst/>
              <a:uFillTx/>
              <a:latin typeface="Arial"/>
            </a:endParaRPr>
          </a:p>
        </p:txBody>
      </p:sp>
      <p:sp>
        <p:nvSpPr>
          <p:cNvPr id="119" name="Shape 28"/>
          <p:cNvSpPr/>
          <p:nvPr/>
        </p:nvSpPr>
        <p:spPr>
          <a:xfrm>
            <a:off x="8181720" y="2743200"/>
            <a:ext cx="1690920" cy="1554120"/>
          </a:xfrm>
          <a:prstGeom prst="roundRect">
            <a:avLst>
              <a:gd name="adj" fmla="val 5882"/>
            </a:avLst>
          </a:prstGeom>
          <a:solidFill>
            <a:srgbClr val="FFFFFF"/>
          </a:solidFill>
          <a:ln w="12700">
            <a:solidFill>
              <a:srgbClr val="D6E2EA"/>
            </a:solidFill>
            <a:round/>
          </a:ln>
          <a:effectLst>
            <a:outerShdw algn="bl" blurRad="12600" dir="2700000" dist="6109" kx="0" ky="0" rotWithShape="0" sx="100000" sy="100000">
              <a:srgbClr val="94A3B8">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20" name="Shape 29"/>
          <p:cNvSpPr/>
          <p:nvPr/>
        </p:nvSpPr>
        <p:spPr>
          <a:xfrm>
            <a:off x="8309880" y="2871360"/>
            <a:ext cx="347040" cy="347040"/>
          </a:xfrm>
          <a:prstGeom prst="ellipse">
            <a:avLst/>
          </a:prstGeom>
          <a:solidFill>
            <a:srgbClr val="7C6BD1"/>
          </a:solidFill>
          <a:ln w="12700">
            <a:solidFill>
              <a:srgbClr val="FFFFFF">
                <a:alpha val="0"/>
              </a:srgbClr>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21" name="Text 30"/>
          <p:cNvSpPr/>
          <p:nvPr/>
        </p:nvSpPr>
        <p:spPr>
          <a:xfrm>
            <a:off x="8309880" y="2958120"/>
            <a:ext cx="347040" cy="1094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750" b="1" u="none" strike="noStrike">
                <a:solidFill>
                  <a:srgbClr val="FFFFFF"/>
                </a:solidFill>
                <a:effectLst/>
                <a:uFillTx/>
                <a:latin typeface="Aptos"/>
              </a:rPr>
              <a:t>5</a:t>
            </a:r>
            <a:endParaRPr lang="en-US" sz="750" b="0" u="none" strike="noStrike">
              <a:solidFill>
                <a:srgbClr val="000000"/>
              </a:solidFill>
              <a:effectLst/>
              <a:uFillTx/>
              <a:latin typeface="Arial"/>
            </a:endParaRPr>
          </a:p>
        </p:txBody>
      </p:sp>
      <p:sp>
        <p:nvSpPr>
          <p:cNvPr id="122" name="Text 31"/>
          <p:cNvSpPr/>
          <p:nvPr/>
        </p:nvSpPr>
        <p:spPr>
          <a:xfrm>
            <a:off x="8346240" y="3401640"/>
            <a:ext cx="1361880" cy="2282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0B1F3A"/>
                </a:solidFill>
                <a:effectLst/>
                <a:uFillTx/>
                <a:latin typeface="Aptos"/>
              </a:rPr>
              <a:t>Cierre</a:t>
            </a:r>
            <a:endParaRPr lang="en-US" sz="1300" b="0" u="none" strike="noStrike">
              <a:solidFill>
                <a:srgbClr val="000000"/>
              </a:solidFill>
              <a:effectLst/>
              <a:uFillTx/>
              <a:latin typeface="Arial"/>
            </a:endParaRPr>
          </a:p>
        </p:txBody>
      </p:sp>
      <p:sp>
        <p:nvSpPr>
          <p:cNvPr id="123" name="Text 32"/>
          <p:cNvSpPr/>
          <p:nvPr/>
        </p:nvSpPr>
        <p:spPr>
          <a:xfrm>
            <a:off x="8337240" y="3712320"/>
            <a:ext cx="1379880" cy="41112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950" b="0" u="none" strike="noStrike">
                <a:solidFill>
                  <a:srgbClr val="65758B"/>
                </a:solidFill>
                <a:effectLst/>
                <a:uFillTx/>
                <a:latin typeface="Aptos"/>
              </a:rPr>
              <a:t>Se confirma solución y queda evidencia.</a:t>
            </a:r>
            <a:endParaRPr lang="en-US" sz="950" b="0" u="none" strike="noStrike">
              <a:solidFill>
                <a:srgbClr val="000000"/>
              </a:solidFill>
              <a:effectLst/>
              <a:uFillTx/>
              <a:latin typeface="Arial"/>
            </a:endParaRPr>
          </a:p>
        </p:txBody>
      </p:sp>
      <p:sp>
        <p:nvSpPr>
          <p:cNvPr id="124" name="Shape 33"/>
          <p:cNvSpPr/>
          <p:nvPr/>
        </p:nvSpPr>
        <p:spPr>
          <a:xfrm>
            <a:off x="10055880" y="2743200"/>
            <a:ext cx="1690920" cy="1554120"/>
          </a:xfrm>
          <a:prstGeom prst="roundRect">
            <a:avLst>
              <a:gd name="adj" fmla="val 5882"/>
            </a:avLst>
          </a:prstGeom>
          <a:solidFill>
            <a:srgbClr val="FFFFFF"/>
          </a:solidFill>
          <a:ln w="12700">
            <a:solidFill>
              <a:srgbClr val="D6E2EA"/>
            </a:solidFill>
            <a:round/>
          </a:ln>
          <a:effectLst>
            <a:outerShdw algn="bl" blurRad="12600" dir="2700000" dist="6109" kx="0" ky="0" rotWithShape="0" sx="100000" sy="100000">
              <a:srgbClr val="94A3B8">
                <a:alpha val="12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25" name="Shape 34"/>
          <p:cNvSpPr/>
          <p:nvPr/>
        </p:nvSpPr>
        <p:spPr>
          <a:xfrm>
            <a:off x="10184040" y="2871360"/>
            <a:ext cx="347040" cy="347040"/>
          </a:xfrm>
          <a:prstGeom prst="ellipse">
            <a:avLst/>
          </a:prstGeom>
          <a:solidFill>
            <a:srgbClr val="0B1F3A"/>
          </a:solidFill>
          <a:ln w="12700">
            <a:solidFill>
              <a:srgbClr val="FFFFFF">
                <a:alpha val="0"/>
              </a:srgbClr>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26" name="Text 35"/>
          <p:cNvSpPr/>
          <p:nvPr/>
        </p:nvSpPr>
        <p:spPr>
          <a:xfrm>
            <a:off x="10184040" y="2958120"/>
            <a:ext cx="347040" cy="1094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750" b="1" u="none" strike="noStrike">
                <a:solidFill>
                  <a:srgbClr val="FFFFFF"/>
                </a:solidFill>
                <a:effectLst/>
                <a:uFillTx/>
                <a:latin typeface="Aptos"/>
              </a:rPr>
              <a:t>6</a:t>
            </a:r>
            <a:endParaRPr lang="en-US" sz="750" b="0" u="none" strike="noStrike">
              <a:solidFill>
                <a:srgbClr val="000000"/>
              </a:solidFill>
              <a:effectLst/>
              <a:uFillTx/>
              <a:latin typeface="Arial"/>
            </a:endParaRPr>
          </a:p>
        </p:txBody>
      </p:sp>
      <p:sp>
        <p:nvSpPr>
          <p:cNvPr id="127" name="Text 36"/>
          <p:cNvSpPr/>
          <p:nvPr/>
        </p:nvSpPr>
        <p:spPr>
          <a:xfrm>
            <a:off x="10220400" y="3401640"/>
            <a:ext cx="1361880" cy="2282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0B1F3A"/>
                </a:solidFill>
                <a:effectLst/>
                <a:uFillTx/>
                <a:latin typeface="Aptos"/>
              </a:rPr>
              <a:t>Información</a:t>
            </a:r>
            <a:endParaRPr lang="en-US" sz="1300" b="0" u="none" strike="noStrike">
              <a:solidFill>
                <a:srgbClr val="000000"/>
              </a:solidFill>
              <a:effectLst/>
              <a:uFillTx/>
              <a:latin typeface="Arial"/>
            </a:endParaRPr>
          </a:p>
        </p:txBody>
      </p:sp>
      <p:sp>
        <p:nvSpPr>
          <p:cNvPr id="128" name="Text 37"/>
          <p:cNvSpPr/>
          <p:nvPr/>
        </p:nvSpPr>
        <p:spPr>
          <a:xfrm>
            <a:off x="10211400" y="3712320"/>
            <a:ext cx="1379880" cy="41112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950" b="0" u="none" strike="noStrike">
                <a:solidFill>
                  <a:srgbClr val="65758B"/>
                </a:solidFill>
                <a:effectLst/>
                <a:uFillTx/>
                <a:latin typeface="Aptos"/>
              </a:rPr>
              <a:t>El proceso genera métricas y reportes.</a:t>
            </a:r>
            <a:endParaRPr lang="en-US" sz="950" b="0" u="none" strike="noStrike">
              <a:solidFill>
                <a:srgbClr val="000000"/>
              </a:solidFill>
              <a:effectLst/>
              <a:uFillTx/>
              <a:latin typeface="Arial"/>
            </a:endParaRPr>
          </a:p>
        </p:txBody>
      </p:sp>
      <p:sp>
        <p:nvSpPr>
          <p:cNvPr id="129" name="Shape 38"/>
          <p:cNvSpPr/>
          <p:nvPr/>
        </p:nvSpPr>
        <p:spPr>
          <a:xfrm>
            <a:off x="639720" y="6510240"/>
            <a:ext cx="10878840" cy="360"/>
          </a:xfrm>
          <a:prstGeom prst="line">
            <a:avLst/>
          </a:prstGeom>
          <a:ln w="6350">
            <a:solidFill>
              <a:srgbClr val="D9E3EA"/>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130" name="Text 39"/>
          <p:cNvSpPr/>
          <p:nvPr/>
        </p:nvSpPr>
        <p:spPr>
          <a:xfrm>
            <a:off x="639720" y="6583680"/>
            <a:ext cx="365652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0" u="none" strike="noStrike">
                <a:solidFill>
                  <a:srgbClr val="65758B"/>
                </a:solidFill>
                <a:effectLst/>
                <a:uFillTx/>
                <a:latin typeface="Aptos"/>
              </a:rPr>
              <a:t>ServiceDesk Kick-off</a:t>
            </a:r>
            <a:endParaRPr lang="en-US" sz="800" b="0" u="none" strike="noStrike">
              <a:solidFill>
                <a:srgbClr val="000000"/>
              </a:solidFill>
              <a:effectLst/>
              <a:uFillTx/>
              <a:latin typeface="Arial"/>
            </a:endParaRPr>
          </a:p>
        </p:txBody>
      </p:sp>
      <p:sp>
        <p:nvSpPr>
          <p:cNvPr id="131" name="Text 40"/>
          <p:cNvSpPr/>
          <p:nvPr/>
        </p:nvSpPr>
        <p:spPr>
          <a:xfrm>
            <a:off x="10969920" y="6565320"/>
            <a:ext cx="548280" cy="1825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00" b="0" u="none" strike="noStrike">
                <a:solidFill>
                  <a:srgbClr val="65758B"/>
                </a:solidFill>
                <a:effectLst/>
                <a:uFillTx/>
                <a:latin typeface="Aptos"/>
              </a:rPr>
              <a:t>05</a:t>
            </a:r>
            <a:endParaRPr lang="en-US" sz="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F3A"/>
        </a:solidFill>
      </p:bgPr>
    </p:bg>
    <p:spTree>
      <p:nvGrpSpPr>
        <p:cNvPr id="1" name=""/>
        <p:cNvGrpSpPr/>
        <p:nvPr/>
      </p:nvGrpSpPr>
      <p:grpSpPr>
        <a:xfrm>
          <a:off x="0" y="0"/>
          <a:ext cx="0" cy="0"/>
          <a:chOff x="0" y="0"/>
          <a:chExt cx="0" cy="0"/>
        </a:xfrm>
      </p:grpSpPr>
      <p:sp>
        <p:nvSpPr>
          <p:cNvPr id="132" name="Shape 0"/>
          <p:cNvSpPr/>
          <p:nvPr/>
        </p:nvSpPr>
        <p:spPr>
          <a:xfrm>
            <a:off x="0" y="0"/>
            <a:ext cx="6627600" cy="6857640"/>
          </a:xfrm>
          <a:prstGeom prst="rect">
            <a:avLst/>
          </a:prstGeom>
          <a:solidFill>
            <a:srgbClr val="0B1F3A"/>
          </a:solidFill>
          <a:ln w="12700">
            <a:solidFill>
              <a:srgbClr val="0B1F3A">
                <a:alpha val="0"/>
              </a:srgbClr>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133" name="Image 0" descr="/mnt/data/a_detailed_corporate_infographic_business_illust_batch_4.png"/>
          <p:cNvPicPr/>
          <p:nvPr/>
        </p:nvPicPr>
        <p:blipFill>
          <a:blip r:embed="rId1"/>
          <a:stretch/>
        </p:blipFill>
        <p:spPr>
          <a:xfrm>
            <a:off x="6901920" y="1417320"/>
            <a:ext cx="4844880" cy="2724480"/>
          </a:xfrm>
          <a:prstGeom prst="rect">
            <a:avLst/>
          </a:prstGeom>
          <a:noFill/>
          <a:ln w="0">
            <a:noFill/>
          </a:ln>
        </p:spPr>
      </p:pic>
      <p:sp>
        <p:nvSpPr>
          <p:cNvPr id="134" name="Shape 1"/>
          <p:cNvSpPr/>
          <p:nvPr/>
        </p:nvSpPr>
        <p:spPr>
          <a:xfrm>
            <a:off x="6728040" y="502920"/>
            <a:ext cx="360" cy="5852160"/>
          </a:xfrm>
          <a:prstGeom prst="line">
            <a:avLst/>
          </a:prstGeom>
          <a:ln w="25400">
            <a:solidFill>
              <a:srgbClr val="D9A441"/>
            </a:solidFill>
            <a:round/>
          </a:ln>
        </p:spPr>
        <p:style>
          <a:lnRef idx="0"/>
          <a:fillRef idx="0"/>
          <a:effectRef idx="0"/>
          <a:fontRef idx="minor"/>
        </p:style>
        <p:txBody>
          <a:bodyPr lIns="90000" tIns="45000" rIns="90000" bIns="45000" anchor="t" anchorCtr="1">
            <a:noAutofit/>
          </a:bodyPr>
          <a:p>
            <a:endParaRPr lang="en-US" sz="1800" b="0" u="none" strike="noStrike">
              <a:solidFill>
                <a:srgbClr val="FFFFFF"/>
              </a:solidFill>
              <a:effectLst/>
              <a:uFillTx/>
              <a:latin typeface="Arial"/>
            </a:endParaRPr>
          </a:p>
        </p:txBody>
      </p:sp>
      <p:sp>
        <p:nvSpPr>
          <p:cNvPr id="135" name="Text 2"/>
          <p:cNvSpPr/>
          <p:nvPr/>
        </p:nvSpPr>
        <p:spPr>
          <a:xfrm>
            <a:off x="731160" y="640080"/>
            <a:ext cx="3107880" cy="237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trike="noStrike">
                <a:solidFill>
                  <a:srgbClr val="62D2E3"/>
                </a:solidFill>
                <a:effectLst/>
                <a:uFillTx/>
                <a:latin typeface="Aptos"/>
              </a:rPr>
              <a:t>OBJETIVO PRINCIPAL</a:t>
            </a:r>
            <a:endParaRPr lang="en-US" sz="1100" b="0" u="none" strike="noStrike">
              <a:solidFill>
                <a:srgbClr val="FFFFFF"/>
              </a:solidFill>
              <a:effectLst/>
              <a:uFillTx/>
              <a:latin typeface="Arial"/>
            </a:endParaRPr>
          </a:p>
        </p:txBody>
      </p:sp>
      <p:sp>
        <p:nvSpPr>
          <p:cNvPr id="136" name="Text 3"/>
          <p:cNvSpPr/>
          <p:nvPr/>
        </p:nvSpPr>
        <p:spPr>
          <a:xfrm>
            <a:off x="731160" y="1463040"/>
            <a:ext cx="5621760" cy="146268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3600" b="1" u="none" strike="noStrike">
                <a:solidFill>
                  <a:srgbClr val="FFFFFF"/>
                </a:solidFill>
                <a:effectLst/>
                <a:uFillTx/>
                <a:latin typeface="Aptos Display"/>
                <a:ea typeface="Aptos Display"/>
              </a:rPr>
              <a:t>Convertir el soporte de IT en un proceso visible, medible y controlado.</a:t>
            </a:r>
            <a:endParaRPr lang="en-US" sz="3600" b="0" u="none" strike="noStrike">
              <a:solidFill>
                <a:srgbClr val="FFFFFF"/>
              </a:solidFill>
              <a:effectLst/>
              <a:uFillTx/>
              <a:latin typeface="Arial"/>
            </a:endParaRPr>
          </a:p>
        </p:txBody>
      </p:sp>
      <p:sp>
        <p:nvSpPr>
          <p:cNvPr id="137" name="Text 4"/>
          <p:cNvSpPr/>
          <p:nvPr/>
        </p:nvSpPr>
        <p:spPr>
          <a:xfrm>
            <a:off x="767880" y="3429000"/>
            <a:ext cx="5438880" cy="91404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1700" b="0" u="none" strike="noStrike">
                <a:solidFill>
                  <a:srgbClr val="D7F4FF"/>
                </a:solidFill>
                <a:effectLst/>
                <a:uFillTx/>
                <a:latin typeface="Aptos"/>
              </a:rPr>
              <a:t>La meta no es sólo tener una herramienta de tickets. La meta es ordenar la operación, mejorar la experiencia del usuario interno y generar información confiable para decisiones.</a:t>
            </a:r>
            <a:endParaRPr lang="en-US" sz="1700" b="0" u="none" strike="noStrike">
              <a:solidFill>
                <a:srgbClr val="FFFFFF"/>
              </a:solidFill>
              <a:effectLst/>
              <a:uFillTx/>
              <a:latin typeface="Arial"/>
            </a:endParaRPr>
          </a:p>
        </p:txBody>
      </p:sp>
      <p:sp>
        <p:nvSpPr>
          <p:cNvPr id="138" name="Shape 5"/>
          <p:cNvSpPr/>
          <p:nvPr/>
        </p:nvSpPr>
        <p:spPr>
          <a:xfrm>
            <a:off x="776880" y="5074920"/>
            <a:ext cx="1553760" cy="438480"/>
          </a:xfrm>
          <a:prstGeom prst="roundRect">
            <a:avLst>
              <a:gd name="adj" fmla="val 25000"/>
            </a:avLst>
          </a:prstGeom>
          <a:solidFill>
            <a:srgbClr val="62D2E3"/>
          </a:solidFill>
          <a:ln w="12700">
            <a:solidFill>
              <a:srgbClr val="62D2E3">
                <a:alpha val="0"/>
              </a:srgbClr>
            </a:solidFill>
            <a:round/>
          </a:ln>
          <a:effectLst>
            <a:outerShdw algn="bl" blurRad="12600" dir="2700000" dist="9673" kx="0" ky="0" rotWithShape="0" sx="100000" sy="100000">
              <a:srgbClr val="6B7280">
                <a:alpha val="1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9" name="Text 6"/>
          <p:cNvSpPr/>
          <p:nvPr/>
        </p:nvSpPr>
        <p:spPr>
          <a:xfrm>
            <a:off x="886680" y="5193720"/>
            <a:ext cx="1334160" cy="1825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0B1F3A"/>
                </a:solidFill>
                <a:effectLst/>
                <a:uFillTx/>
                <a:latin typeface="Aptos"/>
              </a:rPr>
              <a:t>Trazabilidad</a:t>
            </a:r>
            <a:endParaRPr lang="en-US" sz="1100" b="0" u="none" strike="noStrike">
              <a:solidFill>
                <a:srgbClr val="FFFFFF"/>
              </a:solidFill>
              <a:effectLst/>
              <a:uFillTx/>
              <a:latin typeface="Arial"/>
            </a:endParaRPr>
          </a:p>
        </p:txBody>
      </p:sp>
      <p:sp>
        <p:nvSpPr>
          <p:cNvPr id="140" name="Shape 7"/>
          <p:cNvSpPr/>
          <p:nvPr/>
        </p:nvSpPr>
        <p:spPr>
          <a:xfrm>
            <a:off x="2605320" y="5074920"/>
            <a:ext cx="1782360" cy="438480"/>
          </a:xfrm>
          <a:prstGeom prst="roundRect">
            <a:avLst>
              <a:gd name="adj" fmla="val 25000"/>
            </a:avLst>
          </a:prstGeom>
          <a:solidFill>
            <a:srgbClr val="D9A441"/>
          </a:solidFill>
          <a:ln w="12700">
            <a:solidFill>
              <a:srgbClr val="D9A441">
                <a:alpha val="0"/>
              </a:srgbClr>
            </a:solidFill>
            <a:round/>
          </a:ln>
          <a:effectLst>
            <a:outerShdw algn="bl" blurRad="12600" dir="2700000" dist="9673" kx="0" ky="0" rotWithShape="0" sx="100000" sy="100000">
              <a:srgbClr val="6B7280">
                <a:alpha val="1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41" name="Text 8"/>
          <p:cNvSpPr/>
          <p:nvPr/>
        </p:nvSpPr>
        <p:spPr>
          <a:xfrm>
            <a:off x="2715120" y="5193720"/>
            <a:ext cx="1562760" cy="1825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0B1F3A"/>
                </a:solidFill>
                <a:effectLst/>
                <a:uFillTx/>
                <a:latin typeface="Aptos"/>
              </a:rPr>
              <a:t>Responsabilidad</a:t>
            </a:r>
            <a:endParaRPr lang="en-US" sz="1100" b="0" u="none" strike="noStrike">
              <a:solidFill>
                <a:srgbClr val="FFFFFF"/>
              </a:solidFill>
              <a:effectLst/>
              <a:uFillTx/>
              <a:latin typeface="Arial"/>
            </a:endParaRPr>
          </a:p>
        </p:txBody>
      </p:sp>
      <p:sp>
        <p:nvSpPr>
          <p:cNvPr id="142" name="Shape 9"/>
          <p:cNvSpPr/>
          <p:nvPr/>
        </p:nvSpPr>
        <p:spPr>
          <a:xfrm>
            <a:off x="4662000" y="5074920"/>
            <a:ext cx="1325160" cy="438480"/>
          </a:xfrm>
          <a:prstGeom prst="roundRect">
            <a:avLst>
              <a:gd name="adj" fmla="val 25000"/>
            </a:avLst>
          </a:prstGeom>
          <a:solidFill>
            <a:srgbClr val="0EA5A8"/>
          </a:solidFill>
          <a:ln w="12700">
            <a:solidFill>
              <a:srgbClr val="0EA5A8">
                <a:alpha val="0"/>
              </a:srgbClr>
            </a:solidFill>
            <a:round/>
          </a:ln>
          <a:effectLst>
            <a:outerShdw algn="bl" blurRad="12600" dir="2700000" dist="9673" kx="0" ky="0" rotWithShape="0" sx="100000" sy="100000">
              <a:srgbClr val="6B7280">
                <a:alpha val="1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43" name="Text 10"/>
          <p:cNvSpPr/>
          <p:nvPr/>
        </p:nvSpPr>
        <p:spPr>
          <a:xfrm>
            <a:off x="4771800" y="5193720"/>
            <a:ext cx="1105560" cy="1825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FFFFFF"/>
                </a:solidFill>
                <a:effectLst/>
                <a:uFillTx/>
                <a:latin typeface="Aptos"/>
              </a:rPr>
              <a:t>Métricas</a:t>
            </a:r>
            <a:endParaRPr lang="en-US" sz="1100" b="0" u="none" strike="noStrike">
              <a:solidFill>
                <a:srgbClr val="FFFFFF"/>
              </a:solidFill>
              <a:effectLst/>
              <a:uFillTx/>
              <a:latin typeface="Arial"/>
            </a:endParaRPr>
          </a:p>
        </p:txBody>
      </p:sp>
      <p:sp>
        <p:nvSpPr>
          <p:cNvPr id="144" name="Text 11"/>
          <p:cNvSpPr/>
          <p:nvPr/>
        </p:nvSpPr>
        <p:spPr>
          <a:xfrm>
            <a:off x="6993360" y="4709160"/>
            <a:ext cx="4570560" cy="502560"/>
          </a:xfrm>
          <a:prstGeom prst="rect">
            <a:avLst/>
          </a:prstGeom>
          <a:noFill/>
          <a:ln w="0">
            <a:noFill/>
          </a:ln>
        </p:spPr>
        <p:style>
          <a:lnRef idx="0"/>
          <a:fillRef idx="0"/>
          <a:effectRef idx="0"/>
          <a:fontRef idx="minor"/>
        </p:style>
        <p:txBody>
          <a:bodyPr lIns="0" tIns="0" rIns="0" bIns="0" anchor="ctr">
            <a:normAutofit lnSpcReduction="9999"/>
          </a:bodyPr>
          <a:p>
            <a:pPr algn="ctr" defTabSz="914400">
              <a:lnSpc>
                <a:spcPct val="100000"/>
              </a:lnSpc>
              <a:tabLst>
                <a:tab pos="0" algn="l"/>
              </a:tabLst>
            </a:pPr>
            <a:r>
              <a:rPr lang="en-US" sz="1800" b="1" u="none" strike="noStrike">
                <a:solidFill>
                  <a:srgbClr val="FFFFFF"/>
                </a:solidFill>
                <a:effectLst/>
                <a:uFillTx/>
                <a:latin typeface="Aptos"/>
              </a:rPr>
              <a:t>De la operación diaria a información útil para la dirección.</a:t>
            </a:r>
            <a:endParaRPr lang="en-US" sz="1800" b="0" u="none" strike="noStrike">
              <a:solidFill>
                <a:srgbClr val="FFFFFF"/>
              </a:solidFill>
              <a:effectLst/>
              <a:uFillTx/>
              <a:latin typeface="Arial"/>
            </a:endParaRPr>
          </a:p>
        </p:txBody>
      </p:sp>
      <p:sp>
        <p:nvSpPr>
          <p:cNvPr id="145" name="Text 12"/>
          <p:cNvSpPr/>
          <p:nvPr/>
        </p:nvSpPr>
        <p:spPr>
          <a:xfrm>
            <a:off x="7130520" y="5349240"/>
            <a:ext cx="4296240" cy="273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0" u="none" strike="noStrike">
                <a:solidFill>
                  <a:srgbClr val="D7F4FF"/>
                </a:solidFill>
                <a:effectLst/>
                <a:uFillTx/>
                <a:latin typeface="Aptos"/>
              </a:rPr>
              <a:t>Control, evidencia y mejora continua.</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6" name="Text 0"/>
          <p:cNvSpPr/>
          <p:nvPr/>
        </p:nvSpPr>
        <p:spPr>
          <a:xfrm>
            <a:off x="667080" y="201240"/>
            <a:ext cx="1087848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1" u="none" strike="noStrike">
                <a:solidFill>
                  <a:srgbClr val="0EA5A8"/>
                </a:solidFill>
                <a:effectLst/>
                <a:uFillTx/>
                <a:latin typeface="Aptos"/>
                <a:ea typeface="Aptos"/>
              </a:rPr>
              <a:t>PRÓXIMOS PASOS</a:t>
            </a:r>
            <a:endParaRPr lang="en-US" sz="900" b="0" u="none" strike="noStrike">
              <a:solidFill>
                <a:srgbClr val="000000"/>
              </a:solidFill>
              <a:effectLst/>
              <a:uFillTx/>
              <a:latin typeface="Arial"/>
            </a:endParaRPr>
          </a:p>
        </p:txBody>
      </p:sp>
      <p:sp>
        <p:nvSpPr>
          <p:cNvPr id="147" name="Text 1"/>
          <p:cNvSpPr/>
          <p:nvPr/>
        </p:nvSpPr>
        <p:spPr>
          <a:xfrm>
            <a:off x="639720" y="530280"/>
            <a:ext cx="10878480" cy="502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0B1F3A"/>
                </a:solidFill>
                <a:effectLst/>
                <a:uFillTx/>
                <a:latin typeface="Aptos Display"/>
                <a:ea typeface="Aptos Display"/>
              </a:rPr>
              <a:t>Cómo iniciaremos el proyecto</a:t>
            </a:r>
            <a:endParaRPr lang="en-US" sz="3000" b="0" u="none" strike="noStrike">
              <a:solidFill>
                <a:srgbClr val="000000"/>
              </a:solidFill>
              <a:effectLst/>
              <a:uFillTx/>
              <a:latin typeface="Arial"/>
            </a:endParaRPr>
          </a:p>
        </p:txBody>
      </p:sp>
      <p:sp>
        <p:nvSpPr>
          <p:cNvPr id="148" name="Text 2"/>
          <p:cNvSpPr/>
          <p:nvPr/>
        </p:nvSpPr>
        <p:spPr>
          <a:xfrm>
            <a:off x="685440" y="1143000"/>
            <a:ext cx="10695600" cy="47520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1800" b="0" u="none" strike="noStrike">
                <a:solidFill>
                  <a:srgbClr val="172033"/>
                </a:solidFill>
                <a:effectLst/>
                <a:uFillTx/>
                <a:latin typeface="Aptos"/>
              </a:rPr>
              <a:t>Empezaremos con una etapa breve de descubrimiento para entender el proceso actual, los usuarios clave y las expectativas de cada área.</a:t>
            </a:r>
            <a:endParaRPr lang="en-US" sz="1800" b="0" u="none" strike="noStrike">
              <a:solidFill>
                <a:srgbClr val="000000"/>
              </a:solidFill>
              <a:effectLst/>
              <a:uFillTx/>
              <a:latin typeface="Arial"/>
            </a:endParaRPr>
          </a:p>
        </p:txBody>
      </p:sp>
      <p:sp>
        <p:nvSpPr>
          <p:cNvPr id="149" name="Shape 3"/>
          <p:cNvSpPr/>
          <p:nvPr/>
        </p:nvSpPr>
        <p:spPr>
          <a:xfrm>
            <a:off x="959760" y="2788920"/>
            <a:ext cx="2148120" cy="1234080"/>
          </a:xfrm>
          <a:prstGeom prst="chevron">
            <a:avLst>
              <a:gd name="adj" fmla="val 50000"/>
            </a:avLst>
          </a:prstGeom>
          <a:solidFill>
            <a:srgbClr val="0E5F9F"/>
          </a:solidFill>
          <a:ln w="12700">
            <a:solidFill>
              <a:srgbClr val="FFFFFF"/>
            </a:solidFill>
            <a:round/>
          </a:ln>
          <a:effectLst>
            <a:outerShdw algn="bl" blurRad="12600" dir="2700000" dist="7127" kx="0" ky="0" rotWithShape="0" sx="100000" sy="100000">
              <a:srgbClr val="64748B">
                <a:alpha val="14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50" name="Text 4"/>
          <p:cNvSpPr/>
          <p:nvPr/>
        </p:nvSpPr>
        <p:spPr>
          <a:xfrm>
            <a:off x="1032840" y="2871360"/>
            <a:ext cx="319680" cy="1825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1" u="none" strike="noStrike">
                <a:solidFill>
                  <a:srgbClr val="FFFFFF"/>
                </a:solidFill>
                <a:effectLst/>
                <a:uFillTx/>
                <a:latin typeface="Aptos"/>
              </a:rPr>
              <a:t>1</a:t>
            </a:r>
            <a:endParaRPr lang="en-US" sz="900" b="0" u="none" strike="noStrike">
              <a:solidFill>
                <a:srgbClr val="000000"/>
              </a:solidFill>
              <a:effectLst/>
              <a:uFillTx/>
              <a:latin typeface="Arial"/>
            </a:endParaRPr>
          </a:p>
        </p:txBody>
      </p:sp>
      <p:sp>
        <p:nvSpPr>
          <p:cNvPr id="151" name="Text 5"/>
          <p:cNvSpPr/>
          <p:nvPr/>
        </p:nvSpPr>
        <p:spPr>
          <a:xfrm>
            <a:off x="1252440" y="3145680"/>
            <a:ext cx="1370880" cy="2282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Aptos"/>
              </a:rPr>
              <a:t>Discovery</a:t>
            </a:r>
            <a:endParaRPr lang="en-US" sz="1400" b="0" u="none" strike="noStrike">
              <a:solidFill>
                <a:srgbClr val="000000"/>
              </a:solidFill>
              <a:effectLst/>
              <a:uFillTx/>
              <a:latin typeface="Arial"/>
            </a:endParaRPr>
          </a:p>
        </p:txBody>
      </p:sp>
      <p:sp>
        <p:nvSpPr>
          <p:cNvPr id="152" name="Text 6"/>
          <p:cNvSpPr/>
          <p:nvPr/>
        </p:nvSpPr>
        <p:spPr>
          <a:xfrm>
            <a:off x="1252440" y="3474720"/>
            <a:ext cx="1370880" cy="29232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880" b="0" u="none" strike="noStrike">
                <a:solidFill>
                  <a:srgbClr val="F4FBFF"/>
                </a:solidFill>
                <a:effectLst/>
                <a:uFillTx/>
                <a:latin typeface="Aptos"/>
              </a:rPr>
              <a:t>Entrevistas iniciales y mapa de stakeholders.</a:t>
            </a:r>
            <a:endParaRPr lang="en-US" sz="880" b="0" u="none" strike="noStrike">
              <a:solidFill>
                <a:srgbClr val="000000"/>
              </a:solidFill>
              <a:effectLst/>
              <a:uFillTx/>
              <a:latin typeface="Arial"/>
            </a:endParaRPr>
          </a:p>
        </p:txBody>
      </p:sp>
      <p:sp>
        <p:nvSpPr>
          <p:cNvPr id="153" name="Shape 7"/>
          <p:cNvSpPr/>
          <p:nvPr/>
        </p:nvSpPr>
        <p:spPr>
          <a:xfrm>
            <a:off x="3747960" y="2788920"/>
            <a:ext cx="2148120" cy="1234080"/>
          </a:xfrm>
          <a:prstGeom prst="chevron">
            <a:avLst>
              <a:gd name="adj" fmla="val 50000"/>
            </a:avLst>
          </a:prstGeom>
          <a:solidFill>
            <a:srgbClr val="0EA5A8"/>
          </a:solidFill>
          <a:ln w="12700">
            <a:solidFill>
              <a:srgbClr val="FFFFFF"/>
            </a:solidFill>
            <a:round/>
          </a:ln>
          <a:effectLst>
            <a:outerShdw algn="bl" blurRad="12600" dir="2700000" dist="7127" kx="0" ky="0" rotWithShape="0" sx="100000" sy="100000">
              <a:srgbClr val="64748B">
                <a:alpha val="14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54" name="Text 8"/>
          <p:cNvSpPr/>
          <p:nvPr/>
        </p:nvSpPr>
        <p:spPr>
          <a:xfrm>
            <a:off x="3821040" y="2871360"/>
            <a:ext cx="319680" cy="1825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1" u="none" strike="noStrike">
                <a:solidFill>
                  <a:srgbClr val="FFFFFF"/>
                </a:solidFill>
                <a:effectLst/>
                <a:uFillTx/>
                <a:latin typeface="Aptos"/>
              </a:rPr>
              <a:t>2</a:t>
            </a:r>
            <a:endParaRPr lang="en-US" sz="900" b="0" u="none" strike="noStrike">
              <a:solidFill>
                <a:srgbClr val="000000"/>
              </a:solidFill>
              <a:effectLst/>
              <a:uFillTx/>
              <a:latin typeface="Arial"/>
            </a:endParaRPr>
          </a:p>
        </p:txBody>
      </p:sp>
      <p:sp>
        <p:nvSpPr>
          <p:cNvPr id="155" name="Text 9"/>
          <p:cNvSpPr/>
          <p:nvPr/>
        </p:nvSpPr>
        <p:spPr>
          <a:xfrm>
            <a:off x="4040640" y="3145680"/>
            <a:ext cx="1370880" cy="2282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Aptos"/>
              </a:rPr>
              <a:t>Proceso AS-IS</a:t>
            </a:r>
            <a:endParaRPr lang="en-US" sz="1400" b="0" u="none" strike="noStrike">
              <a:solidFill>
                <a:srgbClr val="000000"/>
              </a:solidFill>
              <a:effectLst/>
              <a:uFillTx/>
              <a:latin typeface="Arial"/>
            </a:endParaRPr>
          </a:p>
        </p:txBody>
      </p:sp>
      <p:sp>
        <p:nvSpPr>
          <p:cNvPr id="156" name="Text 10"/>
          <p:cNvSpPr/>
          <p:nvPr/>
        </p:nvSpPr>
        <p:spPr>
          <a:xfrm>
            <a:off x="4040640" y="3474720"/>
            <a:ext cx="1370880" cy="29232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880" b="0" u="none" strike="noStrike">
                <a:solidFill>
                  <a:srgbClr val="F4FBFF"/>
                </a:solidFill>
                <a:effectLst/>
                <a:uFillTx/>
                <a:latin typeface="Aptos"/>
              </a:rPr>
              <a:t>Documentar cómo se atiende hoy el soporte.</a:t>
            </a:r>
            <a:endParaRPr lang="en-US" sz="880" b="0" u="none" strike="noStrike">
              <a:solidFill>
                <a:srgbClr val="000000"/>
              </a:solidFill>
              <a:effectLst/>
              <a:uFillTx/>
              <a:latin typeface="Arial"/>
            </a:endParaRPr>
          </a:p>
        </p:txBody>
      </p:sp>
      <p:sp>
        <p:nvSpPr>
          <p:cNvPr id="157" name="Shape 11"/>
          <p:cNvSpPr/>
          <p:nvPr/>
        </p:nvSpPr>
        <p:spPr>
          <a:xfrm>
            <a:off x="6536160" y="2788920"/>
            <a:ext cx="2148120" cy="1234080"/>
          </a:xfrm>
          <a:prstGeom prst="chevron">
            <a:avLst>
              <a:gd name="adj" fmla="val 50000"/>
            </a:avLst>
          </a:prstGeom>
          <a:solidFill>
            <a:srgbClr val="D9A441"/>
          </a:solidFill>
          <a:ln w="12700">
            <a:solidFill>
              <a:srgbClr val="FFFFFF"/>
            </a:solidFill>
            <a:round/>
          </a:ln>
          <a:effectLst>
            <a:outerShdw algn="bl" blurRad="12600" dir="2700000" dist="7127" kx="0" ky="0" rotWithShape="0" sx="100000" sy="100000">
              <a:srgbClr val="64748B">
                <a:alpha val="14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58" name="Text 12"/>
          <p:cNvSpPr/>
          <p:nvPr/>
        </p:nvSpPr>
        <p:spPr>
          <a:xfrm>
            <a:off x="6609240" y="2871360"/>
            <a:ext cx="319680" cy="1825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1" u="none" strike="noStrike">
                <a:solidFill>
                  <a:srgbClr val="FFFFFF"/>
                </a:solidFill>
                <a:effectLst/>
                <a:uFillTx/>
                <a:latin typeface="Aptos"/>
              </a:rPr>
              <a:t>3</a:t>
            </a:r>
            <a:endParaRPr lang="en-US" sz="900" b="0" u="none" strike="noStrike">
              <a:solidFill>
                <a:srgbClr val="000000"/>
              </a:solidFill>
              <a:effectLst/>
              <a:uFillTx/>
              <a:latin typeface="Arial"/>
            </a:endParaRPr>
          </a:p>
        </p:txBody>
      </p:sp>
      <p:sp>
        <p:nvSpPr>
          <p:cNvPr id="159" name="Text 13"/>
          <p:cNvSpPr/>
          <p:nvPr/>
        </p:nvSpPr>
        <p:spPr>
          <a:xfrm>
            <a:off x="6828840" y="3145680"/>
            <a:ext cx="1370880" cy="2282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Aptos"/>
              </a:rPr>
              <a:t>Requerimientos</a:t>
            </a:r>
            <a:endParaRPr lang="en-US" sz="1400" b="0" u="none" strike="noStrike">
              <a:solidFill>
                <a:srgbClr val="000000"/>
              </a:solidFill>
              <a:effectLst/>
              <a:uFillTx/>
              <a:latin typeface="Arial"/>
            </a:endParaRPr>
          </a:p>
        </p:txBody>
      </p:sp>
      <p:sp>
        <p:nvSpPr>
          <p:cNvPr id="160" name="Text 14"/>
          <p:cNvSpPr/>
          <p:nvPr/>
        </p:nvSpPr>
        <p:spPr>
          <a:xfrm>
            <a:off x="6828840" y="3474720"/>
            <a:ext cx="1370880" cy="29232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880" b="0" u="none" strike="noStrike">
                <a:solidFill>
                  <a:srgbClr val="F4FBFF"/>
                </a:solidFill>
                <a:effectLst/>
                <a:uFillTx/>
                <a:latin typeface="Aptos"/>
              </a:rPr>
              <a:t>Registrar necesidades, reglas y prioridades.</a:t>
            </a:r>
            <a:endParaRPr lang="en-US" sz="880" b="0" u="none" strike="noStrike">
              <a:solidFill>
                <a:srgbClr val="000000"/>
              </a:solidFill>
              <a:effectLst/>
              <a:uFillTx/>
              <a:latin typeface="Arial"/>
            </a:endParaRPr>
          </a:p>
        </p:txBody>
      </p:sp>
      <p:sp>
        <p:nvSpPr>
          <p:cNvPr id="161" name="Shape 15"/>
          <p:cNvSpPr/>
          <p:nvPr/>
        </p:nvSpPr>
        <p:spPr>
          <a:xfrm>
            <a:off x="9324360" y="2788920"/>
            <a:ext cx="2148120" cy="1234080"/>
          </a:xfrm>
          <a:prstGeom prst="chevron">
            <a:avLst>
              <a:gd name="adj" fmla="val 50000"/>
            </a:avLst>
          </a:prstGeom>
          <a:solidFill>
            <a:srgbClr val="0B1F3A"/>
          </a:solidFill>
          <a:ln w="12700">
            <a:solidFill>
              <a:srgbClr val="FFFFFF"/>
            </a:solidFill>
            <a:round/>
          </a:ln>
          <a:effectLst>
            <a:outerShdw algn="bl" blurRad="12600" dir="2700000" dist="7127" kx="0" ky="0" rotWithShape="0" sx="100000" sy="100000">
              <a:srgbClr val="64748B">
                <a:alpha val="14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62" name="Text 16"/>
          <p:cNvSpPr/>
          <p:nvPr/>
        </p:nvSpPr>
        <p:spPr>
          <a:xfrm>
            <a:off x="9397440" y="2871360"/>
            <a:ext cx="319680" cy="1825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1" u="none" strike="noStrike">
                <a:solidFill>
                  <a:srgbClr val="FFFFFF"/>
                </a:solidFill>
                <a:effectLst/>
                <a:uFillTx/>
                <a:latin typeface="Aptos"/>
              </a:rPr>
              <a:t>4</a:t>
            </a:r>
            <a:endParaRPr lang="en-US" sz="900" b="0" u="none" strike="noStrike">
              <a:solidFill>
                <a:srgbClr val="000000"/>
              </a:solidFill>
              <a:effectLst/>
              <a:uFillTx/>
              <a:latin typeface="Arial"/>
            </a:endParaRPr>
          </a:p>
        </p:txBody>
      </p:sp>
      <p:sp>
        <p:nvSpPr>
          <p:cNvPr id="163" name="Text 17"/>
          <p:cNvSpPr/>
          <p:nvPr/>
        </p:nvSpPr>
        <p:spPr>
          <a:xfrm>
            <a:off x="9617040" y="3145680"/>
            <a:ext cx="1370880" cy="2282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Aptos"/>
              </a:rPr>
              <a:t>MVP</a:t>
            </a:r>
            <a:endParaRPr lang="en-US" sz="1400" b="0" u="none" strike="noStrike">
              <a:solidFill>
                <a:srgbClr val="000000"/>
              </a:solidFill>
              <a:effectLst/>
              <a:uFillTx/>
              <a:latin typeface="Arial"/>
            </a:endParaRPr>
          </a:p>
        </p:txBody>
      </p:sp>
      <p:sp>
        <p:nvSpPr>
          <p:cNvPr id="164" name="Text 18"/>
          <p:cNvSpPr/>
          <p:nvPr/>
        </p:nvSpPr>
        <p:spPr>
          <a:xfrm>
            <a:off x="9617040" y="3474720"/>
            <a:ext cx="1370880" cy="29232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880" b="0" u="none" strike="noStrike">
                <a:solidFill>
                  <a:srgbClr val="F4FBFF"/>
                </a:solidFill>
                <a:effectLst/>
                <a:uFillTx/>
                <a:latin typeface="Aptos"/>
              </a:rPr>
              <a:t>Definir el primer alcance entregable.</a:t>
            </a:r>
            <a:endParaRPr lang="en-US" sz="880" b="0" u="none" strike="noStrike">
              <a:solidFill>
                <a:srgbClr val="000000"/>
              </a:solidFill>
              <a:effectLst/>
              <a:uFillTx/>
              <a:latin typeface="Arial"/>
            </a:endParaRPr>
          </a:p>
        </p:txBody>
      </p:sp>
      <p:sp>
        <p:nvSpPr>
          <p:cNvPr id="165" name="Shape 19"/>
          <p:cNvSpPr/>
          <p:nvPr/>
        </p:nvSpPr>
        <p:spPr>
          <a:xfrm>
            <a:off x="2102400" y="4983480"/>
            <a:ext cx="7953120" cy="685440"/>
          </a:xfrm>
          <a:prstGeom prst="roundRect">
            <a:avLst>
              <a:gd name="adj" fmla="val 13333"/>
            </a:avLst>
          </a:prstGeom>
          <a:solidFill>
            <a:srgbClr val="EEF7FB"/>
          </a:solidFill>
          <a:ln w="12700">
            <a:solidFill>
              <a:srgbClr val="D9E6EE"/>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66" name="Text 20"/>
          <p:cNvSpPr/>
          <p:nvPr/>
        </p:nvSpPr>
        <p:spPr>
          <a:xfrm>
            <a:off x="2422440" y="5193720"/>
            <a:ext cx="7313040" cy="255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50" b="1" u="none" strike="noStrike">
                <a:solidFill>
                  <a:srgbClr val="0B1F3A"/>
                </a:solidFill>
                <a:effectLst/>
                <a:uFillTx/>
                <a:latin typeface="Aptos"/>
              </a:rPr>
              <a:t>Resultado esperado del kick-off: alinear propósito, participantes y forma de trabajo.</a:t>
            </a:r>
            <a:endParaRPr lang="en-US" sz="1550" b="0" u="none" strike="noStrike">
              <a:solidFill>
                <a:srgbClr val="000000"/>
              </a:solidFill>
              <a:effectLst/>
              <a:uFillTx/>
              <a:latin typeface="Arial"/>
            </a:endParaRPr>
          </a:p>
        </p:txBody>
      </p:sp>
      <p:sp>
        <p:nvSpPr>
          <p:cNvPr id="167" name="Shape 21"/>
          <p:cNvSpPr/>
          <p:nvPr/>
        </p:nvSpPr>
        <p:spPr>
          <a:xfrm>
            <a:off x="639720" y="6510240"/>
            <a:ext cx="10878840" cy="360"/>
          </a:xfrm>
          <a:prstGeom prst="line">
            <a:avLst/>
          </a:prstGeom>
          <a:ln w="6350">
            <a:solidFill>
              <a:srgbClr val="D9E3EA"/>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168" name="Text 22"/>
          <p:cNvSpPr/>
          <p:nvPr/>
        </p:nvSpPr>
        <p:spPr>
          <a:xfrm>
            <a:off x="639720" y="6583680"/>
            <a:ext cx="365652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0" u="none" strike="noStrike">
                <a:solidFill>
                  <a:srgbClr val="65758B"/>
                </a:solidFill>
                <a:effectLst/>
                <a:uFillTx/>
                <a:latin typeface="Aptos"/>
              </a:rPr>
              <a:t>ServiceDesk Kick-off</a:t>
            </a:r>
            <a:endParaRPr lang="en-US" sz="800" b="0" u="none" strike="noStrike">
              <a:solidFill>
                <a:srgbClr val="000000"/>
              </a:solidFill>
              <a:effectLst/>
              <a:uFillTx/>
              <a:latin typeface="Arial"/>
            </a:endParaRPr>
          </a:p>
        </p:txBody>
      </p:sp>
      <p:sp>
        <p:nvSpPr>
          <p:cNvPr id="169" name="Text 23"/>
          <p:cNvSpPr/>
          <p:nvPr/>
        </p:nvSpPr>
        <p:spPr>
          <a:xfrm>
            <a:off x="10969920" y="6565320"/>
            <a:ext cx="548280" cy="1825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00" b="0" u="none" strike="noStrike">
                <a:solidFill>
                  <a:srgbClr val="65758B"/>
                </a:solidFill>
                <a:effectLst/>
                <a:uFillTx/>
                <a:latin typeface="Aptos"/>
              </a:rPr>
              <a:t>07</a:t>
            </a:r>
            <a:endParaRPr lang="en-US" sz="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A6099"/>
        </a:solidFill>
      </p:bgPr>
    </p:bg>
    <p:spTree>
      <p:nvGrpSpPr>
        <p:cNvPr id="1" name=""/>
        <p:cNvGrpSpPr/>
        <p:nvPr/>
      </p:nvGrpSpPr>
      <p:grpSpPr>
        <a:xfrm>
          <a:off x="0" y="0"/>
          <a:ext cx="0" cy="0"/>
          <a:chOff x="0" y="0"/>
          <a:chExt cx="0" cy="0"/>
        </a:xfrm>
      </p:grpSpPr>
      <p:sp>
        <p:nvSpPr>
          <p:cNvPr id="170" name="Shape 32"/>
          <p:cNvSpPr/>
          <p:nvPr/>
        </p:nvSpPr>
        <p:spPr>
          <a:xfrm>
            <a:off x="639720" y="6510240"/>
            <a:ext cx="10878840" cy="360"/>
          </a:xfrm>
          <a:prstGeom prst="line">
            <a:avLst/>
          </a:prstGeom>
          <a:ln w="6350">
            <a:solidFill>
              <a:srgbClr val="D9E3EA"/>
            </a:solidFill>
            <a:round/>
          </a:ln>
        </p:spPr>
        <p:style>
          <a:lnRef idx="0"/>
          <a:fillRef idx="0"/>
          <a:effectRef idx="0"/>
          <a:fontRef idx="minor"/>
        </p:style>
        <p:txBody>
          <a:bodyPr lIns="90000" tIns="-44640" rIns="90000" bIns="-44640" anchor="t" anchorCtr="1">
            <a:noAutofit/>
          </a:bodyPr>
          <a:p>
            <a:endParaRPr lang="en-US" sz="1800" b="0" u="none" strike="noStrike">
              <a:solidFill>
                <a:srgbClr val="FFFFFF"/>
              </a:solidFill>
              <a:effectLst/>
              <a:uFillTx/>
              <a:latin typeface="Arial"/>
            </a:endParaRPr>
          </a:p>
        </p:txBody>
      </p:sp>
      <p:sp>
        <p:nvSpPr>
          <p:cNvPr id="171" name="Text 56"/>
          <p:cNvSpPr/>
          <p:nvPr/>
        </p:nvSpPr>
        <p:spPr>
          <a:xfrm>
            <a:off x="639720" y="6583680"/>
            <a:ext cx="365652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0" u="none" strike="noStrike">
                <a:solidFill>
                  <a:srgbClr val="65758B"/>
                </a:solidFill>
                <a:effectLst/>
                <a:uFillTx/>
                <a:latin typeface="Aptos"/>
              </a:rPr>
              <a:t>ServiceDesk Kick-off</a:t>
            </a:r>
            <a:endParaRPr lang="en-US" sz="800" b="0" u="none" strike="noStrike">
              <a:solidFill>
                <a:srgbClr val="FFFFFF"/>
              </a:solidFill>
              <a:effectLst/>
              <a:uFillTx/>
              <a:latin typeface="Arial"/>
            </a:endParaRPr>
          </a:p>
        </p:txBody>
      </p:sp>
      <p:sp>
        <p:nvSpPr>
          <p:cNvPr id="172" name="Text 57"/>
          <p:cNvSpPr/>
          <p:nvPr/>
        </p:nvSpPr>
        <p:spPr>
          <a:xfrm>
            <a:off x="10969920" y="6565320"/>
            <a:ext cx="548280" cy="1825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00" b="0" u="none" strike="noStrike">
                <a:solidFill>
                  <a:srgbClr val="65758B"/>
                </a:solidFill>
                <a:effectLst/>
                <a:uFillTx/>
                <a:latin typeface="Aptos"/>
              </a:rPr>
              <a:t>07</a:t>
            </a:r>
            <a:endParaRPr lang="en-US" sz="800" b="0" u="none" strike="noStrike">
              <a:solidFill>
                <a:srgbClr val="FFFFFF"/>
              </a:solidFill>
              <a:effectLst/>
              <a:uFillTx/>
              <a:latin typeface="Arial"/>
            </a:endParaRPr>
          </a:p>
        </p:txBody>
      </p:sp>
      <p:graphicFrame>
        <p:nvGraphicFramePr>
          <p:cNvPr id="173" name=""/>
          <p:cNvGraphicFramePr/>
          <p:nvPr/>
        </p:nvGraphicFramePr>
        <p:xfrm>
          <a:off x="2978640" y="1185480"/>
          <a:ext cx="6297480" cy="4299840"/>
        </p:xfrm>
        <a:graphic>
          <a:graphicData uri="http://schemas.openxmlformats.org/drawingml/2006/table">
            <a:tbl>
              <a:tblPr/>
              <a:tblGrid>
                <a:gridCol w="2098800"/>
                <a:gridCol w="2098800"/>
                <a:gridCol w="2099880"/>
              </a:tblGrid>
              <a:tr h="650160">
                <a:tc>
                  <a:txBody>
                    <a:bodyPr lIns="36000" tIns="36000" rIns="36000" bIns="36000" anchor="t">
                      <a:noAutofit/>
                    </a:bodyPr>
                    <a:p>
                      <a:r>
                        <a:rPr lang="en-US" sz="1800" b="0" u="none" strike="noStrike">
                          <a:solidFill>
                            <a:srgbClr val="FFFFFF"/>
                          </a:solidFill>
                          <a:effectLst/>
                          <a:uFillTx/>
                          <a:latin typeface="Arial"/>
                        </a:rPr>
                        <a:t>Stakeholder</a:t>
                      </a:r>
                      <a:endParaRPr lang="en-US" sz="1800" b="0" u="none" strike="noStrike">
                        <a:solidFill>
                          <a:srgbClr val="FFFFFF"/>
                        </a:solidFill>
                        <a:effectLst/>
                        <a:uFillTx/>
                        <a:latin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D62E4E"/>
                    </a:solidFill>
                  </a:tcPr>
                </a:tc>
                <a:tc>
                  <a:txBody>
                    <a:bodyPr lIns="36000" tIns="36000" rIns="36000" bIns="36000" anchor="t">
                      <a:noAutofit/>
                    </a:bodyPr>
                    <a:p>
                      <a:r>
                        <a:rPr lang="en-US" sz="1800" b="0" u="none" strike="noStrike">
                          <a:solidFill>
                            <a:srgbClr val="FFFFFF"/>
                          </a:solidFill>
                          <a:effectLst/>
                          <a:uFillTx/>
                          <a:latin typeface="Arial"/>
                        </a:rPr>
                        <a:t>Relación con el sistema</a:t>
                      </a:r>
                      <a:endParaRPr lang="en-US" sz="1800" b="0" u="none" strike="noStrike">
                        <a:solidFill>
                          <a:srgbClr val="FFFFFF"/>
                        </a:solidFill>
                        <a:effectLst/>
                        <a:uFillTx/>
                        <a:latin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D62E4E"/>
                    </a:solidFill>
                  </a:tcPr>
                </a:tc>
                <a:tc>
                  <a:txBody>
                    <a:bodyPr lIns="36000" tIns="36000" rIns="36000" bIns="36000" anchor="t">
                      <a:noAutofit/>
                    </a:bodyPr>
                    <a:p>
                      <a:r>
                        <a:rPr lang="en-US" sz="1800" b="0" u="none" strike="noStrike">
                          <a:solidFill>
                            <a:srgbClr val="FFFFFF"/>
                          </a:solidFill>
                          <a:effectLst/>
                          <a:uFillTx/>
                          <a:latin typeface="Arial"/>
                        </a:rPr>
                        <a:t>Qué queremos entender</a:t>
                      </a:r>
                      <a:endParaRPr lang="en-US" sz="1800" b="0" u="none" strike="noStrike">
                        <a:solidFill>
                          <a:srgbClr val="FFFFFF"/>
                        </a:solidFill>
                        <a:effectLst/>
                        <a:uFillTx/>
                        <a:latin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D62E4E"/>
                    </a:solidFill>
                  </a:tcPr>
                </a:tc>
              </a:tr>
              <a:tr h="456120">
                <a:tc>
                  <a:txBody>
                    <a:bodyPr lIns="36000" tIns="36000" rIns="36000" bIns="36000" anchor="t">
                      <a:noAutofit/>
                    </a:bodyPr>
                    <a:p>
                      <a:r>
                        <a:rPr lang="en-US" sz="1800" b="0" u="none" strike="noStrike">
                          <a:solidFill>
                            <a:srgbClr val="000000"/>
                          </a:solidFill>
                          <a:effectLst/>
                          <a:uFillTx/>
                          <a:latin typeface="Arial"/>
                        </a:rPr>
                        <a:t>Sponsor</a:t>
                      </a:r>
                      <a:endParaRPr lang="en-US" sz="1800" b="0" u="none" strike="noStrike">
                        <a:solidFill>
                          <a:srgbClr val="000000"/>
                        </a:solidFill>
                        <a:effectLst/>
                        <a:uFillTx/>
                        <a:latin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EC9BA4"/>
                    </a:solidFill>
                  </a:tcPr>
                </a:tc>
                <a:tc>
                  <a:txBody>
                    <a:bodyPr lIns="36000" tIns="36000" rIns="36000" bIns="36000" anchor="t">
                      <a:noAutofit/>
                    </a:bodyPr>
                    <a:p>
                      <a:r>
                        <a:rPr lang="en-US" sz="1800" b="0" u="none" strike="noStrike">
                          <a:solidFill>
                            <a:srgbClr val="000000"/>
                          </a:solidFill>
                          <a:effectLst/>
                          <a:uFillTx/>
                          <a:latin typeface="Arial"/>
                        </a:rPr>
                        <a:t>Patrocina el proyecto</a:t>
                      </a:r>
                      <a:endParaRPr lang="en-US" sz="1800" b="0" u="none" strike="noStrike">
                        <a:solidFill>
                          <a:srgbClr val="000000"/>
                        </a:solidFill>
                        <a:effectLst/>
                        <a:uFillTx/>
                        <a:latin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EC9BA4"/>
                    </a:solidFill>
                  </a:tcPr>
                </a:tc>
                <a:tc>
                  <a:txBody>
                    <a:bodyPr lIns="36000" tIns="36000" rIns="36000" bIns="36000" anchor="t">
                      <a:noAutofit/>
                    </a:bodyPr>
                    <a:p>
                      <a:r>
                        <a:rPr lang="en-US" sz="1800" b="0" u="none" strike="noStrike">
                          <a:solidFill>
                            <a:srgbClr val="000000"/>
                          </a:solidFill>
                          <a:effectLst/>
                          <a:uFillTx/>
                          <a:latin typeface="Arial"/>
                        </a:rPr>
                        <a:t>Por qué existe</a:t>
                      </a:r>
                      <a:endParaRPr lang="en-US" sz="1800" b="0" u="none" strike="noStrike">
                        <a:solidFill>
                          <a:srgbClr val="000000"/>
                        </a:solidFill>
                        <a:effectLst/>
                        <a:uFillTx/>
                        <a:latin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EC9BA4"/>
                    </a:solidFill>
                  </a:tcPr>
                </a:tc>
              </a:tr>
              <a:tr h="456120">
                <a:tc>
                  <a:txBody>
                    <a:bodyPr lIns="36000" tIns="36000" rIns="36000" bIns="36000" anchor="t">
                      <a:noAutofit/>
                    </a:bodyPr>
                    <a:p>
                      <a:r>
                        <a:rPr lang="en-US" sz="1800" b="0" u="none" strike="noStrike">
                          <a:solidFill>
                            <a:srgbClr val="000000"/>
                          </a:solidFill>
                          <a:effectLst/>
                          <a:uFillTx/>
                          <a:latin typeface="Arial"/>
                        </a:rPr>
                        <a:t>Service Desk Manager</a:t>
                      </a:r>
                      <a:endParaRPr lang="en-US" sz="1800" b="0" u="none" strike="noStrike">
                        <a:solidFill>
                          <a:srgbClr val="000000"/>
                        </a:solidFill>
                        <a:effectLst/>
                        <a:uFillTx/>
                        <a:latin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F7D1D5"/>
                    </a:solidFill>
                  </a:tcPr>
                </a:tc>
                <a:tc>
                  <a:txBody>
                    <a:bodyPr lIns="36000" tIns="36000" rIns="36000" bIns="36000" anchor="t">
                      <a:noAutofit/>
                    </a:bodyPr>
                    <a:p>
                      <a:r>
                        <a:rPr lang="en-US" sz="1800" b="0" u="none" strike="noStrike">
                          <a:solidFill>
                            <a:srgbClr val="000000"/>
                          </a:solidFill>
                          <a:effectLst/>
                          <a:uFillTx/>
                          <a:latin typeface="Arial"/>
                        </a:rPr>
                        <a:t>Responsable del servicio</a:t>
                      </a:r>
                      <a:endParaRPr lang="en-US" sz="1800" b="0" u="none" strike="noStrike">
                        <a:solidFill>
                          <a:srgbClr val="000000"/>
                        </a:solidFill>
                        <a:effectLst/>
                        <a:uFillTx/>
                        <a:latin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F7D1D5"/>
                    </a:solidFill>
                  </a:tcPr>
                </a:tc>
                <a:tc>
                  <a:txBody>
                    <a:bodyPr lIns="36000" tIns="36000" rIns="36000" bIns="36000" anchor="t">
                      <a:noAutofit/>
                    </a:bodyPr>
                    <a:p>
                      <a:r>
                        <a:rPr lang="en-US" sz="1800" b="0" u="none" strike="noStrike">
                          <a:solidFill>
                            <a:srgbClr val="000000"/>
                          </a:solidFill>
                          <a:effectLst/>
                          <a:uFillTx/>
                          <a:latin typeface="Arial"/>
                        </a:rPr>
                        <a:t>Cómo funciona el proceso</a:t>
                      </a:r>
                      <a:endParaRPr lang="en-US" sz="1800" b="0" u="none" strike="noStrike">
                        <a:solidFill>
                          <a:srgbClr val="000000"/>
                        </a:solidFill>
                        <a:effectLst/>
                        <a:uFillTx/>
                        <a:latin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F7D1D5"/>
                    </a:solidFill>
                  </a:tcPr>
                </a:tc>
              </a:tr>
              <a:tr h="456120">
                <a:tc>
                  <a:txBody>
                    <a:bodyPr lIns="36000" tIns="36000" rIns="36000" bIns="36000" anchor="t">
                      <a:noAutofit/>
                    </a:bodyPr>
                    <a:p>
                      <a:r>
                        <a:rPr lang="en-US" sz="1800" b="0" u="none" strike="noStrike">
                          <a:solidFill>
                            <a:srgbClr val="000000"/>
                          </a:solidFill>
                          <a:effectLst/>
                          <a:uFillTx/>
                          <a:latin typeface="Arial"/>
                        </a:rPr>
                        <a:t>Support Agent</a:t>
                      </a:r>
                      <a:endParaRPr lang="en-US" sz="1800" b="0" u="none" strike="noStrike">
                        <a:solidFill>
                          <a:srgbClr val="000000"/>
                        </a:solidFill>
                        <a:effectLst/>
                        <a:uFillTx/>
                        <a:latin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EC9BA4"/>
                    </a:solidFill>
                  </a:tcPr>
                </a:tc>
                <a:tc>
                  <a:txBody>
                    <a:bodyPr lIns="36000" tIns="36000" rIns="36000" bIns="36000" anchor="t">
                      <a:noAutofit/>
                    </a:bodyPr>
                    <a:p>
                      <a:r>
                        <a:rPr lang="en-US" sz="1800" b="0" u="none" strike="noStrike">
                          <a:solidFill>
                            <a:srgbClr val="000000"/>
                          </a:solidFill>
                          <a:effectLst/>
                          <a:uFillTx/>
                          <a:latin typeface="Arial"/>
                        </a:rPr>
                        <a:t>Atiende tickets</a:t>
                      </a:r>
                      <a:endParaRPr lang="en-US" sz="1800" b="0" u="none" strike="noStrike">
                        <a:solidFill>
                          <a:srgbClr val="000000"/>
                        </a:solidFill>
                        <a:effectLst/>
                        <a:uFillTx/>
                        <a:latin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EC9BA4"/>
                    </a:solidFill>
                  </a:tcPr>
                </a:tc>
                <a:tc>
                  <a:txBody>
                    <a:bodyPr lIns="36000" tIns="36000" rIns="36000" bIns="36000" anchor="t">
                      <a:noAutofit/>
                    </a:bodyPr>
                    <a:p>
                      <a:r>
                        <a:rPr lang="en-US" sz="1800" b="0" u="none" strike="noStrike">
                          <a:solidFill>
                            <a:srgbClr val="000000"/>
                          </a:solidFill>
                          <a:effectLst/>
                          <a:uFillTx/>
                          <a:latin typeface="Arial"/>
                        </a:rPr>
                        <a:t>Trabajo operativo real</a:t>
                      </a:r>
                      <a:endParaRPr lang="en-US" sz="1800" b="0" u="none" strike="noStrike">
                        <a:solidFill>
                          <a:srgbClr val="000000"/>
                        </a:solidFill>
                        <a:effectLst/>
                        <a:uFillTx/>
                        <a:latin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EC9BA4"/>
                    </a:solidFill>
                  </a:tcPr>
                </a:tc>
              </a:tr>
              <a:tr h="456120">
                <a:tc>
                  <a:txBody>
                    <a:bodyPr lIns="36000" tIns="36000" rIns="36000" bIns="36000" anchor="t">
                      <a:noAutofit/>
                    </a:bodyPr>
                    <a:p>
                      <a:r>
                        <a:rPr lang="en-US" sz="1800" b="0" u="none" strike="noStrike">
                          <a:solidFill>
                            <a:srgbClr val="000000"/>
                          </a:solidFill>
                          <a:effectLst/>
                          <a:uFillTx/>
                          <a:latin typeface="Arial"/>
                        </a:rPr>
                        <a:t>Employee / Requester</a:t>
                      </a:r>
                      <a:endParaRPr lang="en-US" sz="1800" b="0" u="none" strike="noStrike">
                        <a:solidFill>
                          <a:srgbClr val="000000"/>
                        </a:solidFill>
                        <a:effectLst/>
                        <a:uFillTx/>
                        <a:latin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F7D1D5"/>
                    </a:solidFill>
                  </a:tcPr>
                </a:tc>
                <a:tc>
                  <a:txBody>
                    <a:bodyPr lIns="36000" tIns="36000" rIns="36000" bIns="36000" anchor="t">
                      <a:noAutofit/>
                    </a:bodyPr>
                    <a:p>
                      <a:r>
                        <a:rPr lang="en-US" sz="1800" b="0" u="none" strike="noStrike">
                          <a:solidFill>
                            <a:srgbClr val="000000"/>
                          </a:solidFill>
                          <a:effectLst/>
                          <a:uFillTx/>
                          <a:latin typeface="Arial"/>
                        </a:rPr>
                        <a:t>Solicita soporte</a:t>
                      </a:r>
                      <a:endParaRPr lang="en-US" sz="1800" b="0" u="none" strike="noStrike">
                        <a:solidFill>
                          <a:srgbClr val="000000"/>
                        </a:solidFill>
                        <a:effectLst/>
                        <a:uFillTx/>
                        <a:latin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F7D1D5"/>
                    </a:solidFill>
                  </a:tcPr>
                </a:tc>
                <a:tc>
                  <a:txBody>
                    <a:bodyPr lIns="36000" tIns="36000" rIns="36000" bIns="36000" anchor="t">
                      <a:noAutofit/>
                    </a:bodyPr>
                    <a:p>
                      <a:r>
                        <a:rPr lang="en-US" sz="1800" b="0" u="none" strike="noStrike">
                          <a:solidFill>
                            <a:srgbClr val="000000"/>
                          </a:solidFill>
                          <a:effectLst/>
                          <a:uFillTx/>
                          <a:latin typeface="Arial"/>
                        </a:rPr>
                        <a:t>Experiencia del usuario</a:t>
                      </a:r>
                      <a:endParaRPr lang="en-US" sz="1800" b="0" u="none" strike="noStrike">
                        <a:solidFill>
                          <a:srgbClr val="000000"/>
                        </a:solidFill>
                        <a:effectLst/>
                        <a:uFillTx/>
                        <a:latin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F7D1D5"/>
                    </a:solidFill>
                  </a:tcPr>
                </a:tc>
              </a:tr>
              <a:tr h="456120">
                <a:tc>
                  <a:txBody>
                    <a:bodyPr lIns="36000" tIns="36000" rIns="36000" bIns="36000" anchor="t">
                      <a:noAutofit/>
                    </a:bodyPr>
                    <a:p>
                      <a:r>
                        <a:rPr lang="en-US" sz="1800" b="0" u="none" strike="noStrike">
                          <a:solidFill>
                            <a:srgbClr val="000000"/>
                          </a:solidFill>
                          <a:effectLst/>
                          <a:uFillTx/>
                          <a:latin typeface="Arial"/>
                        </a:rPr>
                        <a:t>Team Lead</a:t>
                      </a:r>
                      <a:endParaRPr lang="en-US" sz="1800" b="0" u="none" strike="noStrike">
                        <a:solidFill>
                          <a:srgbClr val="000000"/>
                        </a:solidFill>
                        <a:effectLst/>
                        <a:uFillTx/>
                        <a:latin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EC9BA4"/>
                    </a:solidFill>
                  </a:tcPr>
                </a:tc>
                <a:tc>
                  <a:txBody>
                    <a:bodyPr lIns="36000" tIns="36000" rIns="36000" bIns="36000" anchor="t">
                      <a:noAutofit/>
                    </a:bodyPr>
                    <a:p>
                      <a:r>
                        <a:rPr lang="en-US" sz="1800" b="0" u="none" strike="noStrike">
                          <a:solidFill>
                            <a:srgbClr val="000000"/>
                          </a:solidFill>
                          <a:effectLst/>
                          <a:uFillTx/>
                          <a:latin typeface="Arial"/>
                        </a:rPr>
                        <a:t>Supervisa agentes</a:t>
                      </a:r>
                      <a:endParaRPr lang="en-US" sz="1800" b="0" u="none" strike="noStrike">
                        <a:solidFill>
                          <a:srgbClr val="000000"/>
                        </a:solidFill>
                        <a:effectLst/>
                        <a:uFillTx/>
                        <a:latin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EC9BA4"/>
                    </a:solidFill>
                  </a:tcPr>
                </a:tc>
                <a:tc>
                  <a:txBody>
                    <a:bodyPr lIns="36000" tIns="36000" rIns="36000" bIns="36000" anchor="t">
                      <a:noAutofit/>
                    </a:bodyPr>
                    <a:p>
                      <a:r>
                        <a:rPr lang="en-US" sz="1800" b="0" u="none" strike="noStrike">
                          <a:solidFill>
                            <a:srgbClr val="000000"/>
                          </a:solidFill>
                          <a:effectLst/>
                          <a:uFillTx/>
                          <a:latin typeface="Arial"/>
                        </a:rPr>
                        <a:t>Asignaciones y escalaciones</a:t>
                      </a:r>
                      <a:endParaRPr lang="en-US" sz="1800" b="0" u="none" strike="noStrike">
                        <a:solidFill>
                          <a:srgbClr val="000000"/>
                        </a:solidFill>
                        <a:effectLst/>
                        <a:uFillTx/>
                        <a:latin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EC9BA4"/>
                    </a:solidFill>
                  </a:tcPr>
                </a:tc>
              </a:tr>
              <a:tr h="456120">
                <a:tc>
                  <a:txBody>
                    <a:bodyPr lIns="36000" tIns="36000" rIns="36000" bIns="36000" anchor="t">
                      <a:noAutofit/>
                    </a:bodyPr>
                    <a:p>
                      <a:r>
                        <a:rPr lang="en-US" sz="1800" b="0" u="none" strike="noStrike">
                          <a:solidFill>
                            <a:srgbClr val="000000"/>
                          </a:solidFill>
                          <a:effectLst/>
                          <a:uFillTx/>
                          <a:latin typeface="Arial"/>
                        </a:rPr>
                        <a:t>IT Manager</a:t>
                      </a:r>
                      <a:endParaRPr lang="en-US" sz="1800" b="0" u="none" strike="noStrike">
                        <a:solidFill>
                          <a:srgbClr val="000000"/>
                        </a:solidFill>
                        <a:effectLst/>
                        <a:uFillTx/>
                        <a:latin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F7D1D5"/>
                    </a:solidFill>
                  </a:tcPr>
                </a:tc>
                <a:tc>
                  <a:txBody>
                    <a:bodyPr lIns="36000" tIns="36000" rIns="36000" bIns="36000" anchor="t">
                      <a:noAutofit/>
                    </a:bodyPr>
                    <a:p>
                      <a:r>
                        <a:rPr lang="en-US" sz="1800" b="0" u="none" strike="noStrike">
                          <a:solidFill>
                            <a:srgbClr val="000000"/>
                          </a:solidFill>
                          <a:effectLst/>
                          <a:uFillTx/>
                          <a:latin typeface="Arial"/>
                        </a:rPr>
                        <a:t>Responsable del área</a:t>
                      </a:r>
                      <a:endParaRPr lang="en-US" sz="1800" b="0" u="none" strike="noStrike">
                        <a:solidFill>
                          <a:srgbClr val="000000"/>
                        </a:solidFill>
                        <a:effectLst/>
                        <a:uFillTx/>
                        <a:latin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F7D1D5"/>
                    </a:solidFill>
                  </a:tcPr>
                </a:tc>
                <a:tc>
                  <a:txBody>
                    <a:bodyPr lIns="36000" tIns="36000" rIns="36000" bIns="36000" anchor="t">
                      <a:noAutofit/>
                    </a:bodyPr>
                    <a:p>
                      <a:r>
                        <a:rPr lang="en-US" sz="1800" b="0" u="none" strike="noStrike">
                          <a:solidFill>
                            <a:srgbClr val="000000"/>
                          </a:solidFill>
                          <a:effectLst/>
                          <a:uFillTx/>
                          <a:latin typeface="Arial"/>
                        </a:rPr>
                        <a:t>Métricas y control</a:t>
                      </a:r>
                      <a:endParaRPr lang="en-US" sz="1800" b="0" u="none" strike="noStrike">
                        <a:solidFill>
                          <a:srgbClr val="000000"/>
                        </a:solidFill>
                        <a:effectLst/>
                        <a:uFillTx/>
                        <a:latin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F7D1D5"/>
                    </a:solidFill>
                  </a:tcPr>
                </a:tc>
              </a:tr>
              <a:tr h="456120">
                <a:tc>
                  <a:txBody>
                    <a:bodyPr lIns="36000" tIns="36000" rIns="36000" bIns="36000" anchor="t">
                      <a:noAutofit/>
                    </a:bodyPr>
                    <a:p>
                      <a:r>
                        <a:rPr lang="en-US" sz="1800" b="0" u="none" strike="noStrike">
                          <a:solidFill>
                            <a:srgbClr val="000000"/>
                          </a:solidFill>
                          <a:effectLst/>
                          <a:uFillTx/>
                          <a:latin typeface="Arial"/>
                        </a:rPr>
                        <a:t>Security</a:t>
                      </a:r>
                      <a:endParaRPr lang="en-US" sz="1800" b="0" u="none" strike="noStrike">
                        <a:solidFill>
                          <a:srgbClr val="000000"/>
                        </a:solidFill>
                        <a:effectLst/>
                        <a:uFillTx/>
                        <a:latin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EC9BA4"/>
                    </a:solidFill>
                  </a:tcPr>
                </a:tc>
                <a:tc>
                  <a:txBody>
                    <a:bodyPr lIns="36000" tIns="36000" rIns="36000" bIns="36000" anchor="t">
                      <a:noAutofit/>
                    </a:bodyPr>
                    <a:p>
                      <a:r>
                        <a:rPr lang="en-US" sz="1800" b="0" u="none" strike="noStrike">
                          <a:solidFill>
                            <a:srgbClr val="000000"/>
                          </a:solidFill>
                          <a:effectLst/>
                          <a:uFillTx/>
                          <a:latin typeface="Arial"/>
                        </a:rPr>
                        <a:t>Políticas y accesos</a:t>
                      </a:r>
                      <a:endParaRPr lang="en-US" sz="1800" b="0" u="none" strike="noStrike">
                        <a:solidFill>
                          <a:srgbClr val="000000"/>
                        </a:solidFill>
                        <a:effectLst/>
                        <a:uFillTx/>
                        <a:latin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EC9BA4"/>
                    </a:solidFill>
                  </a:tcPr>
                </a:tc>
                <a:tc>
                  <a:txBody>
                    <a:bodyPr lIns="36000" tIns="36000" rIns="36000" bIns="36000" anchor="t">
                      <a:noAutofit/>
                    </a:bodyPr>
                    <a:p>
                      <a:r>
                        <a:rPr lang="en-US" sz="1800" b="0" u="none" strike="noStrike">
                          <a:solidFill>
                            <a:srgbClr val="000000"/>
                          </a:solidFill>
                          <a:effectLst/>
                          <a:uFillTx/>
                          <a:latin typeface="Arial"/>
                        </a:rPr>
                        <a:t>Restricciones</a:t>
                      </a:r>
                      <a:endParaRPr lang="en-US" sz="1800" b="0" u="none" strike="noStrike">
                        <a:solidFill>
                          <a:srgbClr val="000000"/>
                        </a:solidFill>
                        <a:effectLst/>
                        <a:uFillTx/>
                        <a:latin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EC9BA4"/>
                    </a:solidFill>
                  </a:tcPr>
                </a:tc>
              </a:tr>
              <a:tr h="456840">
                <a:tc>
                  <a:txBody>
                    <a:bodyPr lIns="36000" tIns="36000" rIns="36000" bIns="36000" anchor="t">
                      <a:noAutofit/>
                    </a:bodyPr>
                    <a:p>
                      <a:r>
                        <a:rPr lang="en-US" sz="1800" b="0" u="none" strike="noStrike">
                          <a:solidFill>
                            <a:srgbClr val="000000"/>
                          </a:solidFill>
                          <a:effectLst/>
                          <a:uFillTx/>
                          <a:latin typeface="Arial"/>
                        </a:rPr>
                        <a:t>Infrastructure</a:t>
                      </a:r>
                      <a:endParaRPr lang="en-US" sz="1800" b="0" u="none" strike="noStrike">
                        <a:solidFill>
                          <a:srgbClr val="000000"/>
                        </a:solidFill>
                        <a:effectLst/>
                        <a:uFillTx/>
                        <a:latin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F7D1D5"/>
                    </a:solidFill>
                  </a:tcPr>
                </a:tc>
                <a:tc>
                  <a:txBody>
                    <a:bodyPr lIns="36000" tIns="36000" rIns="36000" bIns="36000" anchor="t">
                      <a:noAutofit/>
                    </a:bodyPr>
                    <a:p>
                      <a:r>
                        <a:rPr lang="en-US" sz="1800" b="0" u="none" strike="noStrike">
                          <a:solidFill>
                            <a:srgbClr val="000000"/>
                          </a:solidFill>
                          <a:effectLst/>
                          <a:uFillTx/>
                          <a:latin typeface="Arial"/>
                        </a:rPr>
                        <a:t>Opera sistemas</a:t>
                      </a:r>
                      <a:endParaRPr lang="en-US" sz="1800" b="0" u="none" strike="noStrike">
                        <a:solidFill>
                          <a:srgbClr val="000000"/>
                        </a:solidFill>
                        <a:effectLst/>
                        <a:uFillTx/>
                        <a:latin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F7D1D5"/>
                    </a:solidFill>
                  </a:tcPr>
                </a:tc>
                <a:tc>
                  <a:txBody>
                    <a:bodyPr lIns="36000" tIns="36000" rIns="36000" bIns="36000" anchor="t">
                      <a:noAutofit/>
                    </a:bodyPr>
                    <a:p>
                      <a:r>
                        <a:rPr lang="en-US" sz="1800" b="0" u="none" strike="noStrike">
                          <a:solidFill>
                            <a:srgbClr val="000000"/>
                          </a:solidFill>
                          <a:effectLst/>
                          <a:uFillTx/>
                          <a:latin typeface="Arial"/>
                        </a:rPr>
                        <a:t>Integraciones y deployment</a:t>
                      </a:r>
                      <a:endParaRPr lang="en-US" sz="1800" b="0" u="none" strike="noStrike">
                        <a:solidFill>
                          <a:srgbClr val="000000"/>
                        </a:solidFill>
                        <a:effectLst/>
                        <a:uFillTx/>
                        <a:latin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F7D1D5"/>
                    </a:solidFill>
                  </a:tcPr>
                </a:tc>
              </a:tr>
            </a:tbl>
          </a:graphicData>
        </a:graphic>
      </p:graphicFrame>
      <p:sp>
        <p:nvSpPr>
          <p:cNvPr id="174" name=""/>
          <p:cNvSpPr txBox="1"/>
          <p:nvPr/>
        </p:nvSpPr>
        <p:spPr>
          <a:xfrm>
            <a:off x="5050800" y="457200"/>
            <a:ext cx="2264400" cy="346320"/>
          </a:xfrm>
          <a:prstGeom prst="rect">
            <a:avLst/>
          </a:prstGeom>
          <a:noFill/>
          <a:ln w="0">
            <a:noFill/>
          </a:ln>
        </p:spPr>
        <p:txBody>
          <a:bodyPr lIns="90000" tIns="45000" rIns="90000" bIns="45000" anchor="t">
            <a:spAutoFit/>
          </a:bodyPr>
          <a:p>
            <a:r>
              <a:rPr lang="en-US" sz="1800" b="0" u="none" strike="noStrike">
                <a:solidFill>
                  <a:srgbClr val="FFFFFF"/>
                </a:solidFill>
                <a:effectLst/>
                <a:uFillTx/>
                <a:latin typeface="Arial"/>
              </a:rPr>
              <a:t>StakeHolders ACME</a:t>
            </a:r>
            <a:endParaRPr lang="en-US"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A6099"/>
        </a:solidFill>
      </p:bgPr>
    </p:bg>
    <p:spTree>
      <p:nvGrpSpPr>
        <p:cNvPr id="1" name=""/>
        <p:cNvGrpSpPr/>
        <p:nvPr/>
      </p:nvGrpSpPr>
      <p:grpSpPr>
        <a:xfrm>
          <a:off x="0" y="0"/>
          <a:ext cx="0" cy="0"/>
          <a:chOff x="0" y="0"/>
          <a:chExt cx="0" cy="0"/>
        </a:xfrm>
      </p:grpSpPr>
      <p:sp>
        <p:nvSpPr>
          <p:cNvPr id="175" name="Shape 2"/>
          <p:cNvSpPr/>
          <p:nvPr/>
        </p:nvSpPr>
        <p:spPr>
          <a:xfrm>
            <a:off x="639720" y="6510240"/>
            <a:ext cx="10878840" cy="360"/>
          </a:xfrm>
          <a:prstGeom prst="line">
            <a:avLst/>
          </a:prstGeom>
          <a:ln w="6350">
            <a:solidFill>
              <a:srgbClr val="D9E3EA"/>
            </a:solidFill>
            <a:round/>
          </a:ln>
        </p:spPr>
        <p:style>
          <a:lnRef idx="0"/>
          <a:fillRef idx="0"/>
          <a:effectRef idx="0"/>
          <a:fontRef idx="minor"/>
        </p:style>
        <p:txBody>
          <a:bodyPr lIns="90000" tIns="-44640" rIns="90000" bIns="-44640" anchor="t" anchorCtr="1">
            <a:noAutofit/>
          </a:bodyPr>
          <a:p>
            <a:endParaRPr lang="en-US" sz="1800" b="0" u="none" strike="noStrike">
              <a:solidFill>
                <a:srgbClr val="FFFFFF"/>
              </a:solidFill>
              <a:effectLst/>
              <a:uFillTx/>
              <a:latin typeface="Arial"/>
            </a:endParaRPr>
          </a:p>
        </p:txBody>
      </p:sp>
      <p:sp>
        <p:nvSpPr>
          <p:cNvPr id="176" name="Text 7"/>
          <p:cNvSpPr/>
          <p:nvPr/>
        </p:nvSpPr>
        <p:spPr>
          <a:xfrm>
            <a:off x="639720" y="6583680"/>
            <a:ext cx="365652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0" u="none" strike="noStrike">
                <a:solidFill>
                  <a:srgbClr val="65758B"/>
                </a:solidFill>
                <a:effectLst/>
                <a:uFillTx/>
                <a:latin typeface="Aptos"/>
              </a:rPr>
              <a:t>ServiceDesk Kick-off</a:t>
            </a:r>
            <a:endParaRPr lang="en-US" sz="800" b="0" u="none" strike="noStrike">
              <a:solidFill>
                <a:srgbClr val="FFFFFF"/>
              </a:solidFill>
              <a:effectLst/>
              <a:uFillTx/>
              <a:latin typeface="Arial"/>
            </a:endParaRPr>
          </a:p>
        </p:txBody>
      </p:sp>
      <p:sp>
        <p:nvSpPr>
          <p:cNvPr id="177" name="Text 24"/>
          <p:cNvSpPr/>
          <p:nvPr/>
        </p:nvSpPr>
        <p:spPr>
          <a:xfrm>
            <a:off x="10969920" y="6565320"/>
            <a:ext cx="548280" cy="1825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00" b="0" u="none" strike="noStrike">
                <a:solidFill>
                  <a:srgbClr val="65758B"/>
                </a:solidFill>
                <a:effectLst/>
                <a:uFillTx/>
                <a:latin typeface="Aptos"/>
              </a:rPr>
              <a:t>07</a:t>
            </a:r>
            <a:endParaRPr lang="en-US" sz="800" b="0" u="none" strike="noStrike">
              <a:solidFill>
                <a:srgbClr val="FFFFFF"/>
              </a:solidFill>
              <a:effectLst/>
              <a:uFillTx/>
              <a:latin typeface="Arial"/>
            </a:endParaRPr>
          </a:p>
        </p:txBody>
      </p:sp>
      <p:sp>
        <p:nvSpPr>
          <p:cNvPr id="178" name=""/>
          <p:cNvSpPr txBox="1"/>
          <p:nvPr/>
        </p:nvSpPr>
        <p:spPr>
          <a:xfrm>
            <a:off x="4110840" y="568080"/>
            <a:ext cx="2975760" cy="346320"/>
          </a:xfrm>
          <a:prstGeom prst="rect">
            <a:avLst/>
          </a:prstGeom>
          <a:noFill/>
          <a:ln w="0">
            <a:noFill/>
          </a:ln>
        </p:spPr>
        <p:txBody>
          <a:bodyPr wrap="none" lIns="90000" tIns="45000" rIns="90000" bIns="45000" anchor="t">
            <a:spAutoFit/>
          </a:bodyPr>
          <a:p>
            <a:r>
              <a:rPr lang="en-US" sz="1800" b="0" u="none" strike="noStrike">
                <a:solidFill>
                  <a:srgbClr val="FFFFFF"/>
                </a:solidFill>
                <a:effectLst/>
                <a:uFillTx/>
                <a:latin typeface="Arial"/>
              </a:rPr>
              <a:t>Laura Martinez CEO ACME</a:t>
            </a:r>
            <a:endParaRPr lang="en-US" sz="1800" b="0" u="none" strike="noStrike">
              <a:solidFill>
                <a:srgbClr val="FFFFFF"/>
              </a:solidFill>
              <a:effectLst/>
              <a:uFillTx/>
              <a:latin typeface="Arial"/>
            </a:endParaRPr>
          </a:p>
        </p:txBody>
      </p:sp>
      <p:sp>
        <p:nvSpPr>
          <p:cNvPr id="179" name=""/>
          <p:cNvSpPr txBox="1"/>
          <p:nvPr/>
        </p:nvSpPr>
        <p:spPr>
          <a:xfrm>
            <a:off x="1409040" y="1164960"/>
            <a:ext cx="8649360" cy="3328920"/>
          </a:xfrm>
          <a:prstGeom prst="rect">
            <a:avLst/>
          </a:prstGeom>
          <a:noFill/>
          <a:ln w="0">
            <a:noFill/>
          </a:ln>
          <a:effectLst>
            <a:outerShdw dist="103350" dir="2700000" rotWithShape="0">
              <a:srgbClr val="355269"/>
            </a:outerShdw>
          </a:effectLst>
        </p:spPr>
        <p:txBody>
          <a:bodyPr lIns="90000" tIns="45000" rIns="90000" bIns="45000" anchor="t">
            <a:spAutoFit/>
          </a:bodyPr>
          <a:p>
            <a:r>
              <a:rPr lang="en-US" sz="1100" b="0" u="none" strike="noStrike">
                <a:solidFill>
                  <a:srgbClr val="FFFFFF"/>
                </a:solidFill>
                <a:effectLst/>
                <a:uFillTx/>
                <a:latin typeface="Arial"/>
              </a:rPr>
              <a:t>ACME es una empresa de servicios empresariales con alrededor de 800 empleados. Tenemos la oficina principal aquí en Ciudad de México y algunas oficinas más pequeñas en otras ciudades. La mayor parte del personal trabaja con computadora y depende bastante de los sistemas internos para realizar sus actividades.</a:t>
            </a:r>
            <a:endParaRPr lang="en-US" sz="1100" b="0" u="none" strike="noStrike">
              <a:solidFill>
                <a:srgbClr val="FFFFFF"/>
              </a:solidFill>
              <a:effectLst/>
              <a:uFillTx/>
              <a:latin typeface="Arial"/>
            </a:endParaRPr>
          </a:p>
          <a:p>
            <a:r>
              <a:rPr lang="en-US" sz="1100" b="0" u="none" strike="noStrike">
                <a:solidFill>
                  <a:srgbClr val="FFFFFF"/>
                </a:solidFill>
                <a:effectLst/>
                <a:uFillTx/>
                <a:latin typeface="Arial"/>
              </a:rPr>
              <a:t>El área de TI tiene unas 35 personas. Dentro de TI tenemos infraestructura, aplicaciones, seguridad y un pequeño equipo de soporte a usuarios. Ese equipo de soporte es el que recibe la mayoría de los problemas cotidianos: equipos que no funcionan, accesos, contraseñas, aplicaciones, correo, VPN y ese tipo de cosas.</a:t>
            </a:r>
            <a:endParaRPr lang="en-US" sz="1100" b="0" u="none" strike="noStrike">
              <a:solidFill>
                <a:srgbClr val="FFFFFF"/>
              </a:solidFill>
              <a:effectLst/>
              <a:uFillTx/>
              <a:latin typeface="Arial"/>
            </a:endParaRPr>
          </a:p>
          <a:p>
            <a:r>
              <a:rPr lang="en-US" sz="1100" b="0" u="none" strike="noStrike">
                <a:solidFill>
                  <a:srgbClr val="FFFFFF"/>
                </a:solidFill>
                <a:effectLst/>
                <a:uFillTx/>
                <a:latin typeface="Arial"/>
              </a:rPr>
              <a:t>La empresa ha crecido bastante durante los últimos años, pero varios de nuestros procesos internos no han crecido al mismo ritmo. El soporte es uno de ellos.</a:t>
            </a:r>
            <a:endParaRPr lang="en-US" sz="1100" b="0" u="none" strike="noStrike">
              <a:solidFill>
                <a:srgbClr val="FFFFFF"/>
              </a:solidFill>
              <a:effectLst/>
              <a:uFillTx/>
              <a:latin typeface="Arial"/>
            </a:endParaRPr>
          </a:p>
          <a:p>
            <a:r>
              <a:rPr lang="en-US" sz="1100" b="0" u="none" strike="noStrike">
                <a:solidFill>
                  <a:srgbClr val="FFFFFF"/>
                </a:solidFill>
                <a:effectLst/>
                <a:uFillTx/>
                <a:latin typeface="Arial"/>
              </a:rPr>
              <a:t>Actualmente tenemos cinco personas atendiendo soporte de primer nivel y un supervisor. Cuando ellos no pueden resolver algo, normalmente lo escalan a infraestructura, aplicaciones o seguridad, dependiendo del problema.</a:t>
            </a:r>
            <a:endParaRPr lang="en-US" sz="1100" b="0" u="none" strike="noStrike">
              <a:solidFill>
                <a:srgbClr val="FFFFFF"/>
              </a:solidFill>
              <a:effectLst/>
              <a:uFillTx/>
              <a:latin typeface="Arial"/>
            </a:endParaRPr>
          </a:p>
          <a:p>
            <a:r>
              <a:rPr lang="en-US" sz="1100" b="0" u="none" strike="noStrike">
                <a:solidFill>
                  <a:srgbClr val="FFFFFF"/>
                </a:solidFill>
                <a:effectLst/>
                <a:uFillTx/>
                <a:latin typeface="Arial"/>
              </a:rPr>
              <a:t>También tenemos empleados trabajando de manera híbrida, así que no todo el soporte ocurre físicamente en las oficinas.</a:t>
            </a:r>
            <a:endParaRPr lang="en-US" sz="1100" b="0" u="none" strike="noStrike">
              <a:solidFill>
                <a:srgbClr val="FFFFFF"/>
              </a:solidFill>
              <a:effectLst/>
              <a:uFillTx/>
              <a:latin typeface="Arial"/>
            </a:endParaRPr>
          </a:p>
          <a:p>
            <a:endParaRPr lang="en-US"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A6099"/>
        </a:solidFill>
      </p:bgPr>
    </p:bg>
    <p:spTree>
      <p:nvGrpSpPr>
        <p:cNvPr id="1" name=""/>
        <p:cNvGrpSpPr/>
        <p:nvPr/>
      </p:nvGrpSpPr>
      <p:grpSpPr>
        <a:xfrm>
          <a:off x="0" y="0"/>
          <a:ext cx="0" cy="0"/>
          <a:chOff x="0" y="0"/>
          <a:chExt cx="0" cy="0"/>
        </a:xfrm>
      </p:grpSpPr>
      <p:sp>
        <p:nvSpPr>
          <p:cNvPr id="180" name="Shape 17"/>
          <p:cNvSpPr/>
          <p:nvPr/>
        </p:nvSpPr>
        <p:spPr>
          <a:xfrm>
            <a:off x="639720" y="6510240"/>
            <a:ext cx="10878840" cy="360"/>
          </a:xfrm>
          <a:prstGeom prst="line">
            <a:avLst/>
          </a:prstGeom>
          <a:ln w="6350">
            <a:solidFill>
              <a:srgbClr val="D9E3EA"/>
            </a:solidFill>
            <a:round/>
          </a:ln>
        </p:spPr>
        <p:style>
          <a:lnRef idx="0"/>
          <a:fillRef idx="0"/>
          <a:effectRef idx="0"/>
          <a:fontRef idx="minor"/>
        </p:style>
        <p:txBody>
          <a:bodyPr lIns="90000" tIns="-44640" rIns="90000" bIns="-44640" anchor="t" anchorCtr="1">
            <a:noAutofit/>
          </a:bodyPr>
          <a:p>
            <a:endParaRPr lang="en-US" sz="1800" b="0" u="none" strike="noStrike">
              <a:solidFill>
                <a:srgbClr val="FFFFFF"/>
              </a:solidFill>
              <a:effectLst/>
              <a:uFillTx/>
              <a:latin typeface="Arial"/>
            </a:endParaRPr>
          </a:p>
        </p:txBody>
      </p:sp>
      <p:sp>
        <p:nvSpPr>
          <p:cNvPr id="181" name="Text 29"/>
          <p:cNvSpPr/>
          <p:nvPr/>
        </p:nvSpPr>
        <p:spPr>
          <a:xfrm>
            <a:off x="639720" y="6583680"/>
            <a:ext cx="365652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0" u="none" strike="noStrike">
                <a:solidFill>
                  <a:srgbClr val="65758B"/>
                </a:solidFill>
                <a:effectLst/>
                <a:uFillTx/>
                <a:latin typeface="Aptos"/>
              </a:rPr>
              <a:t>ServiceDesk Kick-off</a:t>
            </a:r>
            <a:endParaRPr lang="en-US" sz="800" b="0" u="none" strike="noStrike">
              <a:solidFill>
                <a:srgbClr val="FFFFFF"/>
              </a:solidFill>
              <a:effectLst/>
              <a:uFillTx/>
              <a:latin typeface="Arial"/>
            </a:endParaRPr>
          </a:p>
        </p:txBody>
      </p:sp>
      <p:sp>
        <p:nvSpPr>
          <p:cNvPr id="182" name="Text 33"/>
          <p:cNvSpPr/>
          <p:nvPr/>
        </p:nvSpPr>
        <p:spPr>
          <a:xfrm>
            <a:off x="10969920" y="6565320"/>
            <a:ext cx="548280" cy="1825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00" b="0" u="none" strike="noStrike">
                <a:solidFill>
                  <a:srgbClr val="65758B"/>
                </a:solidFill>
                <a:effectLst/>
                <a:uFillTx/>
                <a:latin typeface="Aptos"/>
              </a:rPr>
              <a:t>07</a:t>
            </a:r>
            <a:endParaRPr lang="en-US" sz="800" b="0" u="none" strike="noStrike">
              <a:solidFill>
                <a:srgbClr val="FFFFFF"/>
              </a:solidFill>
              <a:effectLst/>
              <a:uFillTx/>
              <a:latin typeface="Arial"/>
            </a:endParaRPr>
          </a:p>
        </p:txBody>
      </p:sp>
      <p:sp>
        <p:nvSpPr>
          <p:cNvPr id="183" name=""/>
          <p:cNvSpPr txBox="1"/>
          <p:nvPr/>
        </p:nvSpPr>
        <p:spPr>
          <a:xfrm>
            <a:off x="4114800" y="228600"/>
            <a:ext cx="2793600" cy="346320"/>
          </a:xfrm>
          <a:prstGeom prst="rect">
            <a:avLst/>
          </a:prstGeom>
          <a:noFill/>
          <a:ln w="0">
            <a:noFill/>
          </a:ln>
        </p:spPr>
        <p:txBody>
          <a:bodyPr wrap="none" lIns="90000" tIns="45000" rIns="90000" bIns="45000" anchor="t">
            <a:spAutoFit/>
          </a:bodyPr>
          <a:p>
            <a:r>
              <a:rPr lang="en-US" sz="1800" b="0" u="none" strike="noStrike">
                <a:solidFill>
                  <a:srgbClr val="FFFFFF"/>
                </a:solidFill>
                <a:effectLst/>
                <a:uFillTx/>
                <a:latin typeface="Arial"/>
              </a:rPr>
              <a:t>Laura Martinez IT director</a:t>
            </a:r>
            <a:endParaRPr lang="en-US" sz="1800" b="0" u="none" strike="noStrike">
              <a:solidFill>
                <a:srgbClr val="FFFFFF"/>
              </a:solidFill>
              <a:effectLst/>
              <a:uFillTx/>
              <a:latin typeface="Arial"/>
            </a:endParaRPr>
          </a:p>
        </p:txBody>
      </p:sp>
      <p:sp>
        <p:nvSpPr>
          <p:cNvPr id="184" name=""/>
          <p:cNvSpPr txBox="1"/>
          <p:nvPr/>
        </p:nvSpPr>
        <p:spPr>
          <a:xfrm>
            <a:off x="465840" y="936720"/>
            <a:ext cx="11421360" cy="5875560"/>
          </a:xfrm>
          <a:prstGeom prst="rect">
            <a:avLst/>
          </a:prstGeom>
          <a:noFill/>
          <a:ln w="0">
            <a:noFill/>
          </a:ln>
        </p:spPr>
        <p:txBody>
          <a:bodyPr lIns="90000" tIns="45000" rIns="90000" bIns="45000" anchor="t">
            <a:spAutoFit/>
          </a:bodyPr>
          <a:p>
            <a:r>
              <a:rPr lang="en-US" sz="1000" b="0" u="none" strike="noStrike">
                <a:solidFill>
                  <a:srgbClr val="FFFFFF"/>
                </a:solidFill>
                <a:effectLst/>
                <a:uFillTx/>
                <a:latin typeface="Arial"/>
              </a:rPr>
              <a:t>el soporte fue creciendo de una manera bastante improvisada. Hace algunos años éramos muchos menos empleados y el equipo podía manejar casi todo por correo, llamadas o incluso mensajes directos. Si alguien tenía un problema, conocía a alguien de TI y le escribía.</a:t>
            </a:r>
            <a:endParaRPr lang="en-US" sz="1000" b="0" u="none" strike="noStrike">
              <a:solidFill>
                <a:srgbClr val="FFFFFF"/>
              </a:solidFill>
              <a:effectLst/>
              <a:uFillTx/>
              <a:latin typeface="Arial"/>
            </a:endParaRPr>
          </a:p>
          <a:p>
            <a:r>
              <a:rPr lang="en-US" sz="1000" b="0" u="none" strike="noStrike">
                <a:solidFill>
                  <a:srgbClr val="FFFFFF"/>
                </a:solidFill>
                <a:effectLst/>
                <a:uFillTx/>
                <a:latin typeface="Arial"/>
              </a:rPr>
              <a:t>Con el crecimiento de la empresa eso empezó a dejar de funcionar.</a:t>
            </a:r>
            <a:endParaRPr lang="en-US" sz="1000" b="0" u="none" strike="noStrike">
              <a:solidFill>
                <a:srgbClr val="FFFFFF"/>
              </a:solidFill>
              <a:effectLst/>
              <a:uFillTx/>
              <a:latin typeface="Arial"/>
            </a:endParaRPr>
          </a:p>
          <a:p>
            <a:r>
              <a:rPr lang="en-US" sz="1000" b="0" u="none" strike="noStrike">
                <a:solidFill>
                  <a:srgbClr val="FFFFFF"/>
                </a:solidFill>
                <a:effectLst/>
                <a:uFillTx/>
                <a:latin typeface="Arial"/>
              </a:rPr>
              <a:t>Hoy recibimos </a:t>
            </a:r>
            <a:r>
              <a:rPr lang="en-US" sz="1100" b="1" u="none" strike="noStrike">
                <a:solidFill>
                  <a:srgbClr val="FFFF6D"/>
                </a:solidFill>
                <a:effectLst/>
                <a:uFillTx/>
                <a:latin typeface="Arial"/>
              </a:rPr>
              <a:t>solicitudes por varios medios</a:t>
            </a:r>
            <a:r>
              <a:rPr lang="en-US" sz="1000" b="0" u="none" strike="noStrike">
                <a:solidFill>
                  <a:srgbClr val="FFFFFF"/>
                </a:solidFill>
                <a:effectLst/>
                <a:uFillTx/>
                <a:latin typeface="Arial"/>
              </a:rPr>
              <a:t>. Tenemos un buzón de soporte, pero también llegan mensajes por Teams, llamadas y gente que busca directamente a los técnicos. Incluso algunos </a:t>
            </a:r>
            <a:r>
              <a:rPr lang="en-US" sz="1000" b="1" u="none" strike="noStrike">
                <a:solidFill>
                  <a:srgbClr val="E6E905"/>
                </a:solidFill>
                <a:effectLst/>
                <a:uFillTx/>
                <a:latin typeface="Arial"/>
              </a:rPr>
              <a:t>usuarios contactan a personas de infraestructura o aplicaciones</a:t>
            </a:r>
            <a:r>
              <a:rPr lang="en-US" sz="1000" b="0" u="none" strike="noStrike">
                <a:solidFill>
                  <a:srgbClr val="FFFFFF"/>
                </a:solidFill>
                <a:effectLst/>
                <a:uFillTx/>
                <a:latin typeface="Arial"/>
              </a:rPr>
              <a:t> porque ya saben quién les resolvió algo anteriormente.</a:t>
            </a:r>
            <a:endParaRPr lang="en-US" sz="1000" b="0" u="none" strike="noStrike">
              <a:solidFill>
                <a:srgbClr val="FFFFFF"/>
              </a:solidFill>
              <a:effectLst/>
              <a:uFillTx/>
              <a:latin typeface="Arial"/>
            </a:endParaRPr>
          </a:p>
          <a:p>
            <a:r>
              <a:rPr lang="en-US" sz="1000" b="0" u="none" strike="noStrike">
                <a:solidFill>
                  <a:srgbClr val="FFFFFF"/>
                </a:solidFill>
                <a:effectLst/>
                <a:uFillTx/>
                <a:latin typeface="Arial"/>
              </a:rPr>
              <a:t>El principal problema es que perdimos </a:t>
            </a:r>
            <a:r>
              <a:rPr lang="en-US" sz="1100" b="1" u="none" strike="noStrike">
                <a:solidFill>
                  <a:srgbClr val="FFFF6D"/>
                </a:solidFill>
                <a:effectLst/>
                <a:uFillTx/>
                <a:latin typeface="Arial"/>
              </a:rPr>
              <a:t>visibilidad</a:t>
            </a:r>
            <a:r>
              <a:rPr lang="en-US" sz="1000" b="0" u="none" strike="noStrike">
                <a:solidFill>
                  <a:srgbClr val="FFFFFF"/>
                </a:solidFill>
                <a:effectLst/>
                <a:uFillTx/>
                <a:latin typeface="Arial"/>
              </a:rPr>
              <a:t>.</a:t>
            </a:r>
            <a:endParaRPr lang="en-US" sz="1000" b="0" u="none" strike="noStrike">
              <a:solidFill>
                <a:srgbClr val="FFFFFF"/>
              </a:solidFill>
              <a:effectLst/>
              <a:uFillTx/>
              <a:latin typeface="Arial"/>
            </a:endParaRPr>
          </a:p>
          <a:p>
            <a:r>
              <a:rPr lang="en-US" sz="1000" b="0" u="none" strike="noStrike">
                <a:solidFill>
                  <a:srgbClr val="FFFFFF"/>
                </a:solidFill>
                <a:effectLst/>
                <a:uFillTx/>
                <a:latin typeface="Arial"/>
              </a:rPr>
              <a:t>No puedo decirte con certeza cuántas solicitudes recibimos realmente cada mes, cuánto tardamos en resolverlas o cuántas se quedan sin atender. Tenemos algunos registros, pero no representan todo lo que pasa.</a:t>
            </a:r>
            <a:endParaRPr lang="en-US" sz="1000" b="0" u="none" strike="noStrike">
              <a:solidFill>
                <a:srgbClr val="FFFFFF"/>
              </a:solidFill>
              <a:effectLst/>
              <a:uFillTx/>
              <a:latin typeface="Arial"/>
            </a:endParaRPr>
          </a:p>
          <a:p>
            <a:r>
              <a:rPr lang="en-US" sz="1000" b="0" u="none" strike="noStrike">
                <a:solidFill>
                  <a:srgbClr val="FFFFFF"/>
                </a:solidFill>
                <a:effectLst/>
                <a:uFillTx/>
                <a:latin typeface="Arial"/>
              </a:rPr>
              <a:t>Hace unos meses tuvimos un incidente que hizo bastante evidente el problema. </a:t>
            </a:r>
            <a:r>
              <a:rPr lang="en-US" sz="1000" b="1" u="none" strike="noStrike">
                <a:solidFill>
                  <a:srgbClr val="E6E905"/>
                </a:solidFill>
                <a:effectLst/>
                <a:uFillTx/>
                <a:latin typeface="Arial"/>
              </a:rPr>
              <a:t>Un usuario reportó que no podía acceder a una aplicación importante. Primero escribió directamente a una persona del equipo de aplicaciones. Esa persona estaba de vacaciones y nadie más vio el mensaje</a:t>
            </a:r>
            <a:r>
              <a:rPr lang="en-US" sz="1000" b="0" u="none" strike="noStrike">
                <a:solidFill>
                  <a:srgbClr val="FFFFFF"/>
                </a:solidFill>
                <a:effectLst/>
                <a:uFillTx/>
                <a:latin typeface="Arial"/>
              </a:rPr>
              <a:t>. Dos días después el gerente del área escaló el problema porque el usuario seguía sin poder trabajar.</a:t>
            </a:r>
            <a:endParaRPr lang="en-US" sz="1000" b="0" u="none" strike="noStrike">
              <a:solidFill>
                <a:srgbClr val="FFFFFF"/>
              </a:solidFill>
              <a:effectLst/>
              <a:uFillTx/>
              <a:latin typeface="Arial"/>
            </a:endParaRPr>
          </a:p>
          <a:p>
            <a:r>
              <a:rPr lang="en-US" sz="1000" b="0" u="none" strike="noStrike">
                <a:solidFill>
                  <a:srgbClr val="FFFFFF"/>
                </a:solidFill>
                <a:effectLst/>
                <a:uFillTx/>
                <a:latin typeface="Arial"/>
              </a:rPr>
              <a:t>Cuando revisamos lo ocurrido, descubrimos que nadie podía decir claramente cuándo se había reportado, quién debía haberlo atendido o por qué no se había escalado antes.</a:t>
            </a:r>
            <a:endParaRPr lang="en-US" sz="1000" b="0" u="none" strike="noStrike">
              <a:solidFill>
                <a:srgbClr val="FFFFFF"/>
              </a:solidFill>
              <a:effectLst/>
              <a:uFillTx/>
              <a:latin typeface="Arial"/>
            </a:endParaRPr>
          </a:p>
          <a:p>
            <a:r>
              <a:rPr lang="en-US" sz="1000" b="0" u="none" strike="noStrike">
                <a:solidFill>
                  <a:srgbClr val="FFFFFF"/>
                </a:solidFill>
                <a:effectLst/>
                <a:uFillTx/>
                <a:latin typeface="Arial"/>
              </a:rPr>
              <a:t>Después de eso empezamos a revisar el proceso y encontramos otros casos similares. No todos tan graves, pero sí suficientes para preocuparnos.</a:t>
            </a:r>
            <a:endParaRPr lang="en-US" sz="1000" b="0" u="none" strike="noStrike">
              <a:solidFill>
                <a:srgbClr val="FFFFFF"/>
              </a:solidFill>
              <a:effectLst/>
              <a:uFillTx/>
              <a:latin typeface="Arial"/>
            </a:endParaRPr>
          </a:p>
          <a:p>
            <a:r>
              <a:rPr lang="en-US" sz="1000" b="0" u="none" strike="noStrike">
                <a:solidFill>
                  <a:srgbClr val="FFFFFF"/>
                </a:solidFill>
                <a:effectLst/>
                <a:uFillTx/>
                <a:latin typeface="Arial"/>
              </a:rPr>
              <a:t>También hay presión desde dirección. Nos preguntan cosas como </a:t>
            </a:r>
            <a:r>
              <a:rPr lang="en-US" sz="1100" b="1" u="none" strike="noStrike">
                <a:solidFill>
                  <a:srgbClr val="E6E905"/>
                </a:solidFill>
                <a:effectLst/>
                <a:uFillTx/>
                <a:latin typeface="Arial"/>
              </a:rPr>
              <a:t>cuánto volumen de soporte tenemos, cuáles son los problemas más frecuentes o si necesitamos más personal.</a:t>
            </a:r>
            <a:r>
              <a:rPr lang="en-US" sz="1000" b="0" u="none" strike="noStrike">
                <a:solidFill>
                  <a:srgbClr val="FFFFFF"/>
                </a:solidFill>
                <a:effectLst/>
                <a:uFillTx/>
                <a:latin typeface="Arial"/>
              </a:rPr>
              <a:t> Y francamente, hoy muchas de esas respuestas son estimaciones.</a:t>
            </a:r>
            <a:endParaRPr lang="en-US" sz="1000" b="0" u="none" strike="noStrike">
              <a:solidFill>
                <a:srgbClr val="FFFFFF"/>
              </a:solidFill>
              <a:effectLst/>
              <a:uFillTx/>
              <a:latin typeface="Arial"/>
            </a:endParaRPr>
          </a:p>
          <a:p>
            <a:r>
              <a:rPr lang="en-US" sz="1000" b="0" u="none" strike="noStrike">
                <a:solidFill>
                  <a:srgbClr val="FFFFFF"/>
                </a:solidFill>
                <a:effectLst/>
                <a:uFillTx/>
                <a:latin typeface="Arial"/>
              </a:rPr>
              <a:t>Entonces la idea del proyecto surgió principalmente de ahí: necesitamos tener mucho más control y visibilidad sobre el servicio.</a:t>
            </a:r>
            <a:endParaRPr lang="en-US" sz="1000" b="0" u="none" strike="noStrike">
              <a:solidFill>
                <a:srgbClr val="FFFFFF"/>
              </a:solidFill>
              <a:effectLst/>
              <a:uFillTx/>
              <a:latin typeface="Arial"/>
            </a:endParaRPr>
          </a:p>
          <a:p>
            <a:r>
              <a:rPr lang="en-US" sz="1000" b="0" u="none" strike="noStrike">
                <a:solidFill>
                  <a:srgbClr val="FFFFFF"/>
                </a:solidFill>
                <a:effectLst/>
                <a:uFillTx/>
                <a:latin typeface="Arial"/>
              </a:rPr>
              <a:t>Pero hay algo que me gustaría evitar. No quiero que simplemente digitalicemos el desorden actual. Si vamos a hacer esto, me gustaría que también nos ayudara a ordenar un poco la forma en que trabajamos.</a:t>
            </a:r>
            <a:endParaRPr lang="en-US" sz="1000" b="0" u="none" strike="noStrike">
              <a:solidFill>
                <a:srgbClr val="FFFFFF"/>
              </a:solidFill>
              <a:effectLst/>
              <a:uFillTx/>
              <a:latin typeface="Arial"/>
            </a:endParaRPr>
          </a:p>
          <a:p>
            <a:endParaRPr lang="en-US"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5" name=""/>
          <p:cNvSpPr txBox="1"/>
          <p:nvPr/>
        </p:nvSpPr>
        <p:spPr>
          <a:xfrm>
            <a:off x="685800" y="1371600"/>
            <a:ext cx="9241920" cy="2649960"/>
          </a:xfrm>
          <a:prstGeom prst="rect">
            <a:avLst/>
          </a:prstGeom>
          <a:noFill/>
          <a:ln w="0">
            <a:noFill/>
          </a:ln>
        </p:spPr>
        <p:txBody>
          <a:bodyPr lIns="90000" tIns="45000" rIns="90000" bIns="45000" anchor="t">
            <a:spAutoFit/>
          </a:bodyPr>
          <a:p>
            <a:pPr marL="216000" indent="-216000">
              <a:buClr>
                <a:srgbClr val="000000"/>
              </a:buClr>
              <a:buSzPct val="45000"/>
              <a:buFont typeface="Wingdings" charset="2"/>
              <a:buChar char=""/>
            </a:pPr>
            <a:r>
              <a:rPr lang="en-US" sz="1800" b="0" u="none" strike="noStrike">
                <a:solidFill>
                  <a:srgbClr val="000000"/>
                </a:solidFill>
                <a:effectLst/>
                <a:uFillTx/>
                <a:latin typeface="Arial"/>
              </a:rPr>
              <a:t>Perdida de vision sobre los incidentes, que pueden tardar demasiado en resolverse o quedar sin solucion.</a:t>
            </a:r>
            <a:endParaRPr lang="en-US" sz="1800" b="0" u="none" strike="noStrike">
              <a:solidFill>
                <a:srgbClr val="000000"/>
              </a:solidFill>
              <a:effectLst/>
              <a:uFillTx/>
              <a:latin typeface="Arial"/>
            </a:endParaRPr>
          </a:p>
          <a:p>
            <a:pPr marL="216000" indent="-216000">
              <a:buClr>
                <a:srgbClr val="000000"/>
              </a:buClr>
              <a:buSzPct val="45000"/>
              <a:buFont typeface="Wingdings" charset="2"/>
              <a:buChar char=""/>
            </a:pPr>
            <a:r>
              <a:rPr lang="en-US" sz="1800" b="0" u="none" strike="noStrike">
                <a:solidFill>
                  <a:srgbClr val="000000"/>
                </a:solidFill>
                <a:effectLst/>
                <a:uFillTx/>
                <a:latin typeface="Arial"/>
              </a:rPr>
              <a:t>No se puede identificar quien esta atendiendo un caso facilmente, y quien deberia ser responsible.</a:t>
            </a:r>
            <a:endParaRPr lang="en-US" sz="1800" b="0" u="none" strike="noStrike">
              <a:solidFill>
                <a:srgbClr val="000000"/>
              </a:solidFill>
              <a:effectLst/>
              <a:uFillTx/>
              <a:latin typeface="Arial"/>
            </a:endParaRPr>
          </a:p>
          <a:p>
            <a:pPr marL="216000" indent="-216000">
              <a:buClr>
                <a:srgbClr val="000000"/>
              </a:buClr>
              <a:buSzPct val="45000"/>
              <a:buFont typeface="Wingdings" charset="2"/>
              <a:buChar char=""/>
            </a:pPr>
            <a:r>
              <a:rPr lang="en-US" sz="1800" b="0" u="none" strike="noStrike">
                <a:solidFill>
                  <a:srgbClr val="000000"/>
                </a:solidFill>
                <a:effectLst/>
                <a:uFillTx/>
                <a:latin typeface="Arial"/>
              </a:rPr>
              <a:t>No tenemos informacion que pueda soportar decisiones de adquirir mas recursos, o si los existentes son suficientes.</a:t>
            </a:r>
            <a:endParaRPr lang="en-US" sz="1800" b="0" u="none" strike="noStrike">
              <a:solidFill>
                <a:srgbClr val="000000"/>
              </a:solidFill>
              <a:effectLst/>
              <a:uFillTx/>
              <a:latin typeface="Arial"/>
            </a:endParaRPr>
          </a:p>
          <a:p>
            <a:pPr marL="216000" indent="-216000">
              <a:buClr>
                <a:srgbClr val="000000"/>
              </a:buClr>
              <a:buSzPct val="45000"/>
              <a:buFont typeface="Wingdings" charset="2"/>
              <a:buChar char=""/>
            </a:pPr>
            <a:r>
              <a:rPr lang="en-US" sz="1800" b="0" u="none" strike="noStrike">
                <a:solidFill>
                  <a:srgbClr val="000000"/>
                </a:solidFill>
                <a:effectLst/>
                <a:uFillTx/>
                <a:latin typeface="Arial"/>
              </a:rPr>
              <a:t>No existe un camino claro y especifico para solucionar problemas aunque sean similares.</a:t>
            </a:r>
            <a:endParaRPr lang="en-US" sz="1800" b="0" u="none" strike="noStrike">
              <a:solidFill>
                <a:srgbClr val="000000"/>
              </a:solidFill>
              <a:effectLst/>
              <a:uFillTx/>
              <a:latin typeface="Arial"/>
            </a:endParaRPr>
          </a:p>
          <a:p>
            <a:pPr marL="216000" indent="-216000">
              <a:buClr>
                <a:srgbClr val="000000"/>
              </a:buClr>
              <a:buSzPct val="45000"/>
              <a:buFont typeface="Wingdings" charset="2"/>
              <a:buChar char=""/>
            </a:pPr>
            <a:r>
              <a:rPr lang="en-US" sz="1800" b="0" u="none" strike="noStrike">
                <a:solidFill>
                  <a:srgbClr val="000000"/>
                </a:solidFill>
                <a:effectLst/>
                <a:uFillTx/>
                <a:latin typeface="Arial"/>
              </a:rPr>
              <a:t>No hay manera de planear mejoras o medidas de mitigacion ya que no conocemos que problemas nos afectan mas y asi poder enfocar recursos.</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A6099"/>
        </a:solidFill>
      </p:bgPr>
    </p:bg>
    <p:spTree>
      <p:nvGrpSpPr>
        <p:cNvPr id="1" name=""/>
        <p:cNvGrpSpPr/>
        <p:nvPr/>
      </p:nvGrpSpPr>
      <p:grpSpPr>
        <a:xfrm>
          <a:off x="0" y="0"/>
          <a:ext cx="0" cy="0"/>
          <a:chOff x="0" y="0"/>
          <a:chExt cx="0" cy="0"/>
        </a:xfrm>
      </p:grpSpPr>
      <p:sp>
        <p:nvSpPr>
          <p:cNvPr id="186" name="Shape 25"/>
          <p:cNvSpPr/>
          <p:nvPr/>
        </p:nvSpPr>
        <p:spPr>
          <a:xfrm>
            <a:off x="639720" y="6510240"/>
            <a:ext cx="10878840" cy="360"/>
          </a:xfrm>
          <a:prstGeom prst="line">
            <a:avLst/>
          </a:prstGeom>
          <a:ln w="6350">
            <a:solidFill>
              <a:srgbClr val="D9E3EA"/>
            </a:solidFill>
            <a:round/>
          </a:ln>
        </p:spPr>
        <p:style>
          <a:lnRef idx="0"/>
          <a:fillRef idx="0"/>
          <a:effectRef idx="0"/>
          <a:fontRef idx="minor"/>
        </p:style>
        <p:txBody>
          <a:bodyPr lIns="90000" tIns="-44640" rIns="90000" bIns="-44640" anchor="t" anchorCtr="1">
            <a:noAutofit/>
          </a:bodyPr>
          <a:p>
            <a:endParaRPr lang="en-US" sz="1800" b="0" u="none" strike="noStrike">
              <a:solidFill>
                <a:srgbClr val="FFFFFF"/>
              </a:solidFill>
              <a:effectLst/>
              <a:uFillTx/>
              <a:latin typeface="Arial"/>
            </a:endParaRPr>
          </a:p>
        </p:txBody>
      </p:sp>
      <p:sp>
        <p:nvSpPr>
          <p:cNvPr id="187" name="Text 34"/>
          <p:cNvSpPr/>
          <p:nvPr/>
        </p:nvSpPr>
        <p:spPr>
          <a:xfrm>
            <a:off x="639720" y="6583680"/>
            <a:ext cx="365652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0" u="none" strike="noStrike">
                <a:solidFill>
                  <a:srgbClr val="65758B"/>
                </a:solidFill>
                <a:effectLst/>
                <a:uFillTx/>
                <a:latin typeface="Aptos"/>
              </a:rPr>
              <a:t>ServiceDesk Kick-off</a:t>
            </a:r>
            <a:endParaRPr lang="en-US" sz="800" b="0" u="none" strike="noStrike">
              <a:solidFill>
                <a:srgbClr val="FFFFFF"/>
              </a:solidFill>
              <a:effectLst/>
              <a:uFillTx/>
              <a:latin typeface="Arial"/>
            </a:endParaRPr>
          </a:p>
        </p:txBody>
      </p:sp>
      <p:sp>
        <p:nvSpPr>
          <p:cNvPr id="188" name="Text 38"/>
          <p:cNvSpPr/>
          <p:nvPr/>
        </p:nvSpPr>
        <p:spPr>
          <a:xfrm>
            <a:off x="10969920" y="6565320"/>
            <a:ext cx="548280" cy="1825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00" b="0" u="none" strike="noStrike">
                <a:solidFill>
                  <a:srgbClr val="65758B"/>
                </a:solidFill>
                <a:effectLst/>
                <a:uFillTx/>
                <a:latin typeface="Aptos"/>
              </a:rPr>
              <a:t>07</a:t>
            </a:r>
            <a:endParaRPr lang="en-US" sz="800" b="0" u="none" strike="noStrike">
              <a:solidFill>
                <a:srgbClr val="FFFFFF"/>
              </a:solidFill>
              <a:effectLst/>
              <a:uFillTx/>
              <a:latin typeface="Arial"/>
            </a:endParaRPr>
          </a:p>
        </p:txBody>
      </p:sp>
      <p:sp>
        <p:nvSpPr>
          <p:cNvPr id="189" name=""/>
          <p:cNvSpPr txBox="1"/>
          <p:nvPr/>
        </p:nvSpPr>
        <p:spPr>
          <a:xfrm>
            <a:off x="4114800" y="228600"/>
            <a:ext cx="2975760" cy="346320"/>
          </a:xfrm>
          <a:prstGeom prst="rect">
            <a:avLst/>
          </a:prstGeom>
          <a:noFill/>
          <a:ln w="0">
            <a:noFill/>
          </a:ln>
        </p:spPr>
        <p:txBody>
          <a:bodyPr wrap="none" lIns="90000" tIns="45000" rIns="90000" bIns="45000" anchor="t">
            <a:spAutoFit/>
          </a:bodyPr>
          <a:p>
            <a:r>
              <a:rPr lang="en-US" sz="1800" b="0" u="none" strike="noStrike">
                <a:solidFill>
                  <a:srgbClr val="FFFFFF"/>
                </a:solidFill>
                <a:effectLst/>
                <a:uFillTx/>
                <a:latin typeface="Arial"/>
              </a:rPr>
              <a:t>Laura Martinez CEO ACME</a:t>
            </a:r>
            <a:endParaRPr lang="en-US" sz="1800" b="0" u="none" strike="noStrike">
              <a:solidFill>
                <a:srgbClr val="FFFFFF"/>
              </a:solidFill>
              <a:effectLst/>
              <a:uFillTx/>
              <a:latin typeface="Arial"/>
            </a:endParaRPr>
          </a:p>
        </p:txBody>
      </p:sp>
      <p:pic>
        <p:nvPicPr>
          <p:cNvPr id="190" name=""/>
          <p:cNvPicPr/>
          <p:nvPr/>
        </p:nvPicPr>
        <p:blipFill>
          <a:blip r:embed="rId1"/>
          <a:stretch/>
        </p:blipFill>
        <p:spPr>
          <a:xfrm>
            <a:off x="1097640" y="457200"/>
            <a:ext cx="9875160" cy="6857640"/>
          </a:xfrm>
          <a:prstGeom prst="rect">
            <a:avLst/>
          </a:prstGeom>
          <a:noFill/>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A6099"/>
        </a:solidFill>
      </p:bgPr>
    </p:bg>
    <p:spTree>
      <p:nvGrpSpPr>
        <p:cNvPr id="1" name=""/>
        <p:cNvGrpSpPr/>
        <p:nvPr/>
      </p:nvGrpSpPr>
      <p:grpSpPr>
        <a:xfrm>
          <a:off x="0" y="0"/>
          <a:ext cx="0" cy="0"/>
          <a:chOff x="0" y="0"/>
          <a:chExt cx="0" cy="0"/>
        </a:xfrm>
      </p:grpSpPr>
      <p:sp>
        <p:nvSpPr>
          <p:cNvPr id="191" name="Shape 27"/>
          <p:cNvSpPr/>
          <p:nvPr/>
        </p:nvSpPr>
        <p:spPr>
          <a:xfrm>
            <a:off x="639720" y="6510240"/>
            <a:ext cx="10878840" cy="360"/>
          </a:xfrm>
          <a:prstGeom prst="line">
            <a:avLst/>
          </a:prstGeom>
          <a:ln w="6350">
            <a:solidFill>
              <a:srgbClr val="D9E3EA"/>
            </a:solidFill>
            <a:round/>
          </a:ln>
        </p:spPr>
        <p:style>
          <a:lnRef idx="0"/>
          <a:fillRef idx="0"/>
          <a:effectRef idx="0"/>
          <a:fontRef idx="minor"/>
        </p:style>
        <p:txBody>
          <a:bodyPr lIns="90000" tIns="-44640" rIns="90000" bIns="-44640" anchor="t" anchorCtr="1">
            <a:noAutofit/>
          </a:bodyPr>
          <a:p>
            <a:endParaRPr lang="en-US" sz="1800" b="0" u="none" strike="noStrike">
              <a:solidFill>
                <a:srgbClr val="FFFFFF"/>
              </a:solidFill>
              <a:effectLst/>
              <a:uFillTx/>
              <a:latin typeface="Arial"/>
            </a:endParaRPr>
          </a:p>
        </p:txBody>
      </p:sp>
      <p:sp>
        <p:nvSpPr>
          <p:cNvPr id="192" name="Text 41"/>
          <p:cNvSpPr/>
          <p:nvPr/>
        </p:nvSpPr>
        <p:spPr>
          <a:xfrm>
            <a:off x="639720" y="6583680"/>
            <a:ext cx="365652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0" u="none" strike="noStrike">
                <a:solidFill>
                  <a:srgbClr val="65758B"/>
                </a:solidFill>
                <a:effectLst/>
                <a:uFillTx/>
                <a:latin typeface="Aptos"/>
              </a:rPr>
              <a:t>ServiceDesk Kick-off</a:t>
            </a:r>
            <a:endParaRPr lang="en-US" sz="800" b="0" u="none" strike="noStrike">
              <a:solidFill>
                <a:srgbClr val="FFFFFF"/>
              </a:solidFill>
              <a:effectLst/>
              <a:uFillTx/>
              <a:latin typeface="Arial"/>
            </a:endParaRPr>
          </a:p>
        </p:txBody>
      </p:sp>
      <p:sp>
        <p:nvSpPr>
          <p:cNvPr id="193" name="Text 42"/>
          <p:cNvSpPr/>
          <p:nvPr/>
        </p:nvSpPr>
        <p:spPr>
          <a:xfrm>
            <a:off x="10969920" y="6565320"/>
            <a:ext cx="548280" cy="1825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00" b="0" u="none" strike="noStrike">
                <a:solidFill>
                  <a:srgbClr val="65758B"/>
                </a:solidFill>
                <a:effectLst/>
                <a:uFillTx/>
                <a:latin typeface="Aptos"/>
              </a:rPr>
              <a:t>07</a:t>
            </a:r>
            <a:endParaRPr lang="en-US" sz="800" b="0" u="none" strike="noStrike">
              <a:solidFill>
                <a:srgbClr val="FFFFFF"/>
              </a:solidFill>
              <a:effectLst/>
              <a:uFillTx/>
              <a:latin typeface="Arial"/>
            </a:endParaRPr>
          </a:p>
        </p:txBody>
      </p:sp>
      <p:sp>
        <p:nvSpPr>
          <p:cNvPr id="194" name=""/>
          <p:cNvSpPr txBox="1"/>
          <p:nvPr/>
        </p:nvSpPr>
        <p:spPr>
          <a:xfrm>
            <a:off x="4114800" y="228600"/>
            <a:ext cx="2975760" cy="346320"/>
          </a:xfrm>
          <a:prstGeom prst="rect">
            <a:avLst/>
          </a:prstGeom>
          <a:noFill/>
          <a:ln w="0">
            <a:noFill/>
          </a:ln>
        </p:spPr>
        <p:txBody>
          <a:bodyPr wrap="none" lIns="90000" tIns="45000" rIns="90000" bIns="45000" anchor="t">
            <a:spAutoFit/>
          </a:bodyPr>
          <a:p>
            <a:r>
              <a:rPr lang="en-US" sz="1800" b="0" u="none" strike="noStrike">
                <a:solidFill>
                  <a:srgbClr val="FFFFFF"/>
                </a:solidFill>
                <a:effectLst/>
                <a:uFillTx/>
                <a:latin typeface="Arial"/>
              </a:rPr>
              <a:t>Laura Martinez CEO ACME</a:t>
            </a:r>
            <a:endParaRPr lang="en-US" sz="1800" b="0" u="none" strike="noStrike">
              <a:solidFill>
                <a:srgbClr val="FFFFFF"/>
              </a:solidFill>
              <a:effectLst/>
              <a:uFillTx/>
              <a:latin typeface="Arial"/>
            </a:endParaRPr>
          </a:p>
        </p:txBody>
      </p:sp>
      <p:sp>
        <p:nvSpPr>
          <p:cNvPr id="195" name=""/>
          <p:cNvSpPr txBox="1"/>
          <p:nvPr/>
        </p:nvSpPr>
        <p:spPr>
          <a:xfrm>
            <a:off x="1600200" y="1143000"/>
            <a:ext cx="8179200" cy="2901240"/>
          </a:xfrm>
          <a:prstGeom prst="rect">
            <a:avLst/>
          </a:prstGeom>
          <a:noFill/>
          <a:ln w="0">
            <a:noFill/>
          </a:ln>
        </p:spPr>
        <p:txBody>
          <a:bodyPr lIns="90000" tIns="45000" rIns="90000" bIns="45000" anchor="t">
            <a:spAutoFit/>
          </a:bodyPr>
          <a:p>
            <a:r>
              <a:rPr lang="en-US" sz="1000" b="0" u="none" strike="noStrike">
                <a:solidFill>
                  <a:srgbClr val="FFFFFF"/>
                </a:solidFill>
                <a:effectLst/>
                <a:uFillTx/>
                <a:latin typeface="Arial"/>
              </a:rPr>
              <a:t>En teoría, el punto de entrada debería ser el buzón support@acme.com. La idea original era que cualquier empleado enviara ahí su problema y que uno de los analistas lo tomara. El problema es que eso nunca se convirtió realmente en una regla. Mucha gente sigue escribiéndole directamente al analista que conoce, manda mensajes por Teams, llama por teléfono o simplemente se acerca cuando está en la oficina.</a:t>
            </a:r>
            <a:endParaRPr lang="en-US" sz="1000" b="0" u="none" strike="noStrike">
              <a:solidFill>
                <a:srgbClr val="FFFFFF"/>
              </a:solidFill>
              <a:effectLst/>
              <a:uFillTx/>
              <a:latin typeface="Arial"/>
            </a:endParaRPr>
          </a:p>
          <a:p>
            <a:r>
              <a:rPr lang="en-US" sz="1000" b="0" u="none" strike="noStrike">
                <a:solidFill>
                  <a:srgbClr val="FFFFFF"/>
                </a:solidFill>
                <a:effectLst/>
                <a:uFillTx/>
                <a:latin typeface="Arial"/>
              </a:rPr>
              <a:t>Cuando una solicitud llega al buzón, los analistas revisan los correos y, según quién esté disponible o quién conozca el tema, alguien empieza a atenderla. No tenemos una asignación formal. A veces Miguel reparte algunos casos, sobre todo cuando ve que algo parece importante, pero muchas veces los propios analistas se coordinan entre ellos.</a:t>
            </a:r>
            <a:endParaRPr lang="en-US" sz="1000" b="0" u="none" strike="noStrike">
              <a:solidFill>
                <a:srgbClr val="FFFFFF"/>
              </a:solidFill>
              <a:effectLst/>
              <a:uFillTx/>
              <a:latin typeface="Arial"/>
            </a:endParaRPr>
          </a:p>
          <a:p>
            <a:r>
              <a:rPr lang="en-US" sz="1000" b="0" u="none" strike="noStrike">
                <a:solidFill>
                  <a:srgbClr val="FFFFFF"/>
                </a:solidFill>
                <a:effectLst/>
                <a:uFillTx/>
                <a:latin typeface="Arial"/>
              </a:rPr>
              <a:t>Tenemos una hoja compartida en Excel donde supuestamente deberían registrar las solicitudes. Ahí ponen cosas como usuario, fecha, una descripción corta, quién lo atendió y si quedó resuelto. Pero no siempre se llena. Si alguien recibe una llamada y resuelve el problema en cinco minutos, por ejemplo, es muy probable que nunca aparezca en el Excel.</a:t>
            </a:r>
            <a:endParaRPr lang="en-US" sz="1000" b="0" u="none" strike="noStrike">
              <a:solidFill>
                <a:srgbClr val="FFFFFF"/>
              </a:solidFill>
              <a:effectLst/>
              <a:uFillTx/>
              <a:latin typeface="Arial"/>
            </a:endParaRPr>
          </a:p>
          <a:p>
            <a:r>
              <a:rPr lang="en-US" sz="1000" b="0" u="none" strike="noStrike">
                <a:solidFill>
                  <a:srgbClr val="FFFFFF"/>
                </a:solidFill>
                <a:effectLst/>
                <a:uFillTx/>
                <a:latin typeface="Arial"/>
              </a:rPr>
              <a:t>Con Teams ocurre lo mismo. Un usuario puede escribirle directamente a Andrea, por ejemplo, ella le ayuda y ahí termina todo. Desde el punto de vista del usuario, funcionó perfectamente. Desde mi punto de vista, esa solicitud nunca existió.</a:t>
            </a:r>
            <a:endParaRPr lang="en-US" sz="1000" b="0" u="none" strike="noStrike">
              <a:solidFill>
                <a:srgbClr val="FFFFFF"/>
              </a:solidFill>
              <a:effectLst/>
              <a:uFillTx/>
              <a:latin typeface="Arial"/>
            </a:endParaRPr>
          </a:p>
          <a:p>
            <a:endParaRPr lang="en-US"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A6099"/>
        </a:solidFill>
      </p:bgPr>
    </p:bg>
    <p:spTree>
      <p:nvGrpSpPr>
        <p:cNvPr id="1" name=""/>
        <p:cNvGrpSpPr/>
        <p:nvPr/>
      </p:nvGrpSpPr>
      <p:grpSpPr>
        <a:xfrm>
          <a:off x="0" y="0"/>
          <a:ext cx="0" cy="0"/>
          <a:chOff x="0" y="0"/>
          <a:chExt cx="0" cy="0"/>
        </a:xfrm>
      </p:grpSpPr>
      <p:sp>
        <p:nvSpPr>
          <p:cNvPr id="196" name="Shape 30"/>
          <p:cNvSpPr/>
          <p:nvPr/>
        </p:nvSpPr>
        <p:spPr>
          <a:xfrm>
            <a:off x="639720" y="6510240"/>
            <a:ext cx="10878840" cy="360"/>
          </a:xfrm>
          <a:prstGeom prst="line">
            <a:avLst/>
          </a:prstGeom>
          <a:ln w="6350">
            <a:solidFill>
              <a:srgbClr val="D9E3EA"/>
            </a:solidFill>
            <a:round/>
          </a:ln>
        </p:spPr>
        <p:style>
          <a:lnRef idx="0"/>
          <a:fillRef idx="0"/>
          <a:effectRef idx="0"/>
          <a:fontRef idx="minor"/>
        </p:style>
        <p:txBody>
          <a:bodyPr lIns="90000" tIns="-44640" rIns="90000" bIns="-44640" anchor="t" anchorCtr="1">
            <a:noAutofit/>
          </a:bodyPr>
          <a:p>
            <a:endParaRPr lang="en-US" sz="1800" b="0" u="none" strike="noStrike">
              <a:solidFill>
                <a:srgbClr val="FFFFFF"/>
              </a:solidFill>
              <a:effectLst/>
              <a:uFillTx/>
              <a:latin typeface="Arial"/>
            </a:endParaRPr>
          </a:p>
        </p:txBody>
      </p:sp>
      <p:sp>
        <p:nvSpPr>
          <p:cNvPr id="197" name="Text 43"/>
          <p:cNvSpPr/>
          <p:nvPr/>
        </p:nvSpPr>
        <p:spPr>
          <a:xfrm>
            <a:off x="639720" y="6583680"/>
            <a:ext cx="365652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0" u="none" strike="noStrike">
                <a:solidFill>
                  <a:srgbClr val="65758B"/>
                </a:solidFill>
                <a:effectLst/>
                <a:uFillTx/>
                <a:latin typeface="Aptos"/>
              </a:rPr>
              <a:t>ServiceDesk Kick-off</a:t>
            </a:r>
            <a:endParaRPr lang="en-US" sz="800" b="0" u="none" strike="noStrike">
              <a:solidFill>
                <a:srgbClr val="FFFFFF"/>
              </a:solidFill>
              <a:effectLst/>
              <a:uFillTx/>
              <a:latin typeface="Arial"/>
            </a:endParaRPr>
          </a:p>
        </p:txBody>
      </p:sp>
      <p:sp>
        <p:nvSpPr>
          <p:cNvPr id="198" name="Text 44"/>
          <p:cNvSpPr/>
          <p:nvPr/>
        </p:nvSpPr>
        <p:spPr>
          <a:xfrm>
            <a:off x="10969920" y="6565320"/>
            <a:ext cx="548280" cy="1825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00" b="0" u="none" strike="noStrike">
                <a:solidFill>
                  <a:srgbClr val="65758B"/>
                </a:solidFill>
                <a:effectLst/>
                <a:uFillTx/>
                <a:latin typeface="Aptos"/>
              </a:rPr>
              <a:t>07</a:t>
            </a:r>
            <a:endParaRPr lang="en-US" sz="800" b="0" u="none" strike="noStrike">
              <a:solidFill>
                <a:srgbClr val="FFFFFF"/>
              </a:solidFill>
              <a:effectLst/>
              <a:uFillTx/>
              <a:latin typeface="Arial"/>
            </a:endParaRPr>
          </a:p>
        </p:txBody>
      </p:sp>
      <p:sp>
        <p:nvSpPr>
          <p:cNvPr id="199" name=""/>
          <p:cNvSpPr txBox="1"/>
          <p:nvPr/>
        </p:nvSpPr>
        <p:spPr>
          <a:xfrm>
            <a:off x="4114800" y="228600"/>
            <a:ext cx="2975760" cy="346320"/>
          </a:xfrm>
          <a:prstGeom prst="rect">
            <a:avLst/>
          </a:prstGeom>
          <a:noFill/>
          <a:ln w="0">
            <a:noFill/>
          </a:ln>
        </p:spPr>
        <p:txBody>
          <a:bodyPr wrap="none" lIns="90000" tIns="45000" rIns="90000" bIns="45000" anchor="t">
            <a:spAutoFit/>
          </a:bodyPr>
          <a:p>
            <a:r>
              <a:rPr lang="en-US" sz="1800" b="0" u="none" strike="noStrike">
                <a:solidFill>
                  <a:srgbClr val="FFFFFF"/>
                </a:solidFill>
                <a:effectLst/>
                <a:uFillTx/>
                <a:latin typeface="Arial"/>
              </a:rPr>
              <a:t>Laura Martinez CEO ACME</a:t>
            </a:r>
            <a:endParaRPr lang="en-US" sz="1800" b="0" u="none" strike="noStrike">
              <a:solidFill>
                <a:srgbClr val="FFFFFF"/>
              </a:solidFill>
              <a:effectLst/>
              <a:uFillTx/>
              <a:latin typeface="Arial"/>
            </a:endParaRPr>
          </a:p>
        </p:txBody>
      </p:sp>
      <p:sp>
        <p:nvSpPr>
          <p:cNvPr id="200" name=""/>
          <p:cNvSpPr txBox="1"/>
          <p:nvPr/>
        </p:nvSpPr>
        <p:spPr>
          <a:xfrm>
            <a:off x="685800" y="685800"/>
            <a:ext cx="9829800" cy="5976360"/>
          </a:xfrm>
          <a:prstGeom prst="rect">
            <a:avLst/>
          </a:prstGeom>
          <a:noFill/>
          <a:ln w="0">
            <a:noFill/>
          </a:ln>
        </p:spPr>
        <p:txBody>
          <a:bodyPr lIns="90000" tIns="45000" rIns="90000" bIns="45000" anchor="t">
            <a:spAutoFit/>
          </a:bodyPr>
          <a:p>
            <a:r>
              <a:rPr lang="en-US" sz="1000" b="0" u="none" strike="noStrike">
                <a:solidFill>
                  <a:srgbClr val="FFFFFF"/>
                </a:solidFill>
                <a:effectLst/>
                <a:uFillTx/>
                <a:latin typeface="Arial"/>
              </a:rPr>
              <a:t>ampoco tenemos categorías muy bien definidas. En el Excel hay algunas, como hardware, software, accesos, red y “otros”, pero la clasificación depende mucho de quien registra el caso. “No puedo entrar a SAP”, por ejemplo, podría terminar como software, acceso o incluso otros.</a:t>
            </a:r>
            <a:endParaRPr lang="en-US" sz="1000" b="0" u="none" strike="noStrike">
              <a:solidFill>
                <a:srgbClr val="FFFFFF"/>
              </a:solidFill>
              <a:effectLst/>
              <a:uFillTx/>
              <a:latin typeface="Arial"/>
            </a:endParaRPr>
          </a:p>
          <a:p>
            <a:r>
              <a:rPr lang="en-US" sz="1000" b="0" u="none" strike="noStrike">
                <a:solidFill>
                  <a:srgbClr val="FFFFFF"/>
                </a:solidFill>
                <a:effectLst/>
                <a:uFillTx/>
                <a:latin typeface="Arial"/>
              </a:rPr>
              <a:t>En cuanto a prioridades, tampoco tenemos algo muy formal. El equipo utiliza bastante el criterio personal. Si alguien dice que “es urgente”, probablemente lo atienden rápido. Si llama un director, naturalmente recibe atención inmediata. Y cuando algo afecta a varias personas, normalmente nos enteramos porque empiezan a llegar muchos mensajes.</a:t>
            </a:r>
            <a:endParaRPr lang="en-US" sz="1000" b="0" u="none" strike="noStrike">
              <a:solidFill>
                <a:srgbClr val="FFFFFF"/>
              </a:solidFill>
              <a:effectLst/>
              <a:uFillTx/>
              <a:latin typeface="Arial"/>
            </a:endParaRPr>
          </a:p>
          <a:p>
            <a:r>
              <a:rPr lang="en-US" sz="1000" b="0" u="none" strike="noStrike">
                <a:solidFill>
                  <a:srgbClr val="FFFFFF"/>
                </a:solidFill>
                <a:effectLst/>
                <a:uFillTx/>
                <a:latin typeface="Arial"/>
              </a:rPr>
              <a:t>No tenemos una definición clara de qué es prioridad alta, media o baja, ni tiempos comprometidos de respuesta o resolución.</a:t>
            </a:r>
            <a:endParaRPr lang="en-US" sz="1000" b="0" u="none" strike="noStrike">
              <a:solidFill>
                <a:srgbClr val="FFFFFF"/>
              </a:solidFill>
              <a:effectLst/>
              <a:uFillTx/>
              <a:latin typeface="Arial"/>
            </a:endParaRPr>
          </a:p>
          <a:p>
            <a:r>
              <a:rPr lang="en-US" sz="1000" b="0" u="none" strike="noStrike">
                <a:solidFill>
                  <a:srgbClr val="FFFFFF"/>
                </a:solidFill>
                <a:effectLst/>
                <a:uFillTx/>
                <a:latin typeface="Arial"/>
              </a:rPr>
              <a:t>Cuando Service Desk no puede resolver algo, empieza otra parte bastante informal del proceso.</a:t>
            </a:r>
            <a:endParaRPr lang="en-US" sz="1000" b="0" u="none" strike="noStrike">
              <a:solidFill>
                <a:srgbClr val="FFFFFF"/>
              </a:solidFill>
              <a:effectLst/>
              <a:uFillTx/>
              <a:latin typeface="Arial"/>
            </a:endParaRPr>
          </a:p>
          <a:p>
            <a:r>
              <a:rPr lang="en-US" sz="1000" b="0" u="none" strike="noStrike">
                <a:solidFill>
                  <a:srgbClr val="FFFFFF"/>
                </a:solidFill>
                <a:effectLst/>
                <a:uFillTx/>
                <a:latin typeface="Arial"/>
              </a:rPr>
              <a:t>Supongamos que Roberto determina que el problema parece ser de red. Puede escribirle por Teams a alguien de Infraestructura, mandar un correo o acercarse directamente con la persona que conoce. A veces Miguel ayuda a coordinar la escalación.</a:t>
            </a:r>
            <a:endParaRPr lang="en-US" sz="1000" b="0" u="none" strike="noStrike">
              <a:solidFill>
                <a:srgbClr val="FFFFFF"/>
              </a:solidFill>
              <a:effectLst/>
              <a:uFillTx/>
              <a:latin typeface="Arial"/>
            </a:endParaRPr>
          </a:p>
          <a:p>
            <a:r>
              <a:rPr lang="en-US" sz="1000" b="0" u="none" strike="noStrike">
                <a:solidFill>
                  <a:srgbClr val="FFFFFF"/>
                </a:solidFill>
                <a:effectLst/>
                <a:uFillTx/>
                <a:latin typeface="Arial"/>
              </a:rPr>
              <a:t>Pero no existe algo como “este caso fue transferido a Infraestructura a las 10:32 y ahora Ricardo es responsable”. Esa trazabilidad prácticamente no existe.</a:t>
            </a:r>
            <a:endParaRPr lang="en-US" sz="1000" b="0" u="none" strike="noStrike">
              <a:solidFill>
                <a:srgbClr val="FFFFFF"/>
              </a:solidFill>
              <a:effectLst/>
              <a:uFillTx/>
              <a:latin typeface="Arial"/>
            </a:endParaRPr>
          </a:p>
          <a:p>
            <a:r>
              <a:rPr lang="en-US" sz="1000" b="0" u="none" strike="noStrike">
                <a:solidFill>
                  <a:srgbClr val="FFFFFF"/>
                </a:solidFill>
                <a:effectLst/>
                <a:uFillTx/>
                <a:latin typeface="Arial"/>
              </a:rPr>
              <a:t>Y eso ocasiona otro problema. Service Desk puede pensar que el caso ya está con Infraestructura, mientras Infraestructura puede verlo simplemente como “Roberto me preguntó algo por Teams”.</a:t>
            </a:r>
            <a:endParaRPr lang="en-US" sz="1000" b="0" u="none" strike="noStrike">
              <a:solidFill>
                <a:srgbClr val="FFFFFF"/>
              </a:solidFill>
              <a:effectLst/>
              <a:uFillTx/>
              <a:latin typeface="Arial"/>
            </a:endParaRPr>
          </a:p>
          <a:p>
            <a:r>
              <a:rPr lang="en-US" sz="1000" b="0" u="none" strike="noStrike">
                <a:solidFill>
                  <a:srgbClr val="FFFFFF"/>
                </a:solidFill>
                <a:effectLst/>
                <a:uFillTx/>
                <a:latin typeface="Arial"/>
              </a:rPr>
              <a:t>Con Aplicaciones sucede algo parecido. Algunas aplicaciones tienen personas que todo el mundo conoce, así que los usuarios incluso se saltan Service Desk y contactan directamente al desarrollador o al responsable de la aplicación.</a:t>
            </a:r>
            <a:endParaRPr lang="en-US" sz="1000" b="0" u="none" strike="noStrike">
              <a:solidFill>
                <a:srgbClr val="FFFFFF"/>
              </a:solidFill>
              <a:effectLst/>
              <a:uFillTx/>
              <a:latin typeface="Arial"/>
            </a:endParaRPr>
          </a:p>
          <a:p>
            <a:r>
              <a:rPr lang="en-US" sz="1000" b="0" u="none" strike="noStrike">
                <a:solidFill>
                  <a:srgbClr val="FFFFFF"/>
                </a:solidFill>
                <a:effectLst/>
                <a:uFillTx/>
                <a:latin typeface="Arial"/>
              </a:rPr>
              <a:t>Seguridad es un poco diferente porque tienen procesos más controlados para ciertos accesos, pero aun así Service Desk recibe muchas solicitudes que terminan involucrándolos.</a:t>
            </a:r>
            <a:endParaRPr lang="en-US" sz="1000" b="0" u="none" strike="noStrike">
              <a:solidFill>
                <a:srgbClr val="FFFFFF"/>
              </a:solidFill>
              <a:effectLst/>
              <a:uFillTx/>
              <a:latin typeface="Arial"/>
            </a:endParaRPr>
          </a:p>
          <a:p>
            <a:r>
              <a:rPr lang="en-US" sz="1000" b="0" u="none" strike="noStrike">
                <a:solidFill>
                  <a:srgbClr val="FFFFFF"/>
                </a:solidFill>
                <a:effectLst/>
                <a:uFillTx/>
                <a:latin typeface="Arial"/>
              </a:rPr>
              <a:t>Hay además solicitudes que no son realmente incidentes.</a:t>
            </a:r>
            <a:endParaRPr lang="en-US" sz="1000" b="0" u="none" strike="noStrike">
              <a:solidFill>
                <a:srgbClr val="FFFFFF"/>
              </a:solidFill>
              <a:effectLst/>
              <a:uFillTx/>
              <a:latin typeface="Arial"/>
            </a:endParaRPr>
          </a:p>
          <a:p>
            <a:r>
              <a:rPr lang="en-US" sz="1000" b="0" u="none" strike="noStrike">
                <a:solidFill>
                  <a:srgbClr val="FFFFFF"/>
                </a:solidFill>
                <a:effectLst/>
                <a:uFillTx/>
                <a:latin typeface="Arial"/>
              </a:rPr>
              <a:t>Por ejemplo, alguien necesita instalar software, necesita acceso a una carpeta, solicita un equipo, requiere una licencia o necesita que le configuren algo. Todo eso termina mezclado con “mi computadora dejó de funcionar”.</a:t>
            </a:r>
            <a:endParaRPr lang="en-US" sz="1000" b="0" u="none" strike="noStrike">
              <a:solidFill>
                <a:srgbClr val="FFFFFF"/>
              </a:solidFill>
              <a:effectLst/>
              <a:uFillTx/>
              <a:latin typeface="Arial"/>
            </a:endParaRPr>
          </a:p>
          <a:p>
            <a:endParaRPr lang="en-US"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A6099"/>
        </a:solidFill>
      </p:bgPr>
    </p:bg>
    <p:spTree>
      <p:nvGrpSpPr>
        <p:cNvPr id="1" name=""/>
        <p:cNvGrpSpPr/>
        <p:nvPr/>
      </p:nvGrpSpPr>
      <p:grpSpPr>
        <a:xfrm>
          <a:off x="0" y="0"/>
          <a:ext cx="0" cy="0"/>
          <a:chOff x="0" y="0"/>
          <a:chExt cx="0" cy="0"/>
        </a:xfrm>
      </p:grpSpPr>
      <p:sp>
        <p:nvSpPr>
          <p:cNvPr id="201" name="Shape 31"/>
          <p:cNvSpPr/>
          <p:nvPr/>
        </p:nvSpPr>
        <p:spPr>
          <a:xfrm>
            <a:off x="639720" y="6510240"/>
            <a:ext cx="10878840" cy="360"/>
          </a:xfrm>
          <a:prstGeom prst="line">
            <a:avLst/>
          </a:prstGeom>
          <a:ln w="6350">
            <a:solidFill>
              <a:srgbClr val="D9E3EA"/>
            </a:solidFill>
            <a:round/>
          </a:ln>
        </p:spPr>
        <p:style>
          <a:lnRef idx="0"/>
          <a:fillRef idx="0"/>
          <a:effectRef idx="0"/>
          <a:fontRef idx="minor"/>
        </p:style>
        <p:txBody>
          <a:bodyPr lIns="90000" tIns="-44640" rIns="90000" bIns="-44640" anchor="t" anchorCtr="1">
            <a:noAutofit/>
          </a:bodyPr>
          <a:p>
            <a:endParaRPr lang="en-US" sz="1800" b="0" u="none" strike="noStrike">
              <a:solidFill>
                <a:srgbClr val="FFFFFF"/>
              </a:solidFill>
              <a:effectLst/>
              <a:uFillTx/>
              <a:latin typeface="Arial"/>
            </a:endParaRPr>
          </a:p>
        </p:txBody>
      </p:sp>
      <p:sp>
        <p:nvSpPr>
          <p:cNvPr id="202" name="Text 45"/>
          <p:cNvSpPr/>
          <p:nvPr/>
        </p:nvSpPr>
        <p:spPr>
          <a:xfrm>
            <a:off x="639720" y="6583680"/>
            <a:ext cx="365652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0" u="none" strike="noStrike">
                <a:solidFill>
                  <a:srgbClr val="65758B"/>
                </a:solidFill>
                <a:effectLst/>
                <a:uFillTx/>
                <a:latin typeface="Aptos"/>
              </a:rPr>
              <a:t>ServiceDesk Kick-off</a:t>
            </a:r>
            <a:endParaRPr lang="en-US" sz="800" b="0" u="none" strike="noStrike">
              <a:solidFill>
                <a:srgbClr val="FFFFFF"/>
              </a:solidFill>
              <a:effectLst/>
              <a:uFillTx/>
              <a:latin typeface="Arial"/>
            </a:endParaRPr>
          </a:p>
        </p:txBody>
      </p:sp>
      <p:sp>
        <p:nvSpPr>
          <p:cNvPr id="203" name="Text 46"/>
          <p:cNvSpPr/>
          <p:nvPr/>
        </p:nvSpPr>
        <p:spPr>
          <a:xfrm>
            <a:off x="10969920" y="6565320"/>
            <a:ext cx="548280" cy="1825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00" b="0" u="none" strike="noStrike">
                <a:solidFill>
                  <a:srgbClr val="65758B"/>
                </a:solidFill>
                <a:effectLst/>
                <a:uFillTx/>
                <a:latin typeface="Aptos"/>
              </a:rPr>
              <a:t>07</a:t>
            </a:r>
            <a:endParaRPr lang="en-US" sz="800" b="0" u="none" strike="noStrike">
              <a:solidFill>
                <a:srgbClr val="FFFFFF"/>
              </a:solidFill>
              <a:effectLst/>
              <a:uFillTx/>
              <a:latin typeface="Arial"/>
            </a:endParaRPr>
          </a:p>
        </p:txBody>
      </p:sp>
      <p:sp>
        <p:nvSpPr>
          <p:cNvPr id="204" name=""/>
          <p:cNvSpPr txBox="1"/>
          <p:nvPr/>
        </p:nvSpPr>
        <p:spPr>
          <a:xfrm>
            <a:off x="4114800" y="228600"/>
            <a:ext cx="2975760" cy="346320"/>
          </a:xfrm>
          <a:prstGeom prst="rect">
            <a:avLst/>
          </a:prstGeom>
          <a:noFill/>
          <a:ln w="0">
            <a:noFill/>
          </a:ln>
        </p:spPr>
        <p:txBody>
          <a:bodyPr wrap="none" lIns="90000" tIns="45000" rIns="90000" bIns="45000" anchor="t">
            <a:spAutoFit/>
          </a:bodyPr>
          <a:p>
            <a:r>
              <a:rPr lang="en-US" sz="1800" b="0" u="none" strike="noStrike">
                <a:solidFill>
                  <a:srgbClr val="FFFFFF"/>
                </a:solidFill>
                <a:effectLst/>
                <a:uFillTx/>
                <a:latin typeface="Arial"/>
              </a:rPr>
              <a:t>Laura Martinez CEO ACME</a:t>
            </a:r>
            <a:endParaRPr lang="en-US" sz="1800" b="0" u="none" strike="noStrike">
              <a:solidFill>
                <a:srgbClr val="FFFFFF"/>
              </a:solidFill>
              <a:effectLst/>
              <a:uFillTx/>
              <a:latin typeface="Arial"/>
            </a:endParaRPr>
          </a:p>
        </p:txBody>
      </p:sp>
      <p:sp>
        <p:nvSpPr>
          <p:cNvPr id="205" name=""/>
          <p:cNvSpPr txBox="1"/>
          <p:nvPr/>
        </p:nvSpPr>
        <p:spPr>
          <a:xfrm>
            <a:off x="701280" y="685800"/>
            <a:ext cx="10957320" cy="5544360"/>
          </a:xfrm>
          <a:prstGeom prst="rect">
            <a:avLst/>
          </a:prstGeom>
          <a:noFill/>
          <a:ln w="0">
            <a:noFill/>
          </a:ln>
        </p:spPr>
        <p:txBody>
          <a:bodyPr lIns="90000" tIns="45000" rIns="90000" bIns="45000" anchor="t">
            <a:spAutoFit/>
          </a:bodyPr>
          <a:p>
            <a:r>
              <a:rPr lang="en-US" sz="1000" b="0" u="none" strike="noStrike">
                <a:solidFill>
                  <a:srgbClr val="FFFFFF"/>
                </a:solidFill>
                <a:effectLst/>
                <a:uFillTx/>
                <a:latin typeface="Arial"/>
              </a:rPr>
              <a:t>No hemos separado claramente incidentes de solicitudes de servicio.</a:t>
            </a:r>
            <a:endParaRPr lang="en-US" sz="1000" b="0" u="none" strike="noStrike">
              <a:solidFill>
                <a:srgbClr val="FFFFFF"/>
              </a:solidFill>
              <a:effectLst/>
              <a:uFillTx/>
              <a:latin typeface="Arial"/>
            </a:endParaRPr>
          </a:p>
          <a:p>
            <a:r>
              <a:rPr lang="en-US" sz="1000" b="0" u="none" strike="noStrike">
                <a:solidFill>
                  <a:srgbClr val="FFFFFF"/>
                </a:solidFill>
                <a:effectLst/>
                <a:uFillTx/>
                <a:latin typeface="Arial"/>
              </a:rPr>
              <a:t>Las altas de empleados son otro caso particular.</a:t>
            </a:r>
            <a:endParaRPr lang="en-US" sz="1000" b="0" u="none" strike="noStrike">
              <a:solidFill>
                <a:srgbClr val="FFFFFF"/>
              </a:solidFill>
              <a:effectLst/>
              <a:uFillTx/>
              <a:latin typeface="Arial"/>
            </a:endParaRPr>
          </a:p>
          <a:p>
            <a:r>
              <a:rPr lang="en-US" sz="1000" b="0" u="none" strike="noStrike">
                <a:solidFill>
                  <a:srgbClr val="FFFFFF"/>
                </a:solidFill>
                <a:effectLst/>
                <a:uFillTx/>
                <a:latin typeface="Arial"/>
              </a:rPr>
              <a:t>Recursos Humanos manda información cuando entra alguien nuevo. A partir de ahí hay que crear cuentas, asignar equipo, licencias, accesos y otras cosas. Parte lo hace Service Desk, parte Infraestructura y algunas cosas requieren aprobación del jefe del empleado.</a:t>
            </a:r>
            <a:endParaRPr lang="en-US" sz="1000" b="0" u="none" strike="noStrike">
              <a:solidFill>
                <a:srgbClr val="FFFFFF"/>
              </a:solidFill>
              <a:effectLst/>
              <a:uFillTx/>
              <a:latin typeface="Arial"/>
            </a:endParaRPr>
          </a:p>
          <a:p>
            <a:r>
              <a:rPr lang="en-US" sz="1000" b="0" u="none" strike="noStrike">
                <a:solidFill>
                  <a:srgbClr val="FFFFFF"/>
                </a:solidFill>
                <a:effectLst/>
                <a:uFillTx/>
                <a:latin typeface="Arial"/>
              </a:rPr>
              <a:t>Hay una especie de checklist, pero está en documentos y correos. No tenemos un flujo centralizado.</a:t>
            </a:r>
            <a:endParaRPr lang="en-US" sz="1000" b="0" u="none" strike="noStrike">
              <a:solidFill>
                <a:srgbClr val="FFFFFF"/>
              </a:solidFill>
              <a:effectLst/>
              <a:uFillTx/>
              <a:latin typeface="Arial"/>
            </a:endParaRPr>
          </a:p>
          <a:p>
            <a:r>
              <a:rPr lang="en-US" sz="1000" b="0" u="none" strike="noStrike">
                <a:solidFill>
                  <a:srgbClr val="FFFFFF"/>
                </a:solidFill>
                <a:effectLst/>
                <a:uFillTx/>
                <a:latin typeface="Arial"/>
              </a:rPr>
              <a:t>Las bajas también me preocupan bastante porque ahí necesitamos asegurarnos de que todos los accesos sean retirados a tiempo.</a:t>
            </a:r>
            <a:endParaRPr lang="en-US" sz="1000" b="0" u="none" strike="noStrike">
              <a:solidFill>
                <a:srgbClr val="FFFFFF"/>
              </a:solidFill>
              <a:effectLst/>
              <a:uFillTx/>
              <a:latin typeface="Arial"/>
            </a:endParaRPr>
          </a:p>
          <a:p>
            <a:r>
              <a:rPr lang="en-US" sz="1000" b="0" u="none" strike="noStrike">
                <a:solidFill>
                  <a:srgbClr val="FFFFFF"/>
                </a:solidFill>
                <a:effectLst/>
                <a:uFillTx/>
                <a:latin typeface="Arial"/>
              </a:rPr>
              <a:t>Sobre la comunicación con el usuario, depende del analista. Algunos responden por correo. Otros prefieren Teams. Si el usuario llamó, quizá lo llaman después para decirle que ya quedó.</a:t>
            </a:r>
            <a:endParaRPr lang="en-US" sz="1000" b="0" u="none" strike="noStrike">
              <a:solidFill>
                <a:srgbClr val="FFFFFF"/>
              </a:solidFill>
              <a:effectLst/>
              <a:uFillTx/>
              <a:latin typeface="Arial"/>
            </a:endParaRPr>
          </a:p>
          <a:p>
            <a:r>
              <a:rPr lang="en-US" sz="1000" b="0" u="none" strike="noStrike">
                <a:solidFill>
                  <a:srgbClr val="FFFFFF"/>
                </a:solidFill>
                <a:effectLst/>
                <a:uFillTx/>
                <a:latin typeface="Arial"/>
              </a:rPr>
              <a:t>No existe un lugar donde el usuario pueda consultar algo como “mi solicitud está en proceso”, “está esperando aprobación” o “ya fue escalada”.</a:t>
            </a:r>
            <a:endParaRPr lang="en-US" sz="1000" b="0" u="none" strike="noStrike">
              <a:solidFill>
                <a:srgbClr val="FFFFFF"/>
              </a:solidFill>
              <a:effectLst/>
              <a:uFillTx/>
              <a:latin typeface="Arial"/>
            </a:endParaRPr>
          </a:p>
          <a:p>
            <a:r>
              <a:rPr lang="en-US" sz="1000" b="0" u="none" strike="noStrike">
                <a:solidFill>
                  <a:srgbClr val="FFFFFF"/>
                </a:solidFill>
                <a:effectLst/>
                <a:uFillTx/>
                <a:latin typeface="Arial"/>
              </a:rPr>
              <a:t>Entonces muchas veces el usuario vuelve a preguntar.</a:t>
            </a:r>
            <a:endParaRPr lang="en-US" sz="1000" b="0" u="none" strike="noStrike">
              <a:solidFill>
                <a:srgbClr val="FFFFFF"/>
              </a:solidFill>
              <a:effectLst/>
              <a:uFillTx/>
              <a:latin typeface="Arial"/>
            </a:endParaRPr>
          </a:p>
          <a:p>
            <a:r>
              <a:rPr lang="en-US" sz="1000" b="0" u="none" strike="noStrike">
                <a:solidFill>
                  <a:srgbClr val="FFFFFF"/>
                </a:solidFill>
                <a:effectLst/>
                <a:uFillTx/>
                <a:latin typeface="Arial"/>
              </a:rPr>
              <a:t>“¿Cómo va lo mío?”</a:t>
            </a:r>
            <a:endParaRPr lang="en-US" sz="1000" b="0" u="none" strike="noStrike">
              <a:solidFill>
                <a:srgbClr val="FFFFFF"/>
              </a:solidFill>
              <a:effectLst/>
              <a:uFillTx/>
              <a:latin typeface="Arial"/>
            </a:endParaRPr>
          </a:p>
          <a:p>
            <a:r>
              <a:rPr lang="en-US" sz="1000" b="0" u="none" strike="noStrike">
                <a:solidFill>
                  <a:srgbClr val="FFFFFF"/>
                </a:solidFill>
                <a:effectLst/>
                <a:uFillTx/>
                <a:latin typeface="Arial"/>
              </a:rPr>
              <a:t>Y eso genera todavía más mensajes.</a:t>
            </a:r>
            <a:endParaRPr lang="en-US" sz="1000" b="0" u="none" strike="noStrike">
              <a:solidFill>
                <a:srgbClr val="FFFFFF"/>
              </a:solidFill>
              <a:effectLst/>
              <a:uFillTx/>
              <a:latin typeface="Arial"/>
            </a:endParaRPr>
          </a:p>
          <a:p>
            <a:r>
              <a:rPr lang="en-US" sz="1000" b="0" u="none" strike="noStrike">
                <a:solidFill>
                  <a:srgbClr val="FFFFFF"/>
                </a:solidFill>
                <a:effectLst/>
                <a:uFillTx/>
                <a:latin typeface="Arial"/>
              </a:rPr>
              <a:t>El cierre también es bastante informal. Si el técnico considera que el problema se resolvió, normalmente lo da por terminado. Si estaba registrado en Excel, cambia el estado a resuelto. No tenemos confirmación consistente del usuario ni una encuesta de satisfacción.</a:t>
            </a:r>
            <a:endParaRPr lang="en-US" sz="1000" b="0" u="none" strike="noStrike">
              <a:solidFill>
                <a:srgbClr val="FFFFFF"/>
              </a:solidFill>
              <a:effectLst/>
              <a:uFillTx/>
              <a:latin typeface="Arial"/>
            </a:endParaRPr>
          </a:p>
          <a:p>
            <a:r>
              <a:rPr lang="en-US" sz="1000" b="0" u="none" strike="noStrike">
                <a:solidFill>
                  <a:srgbClr val="FFFFFF"/>
                </a:solidFill>
                <a:effectLst/>
                <a:uFillTx/>
                <a:latin typeface="Arial"/>
              </a:rPr>
              <a:t>Hay algo más que probablemente vas a encontrar interesante cuando hables con los analistas: cada uno tiene su propia forma de organizarse.</a:t>
            </a:r>
            <a:endParaRPr lang="en-US" sz="1000" b="0" u="none" strike="noStrike">
              <a:solidFill>
                <a:srgbClr val="FFFFFF"/>
              </a:solidFill>
              <a:effectLst/>
              <a:uFillTx/>
              <a:latin typeface="Arial"/>
            </a:endParaRPr>
          </a:p>
          <a:p>
            <a:endParaRPr lang="en-US"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A6099"/>
        </a:solidFill>
      </p:bgPr>
    </p:bg>
    <p:spTree>
      <p:nvGrpSpPr>
        <p:cNvPr id="1" name=""/>
        <p:cNvGrpSpPr/>
        <p:nvPr/>
      </p:nvGrpSpPr>
      <p:grpSpPr>
        <a:xfrm>
          <a:off x="0" y="0"/>
          <a:ext cx="0" cy="0"/>
          <a:chOff x="0" y="0"/>
          <a:chExt cx="0" cy="0"/>
        </a:xfrm>
      </p:grpSpPr>
      <p:sp>
        <p:nvSpPr>
          <p:cNvPr id="206" name="Shape 35"/>
          <p:cNvSpPr/>
          <p:nvPr/>
        </p:nvSpPr>
        <p:spPr>
          <a:xfrm>
            <a:off x="639720" y="6510240"/>
            <a:ext cx="10878840" cy="360"/>
          </a:xfrm>
          <a:prstGeom prst="line">
            <a:avLst/>
          </a:prstGeom>
          <a:ln w="6350">
            <a:solidFill>
              <a:srgbClr val="D9E3EA"/>
            </a:solidFill>
            <a:round/>
          </a:ln>
        </p:spPr>
        <p:style>
          <a:lnRef idx="0"/>
          <a:fillRef idx="0"/>
          <a:effectRef idx="0"/>
          <a:fontRef idx="minor"/>
        </p:style>
        <p:txBody>
          <a:bodyPr lIns="90000" tIns="-44640" rIns="90000" bIns="-44640" anchor="t" anchorCtr="1">
            <a:noAutofit/>
          </a:bodyPr>
          <a:p>
            <a:endParaRPr lang="en-US" sz="1800" b="0" u="none" strike="noStrike">
              <a:solidFill>
                <a:srgbClr val="FFFFFF"/>
              </a:solidFill>
              <a:effectLst/>
              <a:uFillTx/>
              <a:latin typeface="Arial"/>
            </a:endParaRPr>
          </a:p>
        </p:txBody>
      </p:sp>
      <p:sp>
        <p:nvSpPr>
          <p:cNvPr id="207" name="Text 47"/>
          <p:cNvSpPr/>
          <p:nvPr/>
        </p:nvSpPr>
        <p:spPr>
          <a:xfrm>
            <a:off x="639720" y="6583680"/>
            <a:ext cx="365652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0" u="none" strike="noStrike">
                <a:solidFill>
                  <a:srgbClr val="65758B"/>
                </a:solidFill>
                <a:effectLst/>
                <a:uFillTx/>
                <a:latin typeface="Aptos"/>
              </a:rPr>
              <a:t>ServiceDesk Kick-off</a:t>
            </a:r>
            <a:endParaRPr lang="en-US" sz="800" b="0" u="none" strike="noStrike">
              <a:solidFill>
                <a:srgbClr val="FFFFFF"/>
              </a:solidFill>
              <a:effectLst/>
              <a:uFillTx/>
              <a:latin typeface="Arial"/>
            </a:endParaRPr>
          </a:p>
        </p:txBody>
      </p:sp>
      <p:sp>
        <p:nvSpPr>
          <p:cNvPr id="208" name="Text 48"/>
          <p:cNvSpPr/>
          <p:nvPr/>
        </p:nvSpPr>
        <p:spPr>
          <a:xfrm>
            <a:off x="10969920" y="6565320"/>
            <a:ext cx="548280" cy="1825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00" b="0" u="none" strike="noStrike">
                <a:solidFill>
                  <a:srgbClr val="65758B"/>
                </a:solidFill>
                <a:effectLst/>
                <a:uFillTx/>
                <a:latin typeface="Aptos"/>
              </a:rPr>
              <a:t>07</a:t>
            </a:r>
            <a:endParaRPr lang="en-US" sz="800" b="0" u="none" strike="noStrike">
              <a:solidFill>
                <a:srgbClr val="FFFFFF"/>
              </a:solidFill>
              <a:effectLst/>
              <a:uFillTx/>
              <a:latin typeface="Arial"/>
            </a:endParaRPr>
          </a:p>
        </p:txBody>
      </p:sp>
      <p:sp>
        <p:nvSpPr>
          <p:cNvPr id="209" name=""/>
          <p:cNvSpPr txBox="1"/>
          <p:nvPr/>
        </p:nvSpPr>
        <p:spPr>
          <a:xfrm>
            <a:off x="4114800" y="228600"/>
            <a:ext cx="2975760" cy="346320"/>
          </a:xfrm>
          <a:prstGeom prst="rect">
            <a:avLst/>
          </a:prstGeom>
          <a:noFill/>
          <a:ln w="0">
            <a:noFill/>
          </a:ln>
        </p:spPr>
        <p:txBody>
          <a:bodyPr wrap="none" lIns="90000" tIns="45000" rIns="90000" bIns="45000" anchor="t">
            <a:spAutoFit/>
          </a:bodyPr>
          <a:p>
            <a:r>
              <a:rPr lang="en-US" sz="1800" b="0" u="none" strike="noStrike">
                <a:solidFill>
                  <a:srgbClr val="FFFFFF"/>
                </a:solidFill>
                <a:effectLst/>
                <a:uFillTx/>
                <a:latin typeface="Arial"/>
              </a:rPr>
              <a:t>Laura Martinez CEO ACME</a:t>
            </a:r>
            <a:endParaRPr lang="en-US" sz="1800" b="0" u="none" strike="noStrike">
              <a:solidFill>
                <a:srgbClr val="FFFFFF"/>
              </a:solidFill>
              <a:effectLst/>
              <a:uFillTx/>
              <a:latin typeface="Arial"/>
            </a:endParaRPr>
          </a:p>
        </p:txBody>
      </p:sp>
      <p:sp>
        <p:nvSpPr>
          <p:cNvPr id="210" name=""/>
          <p:cNvSpPr txBox="1"/>
          <p:nvPr/>
        </p:nvSpPr>
        <p:spPr>
          <a:xfrm>
            <a:off x="818640" y="998280"/>
            <a:ext cx="10611360" cy="5324760"/>
          </a:xfrm>
          <a:prstGeom prst="rect">
            <a:avLst/>
          </a:prstGeom>
          <a:noFill/>
          <a:ln w="0">
            <a:noFill/>
          </a:ln>
        </p:spPr>
        <p:txBody>
          <a:bodyPr lIns="90000" tIns="45000" rIns="90000" bIns="45000" anchor="t">
            <a:spAutoFit/>
          </a:bodyPr>
          <a:p>
            <a:pPr>
              <a:lnSpc>
                <a:spcPct val="100000"/>
              </a:lnSpc>
              <a:spcBef>
                <a:spcPts val="624"/>
              </a:spcBef>
              <a:spcAft>
                <a:spcPts val="425"/>
              </a:spcAft>
            </a:pPr>
            <a:r>
              <a:rPr lang="en-US" sz="1000" b="0" u="none" strike="noStrike">
                <a:solidFill>
                  <a:srgbClr val="FFFFFF"/>
                </a:solidFill>
                <a:effectLst/>
                <a:uFillTx/>
                <a:latin typeface="Arial"/>
              </a:rPr>
              <a:t>Andrea es muy disciplinada con el correo y el Excel.</a:t>
            </a:r>
            <a:endParaRPr lang="en-US" sz="1000" b="0" u="none" strike="noStrike">
              <a:solidFill>
                <a:srgbClr val="FFFFFF"/>
              </a:solidFill>
              <a:effectLst/>
              <a:uFillTx/>
              <a:latin typeface="Arial"/>
            </a:endParaRPr>
          </a:p>
          <a:p>
            <a:pPr>
              <a:lnSpc>
                <a:spcPct val="100000"/>
              </a:lnSpc>
              <a:spcBef>
                <a:spcPts val="624"/>
              </a:spcBef>
              <a:spcAft>
                <a:spcPts val="425"/>
              </a:spcAft>
            </a:pPr>
            <a:r>
              <a:rPr lang="en-US" sz="1000" b="0" u="none" strike="noStrike">
                <a:solidFill>
                  <a:srgbClr val="FFFFFF"/>
                </a:solidFill>
                <a:effectLst/>
                <a:uFillTx/>
                <a:latin typeface="Arial"/>
              </a:rPr>
              <a:t>Roberto toma muchísimas llamadas y suele resolver cosas rápidamente, pero registra poco.</a:t>
            </a:r>
            <a:endParaRPr lang="en-US" sz="1000" b="0" u="none" strike="noStrike">
              <a:solidFill>
                <a:srgbClr val="FFFFFF"/>
              </a:solidFill>
              <a:effectLst/>
              <a:uFillTx/>
              <a:latin typeface="Arial"/>
            </a:endParaRPr>
          </a:p>
          <a:p>
            <a:pPr>
              <a:lnSpc>
                <a:spcPct val="100000"/>
              </a:lnSpc>
              <a:spcBef>
                <a:spcPts val="624"/>
              </a:spcBef>
              <a:spcAft>
                <a:spcPts val="425"/>
              </a:spcAft>
            </a:pPr>
            <a:r>
              <a:rPr lang="en-US" sz="1000" b="0" u="none" strike="noStrike">
                <a:solidFill>
                  <a:srgbClr val="FFFFFF"/>
                </a:solidFill>
                <a:effectLst/>
                <a:uFillTx/>
                <a:latin typeface="Arial"/>
              </a:rPr>
              <a:t>Daniel tiene bastante experiencia técnica y recibe muchos casos directamente de otros empleados porque ya lo conocen.</a:t>
            </a:r>
            <a:endParaRPr lang="en-US" sz="1000" b="0" u="none" strike="noStrike">
              <a:solidFill>
                <a:srgbClr val="FFFFFF"/>
              </a:solidFill>
              <a:effectLst/>
              <a:uFillTx/>
              <a:latin typeface="Arial"/>
            </a:endParaRPr>
          </a:p>
          <a:p>
            <a:pPr>
              <a:lnSpc>
                <a:spcPct val="100000"/>
              </a:lnSpc>
              <a:spcBef>
                <a:spcPts val="624"/>
              </a:spcBef>
              <a:spcAft>
                <a:spcPts val="425"/>
              </a:spcAft>
            </a:pPr>
            <a:r>
              <a:rPr lang="en-US" sz="1000" b="0" u="none" strike="noStrike">
                <a:solidFill>
                  <a:srgbClr val="FFFFFF"/>
                </a:solidFill>
                <a:effectLst/>
                <a:uFillTx/>
                <a:latin typeface="Arial"/>
              </a:rPr>
              <a:t>Fernanda suele documentar muy bien.</a:t>
            </a:r>
            <a:endParaRPr lang="en-US" sz="1000" b="0" u="none" strike="noStrike">
              <a:solidFill>
                <a:srgbClr val="FFFFFF"/>
              </a:solidFill>
              <a:effectLst/>
              <a:uFillTx/>
              <a:latin typeface="Arial"/>
            </a:endParaRPr>
          </a:p>
          <a:p>
            <a:pPr>
              <a:lnSpc>
                <a:spcPct val="100000"/>
              </a:lnSpc>
              <a:spcBef>
                <a:spcPts val="624"/>
              </a:spcBef>
              <a:spcAft>
                <a:spcPts val="425"/>
              </a:spcAft>
            </a:pPr>
            <a:r>
              <a:rPr lang="en-US" sz="1000" b="0" u="none" strike="noStrike">
                <a:solidFill>
                  <a:srgbClr val="FFFFFF"/>
                </a:solidFill>
                <a:effectLst/>
                <a:uFillTx/>
                <a:latin typeface="Arial"/>
              </a:rPr>
              <a:t>Y Jorge es relativamente nuevo, así que depende mucho más de Miguel para saber a quién escalar cada cosa.</a:t>
            </a:r>
            <a:endParaRPr lang="en-US" sz="1000" b="0" u="none" strike="noStrike">
              <a:solidFill>
                <a:srgbClr val="FFFFFF"/>
              </a:solidFill>
              <a:effectLst/>
              <a:uFillTx/>
              <a:latin typeface="Arial"/>
            </a:endParaRPr>
          </a:p>
          <a:p>
            <a:pPr>
              <a:lnSpc>
                <a:spcPct val="100000"/>
              </a:lnSpc>
              <a:spcBef>
                <a:spcPts val="624"/>
              </a:spcBef>
              <a:spcAft>
                <a:spcPts val="425"/>
              </a:spcAft>
            </a:pPr>
            <a:r>
              <a:rPr lang="en-US" sz="1000" b="0" u="none" strike="noStrike">
                <a:solidFill>
                  <a:srgbClr val="FFFFFF"/>
                </a:solidFill>
                <a:effectLst/>
                <a:uFillTx/>
                <a:latin typeface="Arial"/>
              </a:rPr>
              <a:t>No necesariamente creo que alguna forma sea “mala”. El problema es que dependemos demasiado de las personas.</a:t>
            </a:r>
            <a:endParaRPr lang="en-US" sz="1000" b="0" u="none" strike="noStrike">
              <a:solidFill>
                <a:srgbClr val="FFFFFF"/>
              </a:solidFill>
              <a:effectLst/>
              <a:uFillTx/>
              <a:latin typeface="Arial"/>
            </a:endParaRPr>
          </a:p>
          <a:p>
            <a:pPr>
              <a:lnSpc>
                <a:spcPct val="100000"/>
              </a:lnSpc>
              <a:spcBef>
                <a:spcPts val="624"/>
              </a:spcBef>
              <a:spcAft>
                <a:spcPts val="425"/>
              </a:spcAft>
            </a:pPr>
            <a:r>
              <a:rPr lang="en-US" sz="1000" b="0" u="none" strike="noStrike">
                <a:solidFill>
                  <a:srgbClr val="FFFFFF"/>
                </a:solidFill>
                <a:effectLst/>
                <a:uFillTx/>
                <a:latin typeface="Arial"/>
              </a:rPr>
              <a:t>Si mañana alguien falta, se va de vacaciones o deja la empresa, parte de lo que sabe y de lo que estaba atendiendo puede quedar prácticamente invisible.</a:t>
            </a:r>
            <a:endParaRPr lang="en-US" sz="1000" b="0" u="none" strike="noStrike">
              <a:solidFill>
                <a:srgbClr val="FFFFFF"/>
              </a:solidFill>
              <a:effectLst/>
              <a:uFillTx/>
              <a:latin typeface="Arial"/>
            </a:endParaRPr>
          </a:p>
          <a:p>
            <a:pPr>
              <a:lnSpc>
                <a:spcPct val="100000"/>
              </a:lnSpc>
              <a:spcBef>
                <a:spcPts val="624"/>
              </a:spcBef>
              <a:spcAft>
                <a:spcPts val="425"/>
              </a:spcAft>
            </a:pPr>
            <a:r>
              <a:rPr lang="en-US" sz="1000" b="0" u="none" strike="noStrike">
                <a:solidFill>
                  <a:srgbClr val="FFFFFF"/>
                </a:solidFill>
                <a:effectLst/>
                <a:uFillTx/>
                <a:latin typeface="Arial"/>
              </a:rPr>
              <a:t>En cuanto a reportes, Miguel prepara uno mensual para mí usando el Excel. Me presenta número de solicitudes registradas, algunas categorías y pendientes. Pero los dos sabemos que esos números están incompletos.</a:t>
            </a:r>
            <a:endParaRPr lang="en-US" sz="1000" b="0" u="none" strike="noStrike">
              <a:solidFill>
                <a:srgbClr val="FFFFFF"/>
              </a:solidFill>
              <a:effectLst/>
              <a:uFillTx/>
              <a:latin typeface="Arial"/>
            </a:endParaRPr>
          </a:p>
          <a:p>
            <a:pPr>
              <a:lnSpc>
                <a:spcPct val="100000"/>
              </a:lnSpc>
              <a:spcBef>
                <a:spcPts val="624"/>
              </a:spcBef>
              <a:spcAft>
                <a:spcPts val="425"/>
              </a:spcAft>
            </a:pPr>
            <a:r>
              <a:rPr lang="en-US" sz="1000" b="0" u="none" strike="noStrike">
                <a:solidFill>
                  <a:srgbClr val="FFFFFF"/>
                </a:solidFill>
                <a:effectLst/>
                <a:uFillTx/>
                <a:latin typeface="Arial"/>
              </a:rPr>
              <a:t>Dirección me ha preguntado varias veces:</a:t>
            </a:r>
            <a:endParaRPr lang="en-US" sz="1000" b="0" u="none" strike="noStrike">
              <a:solidFill>
                <a:srgbClr val="FFFFFF"/>
              </a:solidFill>
              <a:effectLst/>
              <a:uFillTx/>
              <a:latin typeface="Arial"/>
            </a:endParaRPr>
          </a:p>
          <a:p>
            <a:pPr>
              <a:lnSpc>
                <a:spcPct val="100000"/>
              </a:lnSpc>
              <a:spcBef>
                <a:spcPts val="624"/>
              </a:spcBef>
              <a:spcAft>
                <a:spcPts val="425"/>
              </a:spcAft>
            </a:pPr>
            <a:r>
              <a:rPr lang="en-US" sz="1000" b="0" u="none" strike="noStrike">
                <a:solidFill>
                  <a:srgbClr val="FFFFFF"/>
                </a:solidFill>
                <a:effectLst/>
                <a:uFillTx/>
                <a:latin typeface="Arial"/>
              </a:rPr>
              <a:t>“¿Cuánto tarda soporte en resolver un problema?”</a:t>
            </a:r>
            <a:endParaRPr lang="en-US" sz="1000" b="0" u="none" strike="noStrike">
              <a:solidFill>
                <a:srgbClr val="FFFFFF"/>
              </a:solidFill>
              <a:effectLst/>
              <a:uFillTx/>
              <a:latin typeface="Arial"/>
            </a:endParaRPr>
          </a:p>
          <a:p>
            <a:pPr>
              <a:lnSpc>
                <a:spcPct val="100000"/>
              </a:lnSpc>
              <a:spcBef>
                <a:spcPts val="624"/>
              </a:spcBef>
              <a:spcAft>
                <a:spcPts val="425"/>
              </a:spcAft>
            </a:pPr>
            <a:r>
              <a:rPr lang="en-US" sz="1000" b="0" u="none" strike="noStrike">
                <a:solidFill>
                  <a:srgbClr val="FFFFFF"/>
                </a:solidFill>
                <a:effectLst/>
                <a:uFillTx/>
                <a:latin typeface="Arial"/>
              </a:rPr>
              <a:t>¿Cuáles son nuestras aplicaciones que generan más incidentes?”</a:t>
            </a:r>
            <a:endParaRPr lang="en-US" sz="1000" b="0" u="none" strike="noStrike">
              <a:solidFill>
                <a:srgbClr val="FFFFFF"/>
              </a:solidFill>
              <a:effectLst/>
              <a:uFillTx/>
              <a:latin typeface="Arial"/>
            </a:endParaRPr>
          </a:p>
          <a:p>
            <a:pPr>
              <a:lnSpc>
                <a:spcPct val="100000"/>
              </a:lnSpc>
              <a:spcBef>
                <a:spcPts val="624"/>
              </a:spcBef>
              <a:spcAft>
                <a:spcPts val="425"/>
              </a:spcAft>
            </a:pPr>
            <a:r>
              <a:rPr lang="en-US" sz="1000" b="0" u="none" strike="noStrike">
                <a:solidFill>
                  <a:srgbClr val="FFFFFF"/>
                </a:solidFill>
                <a:effectLst/>
                <a:uFillTx/>
                <a:latin typeface="Arial"/>
              </a:rPr>
              <a:t>“¿Cuántos casos recibe cada analista?”</a:t>
            </a:r>
            <a:endParaRPr lang="en-US" sz="1000" b="0" u="none" strike="noStrike">
              <a:solidFill>
                <a:srgbClr val="FFFFFF"/>
              </a:solidFill>
              <a:effectLst/>
              <a:uFillTx/>
              <a:latin typeface="Arial"/>
            </a:endParaRPr>
          </a:p>
          <a:p>
            <a:pPr>
              <a:lnSpc>
                <a:spcPct val="100000"/>
              </a:lnSpc>
              <a:spcBef>
                <a:spcPts val="624"/>
              </a:spcBef>
              <a:spcAft>
                <a:spcPts val="425"/>
              </a:spcAft>
            </a:pPr>
            <a:r>
              <a:rPr lang="en-US" sz="1000" b="0" u="none" strike="noStrike">
                <a:solidFill>
                  <a:srgbClr val="FFFFFF"/>
                </a:solidFill>
                <a:effectLst/>
                <a:uFillTx/>
                <a:latin typeface="Arial"/>
              </a:rPr>
              <a:t>“¿Estamos cumpliendo algún nivel de servicio?”</a:t>
            </a:r>
            <a:endParaRPr lang="en-US" sz="1000" b="0" u="none" strike="noStrike">
              <a:solidFill>
                <a:srgbClr val="FFFFFF"/>
              </a:solidFill>
              <a:effectLst/>
              <a:uFillTx/>
              <a:latin typeface="Arial"/>
            </a:endParaRPr>
          </a:p>
          <a:p>
            <a:pPr>
              <a:lnSpc>
                <a:spcPct val="100000"/>
              </a:lnSpc>
              <a:spcBef>
                <a:spcPts val="624"/>
              </a:spcBef>
              <a:spcAft>
                <a:spcPts val="425"/>
              </a:spcAft>
            </a:pPr>
            <a:r>
              <a:rPr lang="en-US" sz="1000" b="0" u="none" strike="noStrike">
                <a:solidFill>
                  <a:srgbClr val="FFFFFF"/>
                </a:solidFill>
                <a:effectLst/>
                <a:uFillTx/>
                <a:latin typeface="Arial"/>
              </a:rPr>
              <a:t>“¿Necesitamos contratar más personas?”</a:t>
            </a:r>
            <a:endParaRPr lang="en-US" sz="1000" b="0" u="none" strike="noStrike">
              <a:solidFill>
                <a:srgbClr val="FFFFFF"/>
              </a:solidFill>
              <a:effectLst/>
              <a:uFillTx/>
              <a:latin typeface="Arial"/>
            </a:endParaRPr>
          </a:p>
          <a:p>
            <a:pPr>
              <a:lnSpc>
                <a:spcPct val="100000"/>
              </a:lnSpc>
              <a:spcBef>
                <a:spcPts val="624"/>
              </a:spcBef>
              <a:spcAft>
                <a:spcPts val="425"/>
              </a:spcAft>
            </a:pPr>
            <a:r>
              <a:rPr lang="en-US" sz="1000" b="0" u="none" strike="noStrike">
                <a:solidFill>
                  <a:srgbClr val="FFFFFF"/>
                </a:solidFill>
                <a:effectLst/>
                <a:uFillTx/>
                <a:latin typeface="Arial"/>
              </a:rPr>
              <a:t>Y hoy no tengo datos suficientemente confiables para responder.</a:t>
            </a:r>
            <a:endParaRPr lang="en-US" sz="1000" b="0" u="none" strike="noStrike">
              <a:solidFill>
                <a:srgbClr val="FFFFFF"/>
              </a:solidFill>
              <a:effectLst/>
              <a:uFillTx/>
              <a:latin typeface="Arial"/>
            </a:endParaRPr>
          </a:p>
          <a:p>
            <a:pPr>
              <a:lnSpc>
                <a:spcPct val="100000"/>
              </a:lnSpc>
              <a:spcBef>
                <a:spcPts val="624"/>
              </a:spcBef>
              <a:spcAft>
                <a:spcPts val="425"/>
              </a:spcAft>
            </a:pPr>
            <a:r>
              <a:rPr lang="en-US" sz="1000" b="0" u="none" strike="noStrike">
                <a:solidFill>
                  <a:srgbClr val="FFFFFF"/>
                </a:solidFill>
                <a:effectLst/>
                <a:uFillTx/>
                <a:latin typeface="Arial"/>
              </a:rPr>
              <a:t>También quiero aclararte algo porque probablemente influya en lo que escuches durante las entrevistas.</a:t>
            </a:r>
            <a:endParaRPr lang="en-US" sz="1000" b="0" u="none" strike="noStrike">
              <a:solidFill>
                <a:srgbClr val="FFFFFF"/>
              </a:solidFill>
              <a:effectLst/>
              <a:uFillTx/>
              <a:latin typeface="Arial"/>
            </a:endParaRPr>
          </a:p>
          <a:p>
            <a:pPr>
              <a:lnSpc>
                <a:spcPct val="100000"/>
              </a:lnSpc>
              <a:spcBef>
                <a:spcPts val="624"/>
              </a:spcBef>
              <a:spcAft>
                <a:spcPts val="425"/>
              </a:spcAft>
            </a:pPr>
            <a:r>
              <a:rPr lang="en-US" sz="1000" b="0" u="none" strike="noStrike">
                <a:solidFill>
                  <a:srgbClr val="FFFFFF"/>
                </a:solidFill>
                <a:effectLst/>
                <a:uFillTx/>
                <a:latin typeface="Arial"/>
              </a:rPr>
              <a:t>El equipo sí resuelve muchísimos problemas. No considero que tengamos un equipo de soporte malo. De hecho, creo que son bastante buenos.</a:t>
            </a:r>
            <a:endParaRPr lang="en-US" sz="1000" b="0" u="none" strike="noStrike">
              <a:solidFill>
                <a:srgbClr val="FFFFFF"/>
              </a:solidFill>
              <a:effectLst/>
              <a:uFillTx/>
              <a:latin typeface="Arial"/>
            </a:endParaRPr>
          </a:p>
          <a:p>
            <a:pPr>
              <a:lnSpc>
                <a:spcPct val="100000"/>
              </a:lnSpc>
              <a:spcBef>
                <a:spcPts val="624"/>
              </a:spcBef>
              <a:spcAft>
                <a:spcPts val="425"/>
              </a:spcAft>
            </a:pPr>
            <a:r>
              <a:rPr lang="en-US" sz="1000" b="0" u="none" strike="noStrike">
                <a:solidFill>
                  <a:srgbClr val="FFFFFF"/>
                </a:solidFill>
                <a:effectLst/>
                <a:uFillTx/>
                <a:latin typeface="Arial"/>
              </a:rPr>
              <a:t>El problema es que hemos construido el servicio alrededor de relaciones personales y conocimiento informal. Funcionaba cuando éramos 200 o 300 personas.</a:t>
            </a:r>
            <a:endParaRPr lang="en-US" sz="1000" b="0" u="none" strike="noStrike">
              <a:solidFill>
                <a:srgbClr val="FFFFFF"/>
              </a:solidFill>
              <a:effectLst/>
              <a:uFillTx/>
              <a:latin typeface="Arial"/>
            </a:endParaRPr>
          </a:p>
          <a:p>
            <a:pPr>
              <a:lnSpc>
                <a:spcPct val="100000"/>
              </a:lnSpc>
              <a:spcBef>
                <a:spcPts val="624"/>
              </a:spcBef>
              <a:spcAft>
                <a:spcPts val="425"/>
              </a:spcAft>
            </a:pPr>
            <a:endParaRPr lang="en-US"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1" name=""/>
          <p:cNvSpPr txBox="1"/>
          <p:nvPr/>
        </p:nvSpPr>
        <p:spPr>
          <a:xfrm>
            <a:off x="228600" y="855000"/>
            <a:ext cx="10287000" cy="5928120"/>
          </a:xfrm>
          <a:prstGeom prst="rect">
            <a:avLst/>
          </a:prstGeom>
          <a:noFill/>
          <a:ln w="0">
            <a:noFill/>
          </a:ln>
        </p:spPr>
        <p:txBody>
          <a:bodyPr lIns="90000" tIns="45000" rIns="90000" bIns="45000" anchor="t">
            <a:spAutoFit/>
          </a:bodyPr>
          <a:p>
            <a:pPr marL="216000" indent="-216000">
              <a:lnSpc>
                <a:spcPct val="100000"/>
              </a:lnSpc>
              <a:spcBef>
                <a:spcPts val="907"/>
              </a:spcBef>
              <a:spcAft>
                <a:spcPts val="709"/>
              </a:spcAft>
              <a:buClr>
                <a:srgbClr val="000000"/>
              </a:buClr>
              <a:buSzPct val="45000"/>
              <a:buFont typeface="Wingdings" charset="2"/>
              <a:buChar char=""/>
            </a:pPr>
            <a:r>
              <a:rPr lang="en-US" sz="1200" b="1" u="none" strike="noStrike">
                <a:solidFill>
                  <a:srgbClr val="000000"/>
                </a:solidFill>
                <a:effectLst/>
                <a:uFillTx/>
                <a:latin typeface="Arial"/>
              </a:rPr>
              <a:t>Puntos que más le duelen al departamento de sistemas</a:t>
            </a:r>
            <a:endParaRPr lang="en-US" sz="1200" b="1" u="none" strike="noStrike">
              <a:solidFill>
                <a:srgbClr val="000000"/>
              </a:solidFill>
              <a:effectLst/>
              <a:uFillTx/>
              <a:latin typeface="Arial"/>
            </a:endParaRPr>
          </a:p>
          <a:p>
            <a:pPr marL="216000" indent="-216000">
              <a:lnSpc>
                <a:spcPct val="100000"/>
              </a:lnSpc>
              <a:spcBef>
                <a:spcPts val="907"/>
              </a:spcBef>
              <a:spcAft>
                <a:spcPts val="709"/>
              </a:spcAft>
              <a:buClr>
                <a:srgbClr val="000000"/>
              </a:buClr>
              <a:buSzPct val="45000"/>
              <a:buFont typeface="Wingdings" charset="2"/>
              <a:buChar char=""/>
            </a:pPr>
            <a:r>
              <a:rPr lang="en-US" sz="1000" b="0" u="none" strike="noStrike">
                <a:solidFill>
                  <a:srgbClr val="000000"/>
                </a:solidFill>
                <a:effectLst/>
                <a:uFillTx/>
                <a:latin typeface="Arial"/>
              </a:rPr>
              <a:t>Canales de entrada múltiples y no controlados (correo directo, Teams, teléfono, presencial) → muchas solicitudes nunca se registran.</a:t>
            </a:r>
            <a:endParaRPr lang="en-US" sz="1000" b="0" u="none" strike="noStrike">
              <a:solidFill>
                <a:srgbClr val="000000"/>
              </a:solidFill>
              <a:effectLst/>
              <a:uFillTx/>
              <a:latin typeface="Arial"/>
            </a:endParaRPr>
          </a:p>
          <a:p>
            <a:pPr marL="216000" indent="-216000">
              <a:lnSpc>
                <a:spcPct val="100000"/>
              </a:lnSpc>
              <a:spcBef>
                <a:spcPts val="907"/>
              </a:spcBef>
              <a:spcAft>
                <a:spcPts val="709"/>
              </a:spcAft>
              <a:buClr>
                <a:srgbClr val="000000"/>
              </a:buClr>
              <a:buSzPct val="45000"/>
              <a:buFont typeface="Wingdings" charset="2"/>
              <a:buChar char=""/>
            </a:pPr>
            <a:r>
              <a:rPr lang="en-US" sz="1000" b="0" u="none" strike="noStrike">
                <a:solidFill>
                  <a:srgbClr val="000000"/>
                </a:solidFill>
                <a:effectLst/>
                <a:uFillTx/>
                <a:latin typeface="Arial"/>
              </a:rPr>
              <a:t>Ausencia de asignación formal y de carga de trabajo visible.</a:t>
            </a:r>
            <a:endParaRPr lang="en-US" sz="1000" b="0" u="none" strike="noStrike">
              <a:solidFill>
                <a:srgbClr val="000000"/>
              </a:solidFill>
              <a:effectLst/>
              <a:uFillTx/>
              <a:latin typeface="Arial"/>
            </a:endParaRPr>
          </a:p>
          <a:p>
            <a:pPr marL="216000" indent="-216000">
              <a:lnSpc>
                <a:spcPct val="100000"/>
              </a:lnSpc>
              <a:spcBef>
                <a:spcPts val="907"/>
              </a:spcBef>
              <a:spcAft>
                <a:spcPts val="709"/>
              </a:spcAft>
              <a:buClr>
                <a:srgbClr val="000000"/>
              </a:buClr>
              <a:buSzPct val="45000"/>
              <a:buFont typeface="Wingdings" charset="2"/>
              <a:buChar char=""/>
            </a:pPr>
            <a:r>
              <a:rPr lang="en-US" sz="1000" b="0" u="none" strike="noStrike">
                <a:solidFill>
                  <a:srgbClr val="000000"/>
                </a:solidFill>
                <a:effectLst/>
                <a:uFillTx/>
                <a:latin typeface="Arial"/>
              </a:rPr>
              <a:t>Registro incompleto o inexistente (Excel se llena solo a veces; resoluciones rápidas no se documentan).</a:t>
            </a:r>
            <a:endParaRPr lang="en-US" sz="1000" b="0" u="none" strike="noStrike">
              <a:solidFill>
                <a:srgbClr val="000000"/>
              </a:solidFill>
              <a:effectLst/>
              <a:uFillTx/>
              <a:latin typeface="Arial"/>
            </a:endParaRPr>
          </a:p>
          <a:p>
            <a:pPr marL="216000" indent="-216000">
              <a:lnSpc>
                <a:spcPct val="100000"/>
              </a:lnSpc>
              <a:spcBef>
                <a:spcPts val="907"/>
              </a:spcBef>
              <a:spcAft>
                <a:spcPts val="709"/>
              </a:spcAft>
              <a:buClr>
                <a:srgbClr val="000000"/>
              </a:buClr>
              <a:buSzPct val="45000"/>
              <a:buFont typeface="Wingdings" charset="2"/>
              <a:buChar char=""/>
            </a:pPr>
            <a:r>
              <a:rPr lang="en-US" sz="1000" b="0" u="none" strike="noStrike">
                <a:solidFill>
                  <a:srgbClr val="000000"/>
                </a:solidFill>
                <a:effectLst/>
                <a:uFillTx/>
                <a:latin typeface="Arial"/>
              </a:rPr>
              <a:t>Categorías inconsistentes y subjetivas.</a:t>
            </a:r>
            <a:endParaRPr lang="en-US" sz="1000" b="0" u="none" strike="noStrike">
              <a:solidFill>
                <a:srgbClr val="000000"/>
              </a:solidFill>
              <a:effectLst/>
              <a:uFillTx/>
              <a:latin typeface="Arial"/>
            </a:endParaRPr>
          </a:p>
          <a:p>
            <a:pPr marL="216000" indent="-216000">
              <a:lnSpc>
                <a:spcPct val="100000"/>
              </a:lnSpc>
              <a:spcBef>
                <a:spcPts val="907"/>
              </a:spcBef>
              <a:spcAft>
                <a:spcPts val="709"/>
              </a:spcAft>
              <a:buClr>
                <a:srgbClr val="000000"/>
              </a:buClr>
              <a:buSzPct val="45000"/>
              <a:buFont typeface="Wingdings" charset="2"/>
              <a:buChar char=""/>
            </a:pPr>
            <a:r>
              <a:rPr lang="en-US" sz="1000" b="0" u="none" strike="noStrike">
                <a:solidFill>
                  <a:srgbClr val="000000"/>
                </a:solidFill>
                <a:effectLst/>
                <a:uFillTx/>
                <a:latin typeface="Arial"/>
              </a:rPr>
              <a:t>Priorización basada en criterio personal o jerarquía (“es urgente”, “llamó un director”) sin definiciones ni SLAs.</a:t>
            </a:r>
            <a:endParaRPr lang="en-US" sz="1000" b="0" u="none" strike="noStrike">
              <a:solidFill>
                <a:srgbClr val="000000"/>
              </a:solidFill>
              <a:effectLst/>
              <a:uFillTx/>
              <a:latin typeface="Arial"/>
            </a:endParaRPr>
          </a:p>
          <a:p>
            <a:pPr marL="216000" indent="-216000">
              <a:lnSpc>
                <a:spcPct val="100000"/>
              </a:lnSpc>
              <a:spcBef>
                <a:spcPts val="907"/>
              </a:spcBef>
              <a:spcAft>
                <a:spcPts val="709"/>
              </a:spcAft>
              <a:buClr>
                <a:srgbClr val="000000"/>
              </a:buClr>
              <a:buSzPct val="45000"/>
              <a:buFont typeface="Wingdings" charset="2"/>
              <a:buChar char=""/>
            </a:pPr>
            <a:r>
              <a:rPr lang="en-US" sz="1000" b="0" u="none" strike="noStrike">
                <a:solidFill>
                  <a:srgbClr val="000000"/>
                </a:solidFill>
                <a:effectLst/>
                <a:uFillTx/>
                <a:latin typeface="Arial"/>
              </a:rPr>
              <a:t>Escalaciones sin trazabilidad: no se sabe quién es el responsable actual ni el estado real del caso.</a:t>
            </a:r>
            <a:endParaRPr lang="en-US" sz="1000" b="0" u="none" strike="noStrike">
              <a:solidFill>
                <a:srgbClr val="000000"/>
              </a:solidFill>
              <a:effectLst/>
              <a:uFillTx/>
              <a:latin typeface="Arial"/>
            </a:endParaRPr>
          </a:p>
          <a:p>
            <a:pPr marL="216000" indent="-216000">
              <a:lnSpc>
                <a:spcPct val="100000"/>
              </a:lnSpc>
              <a:spcBef>
                <a:spcPts val="907"/>
              </a:spcBef>
              <a:spcAft>
                <a:spcPts val="709"/>
              </a:spcAft>
              <a:buClr>
                <a:srgbClr val="000000"/>
              </a:buClr>
              <a:buSzPct val="45000"/>
              <a:buFont typeface="Wingdings" charset="2"/>
              <a:buChar char=""/>
            </a:pPr>
            <a:r>
              <a:rPr lang="en-US" sz="1000" b="0" u="none" strike="noStrike">
                <a:solidFill>
                  <a:srgbClr val="000000"/>
                </a:solidFill>
                <a:effectLst/>
                <a:uFillTx/>
                <a:latin typeface="Arial"/>
              </a:rPr>
              <a:t>Usuarios que se saltan el Service Desk y van directo a especialistas de aplicaciones.</a:t>
            </a:r>
            <a:endParaRPr lang="en-US" sz="1000" b="0" u="none" strike="noStrike">
              <a:solidFill>
                <a:srgbClr val="000000"/>
              </a:solidFill>
              <a:effectLst/>
              <a:uFillTx/>
              <a:latin typeface="Arial"/>
            </a:endParaRPr>
          </a:p>
          <a:p>
            <a:pPr marL="216000" indent="-216000">
              <a:lnSpc>
                <a:spcPct val="100000"/>
              </a:lnSpc>
              <a:spcBef>
                <a:spcPts val="907"/>
              </a:spcBef>
              <a:spcAft>
                <a:spcPts val="709"/>
              </a:spcAft>
              <a:buClr>
                <a:srgbClr val="000000"/>
              </a:buClr>
              <a:buSzPct val="45000"/>
              <a:buFont typeface="Wingdings" charset="2"/>
              <a:buChar char=""/>
            </a:pPr>
            <a:r>
              <a:rPr lang="en-US" sz="1000" b="0" u="none" strike="noStrike">
                <a:solidFill>
                  <a:srgbClr val="000000"/>
                </a:solidFill>
                <a:effectLst/>
                <a:uFillTx/>
                <a:latin typeface="Arial"/>
              </a:rPr>
              <a:t>Mezcla de incidentes y solicitudes de servicio (instalaciones, accesos, equipos, licencias, configuraciones).</a:t>
            </a:r>
            <a:endParaRPr lang="en-US" sz="1000" b="0" u="none" strike="noStrike">
              <a:solidFill>
                <a:srgbClr val="000000"/>
              </a:solidFill>
              <a:effectLst/>
              <a:uFillTx/>
              <a:latin typeface="Arial"/>
            </a:endParaRPr>
          </a:p>
          <a:p>
            <a:pPr marL="216000" indent="-216000">
              <a:lnSpc>
                <a:spcPct val="100000"/>
              </a:lnSpc>
              <a:spcBef>
                <a:spcPts val="907"/>
              </a:spcBef>
              <a:spcAft>
                <a:spcPts val="709"/>
              </a:spcAft>
              <a:buClr>
                <a:srgbClr val="000000"/>
              </a:buClr>
              <a:buSzPct val="45000"/>
              <a:buFont typeface="Wingdings" charset="2"/>
              <a:buChar char=""/>
            </a:pPr>
            <a:r>
              <a:rPr lang="en-US" sz="1000" b="0" u="none" strike="noStrike">
                <a:solidFill>
                  <a:srgbClr val="000000"/>
                </a:solidFill>
                <a:effectLst/>
                <a:uFillTx/>
                <a:latin typeface="Arial"/>
              </a:rPr>
              <a:t>Procesos de altas y bajas de empleados no centralizados ni automatizados (checklists en documentos/correos); especial preocupación por las bajas y la retirada oportuna de accesos.</a:t>
            </a:r>
            <a:endParaRPr lang="en-US" sz="1000" b="0" u="none" strike="noStrike">
              <a:solidFill>
                <a:srgbClr val="000000"/>
              </a:solidFill>
              <a:effectLst/>
              <a:uFillTx/>
              <a:latin typeface="Arial"/>
            </a:endParaRPr>
          </a:p>
          <a:p>
            <a:pPr marL="216000" indent="-216000">
              <a:lnSpc>
                <a:spcPct val="100000"/>
              </a:lnSpc>
              <a:spcBef>
                <a:spcPts val="907"/>
              </a:spcBef>
              <a:spcAft>
                <a:spcPts val="709"/>
              </a:spcAft>
              <a:buClr>
                <a:srgbClr val="000000"/>
              </a:buClr>
              <a:buSzPct val="45000"/>
              <a:buFont typeface="Wingdings" charset="2"/>
              <a:buChar char=""/>
            </a:pPr>
            <a:r>
              <a:rPr lang="en-US" sz="1000" b="0" u="none" strike="noStrike">
                <a:solidFill>
                  <a:srgbClr val="000000"/>
                </a:solidFill>
                <a:effectLst/>
                <a:uFillTx/>
                <a:latin typeface="Arial"/>
              </a:rPr>
              <a:t>Falta de portal o visibilidad para el usuario → generaciones de re-consultas (“¿cómo va lo mío?”).</a:t>
            </a:r>
            <a:endParaRPr lang="en-US" sz="1000" b="0" u="none" strike="noStrike">
              <a:solidFill>
                <a:srgbClr val="000000"/>
              </a:solidFill>
              <a:effectLst/>
              <a:uFillTx/>
              <a:latin typeface="Arial"/>
            </a:endParaRPr>
          </a:p>
          <a:p>
            <a:pPr marL="216000" indent="-216000">
              <a:lnSpc>
                <a:spcPct val="100000"/>
              </a:lnSpc>
              <a:spcBef>
                <a:spcPts val="907"/>
              </a:spcBef>
              <a:spcAft>
                <a:spcPts val="709"/>
              </a:spcAft>
              <a:buClr>
                <a:srgbClr val="000000"/>
              </a:buClr>
              <a:buSzPct val="45000"/>
              <a:buFont typeface="Wingdings" charset="2"/>
              <a:buChar char=""/>
            </a:pPr>
            <a:r>
              <a:rPr lang="en-US" sz="1000" b="0" u="none" strike="noStrike">
                <a:solidFill>
                  <a:srgbClr val="000000"/>
                </a:solidFill>
                <a:effectLst/>
                <a:uFillTx/>
                <a:latin typeface="Arial"/>
              </a:rPr>
              <a:t>Cierre informal sin confirmación del usuario ni encuesta de satisfacción.</a:t>
            </a:r>
            <a:endParaRPr lang="en-US" sz="1000" b="0" u="none" strike="noStrike">
              <a:solidFill>
                <a:srgbClr val="000000"/>
              </a:solidFill>
              <a:effectLst/>
              <a:uFillTx/>
              <a:latin typeface="Arial"/>
            </a:endParaRPr>
          </a:p>
          <a:p>
            <a:pPr marL="216000" indent="-216000">
              <a:lnSpc>
                <a:spcPct val="100000"/>
              </a:lnSpc>
              <a:spcBef>
                <a:spcPts val="907"/>
              </a:spcBef>
              <a:spcAft>
                <a:spcPts val="709"/>
              </a:spcAft>
              <a:buClr>
                <a:srgbClr val="000000"/>
              </a:buClr>
              <a:buSzPct val="45000"/>
              <a:buFont typeface="Wingdings" charset="2"/>
              <a:buChar char=""/>
            </a:pPr>
            <a:r>
              <a:rPr lang="en-US" sz="1000" b="0" u="none" strike="noStrike">
                <a:solidFill>
                  <a:srgbClr val="000000"/>
                </a:solidFill>
                <a:effectLst/>
                <a:uFillTx/>
                <a:latin typeface="Arial"/>
              </a:rPr>
              <a:t>Alta dependencia del conocimiento y estilo de trabajo individual de cada analista → riesgo de pérdida de información cuando alguien falta, se va de vacaciones o deja la empresa.</a:t>
            </a:r>
            <a:endParaRPr lang="en-US" sz="1000" b="0" u="none" strike="noStrike">
              <a:solidFill>
                <a:srgbClr val="000000"/>
              </a:solidFill>
              <a:effectLst/>
              <a:uFillTx/>
              <a:latin typeface="Arial"/>
            </a:endParaRPr>
          </a:p>
          <a:p>
            <a:pPr marL="216000" indent="-216000">
              <a:lnSpc>
                <a:spcPct val="100000"/>
              </a:lnSpc>
              <a:spcBef>
                <a:spcPts val="907"/>
              </a:spcBef>
              <a:spcAft>
                <a:spcPts val="709"/>
              </a:spcAft>
              <a:buClr>
                <a:srgbClr val="000000"/>
              </a:buClr>
              <a:buSzPct val="45000"/>
              <a:buFont typeface="Wingdings" charset="2"/>
              <a:buChar char=""/>
            </a:pPr>
            <a:r>
              <a:rPr lang="en-US" sz="1000" b="0" u="none" strike="noStrike">
                <a:solidFill>
                  <a:srgbClr val="000000"/>
                </a:solidFill>
                <a:effectLst/>
                <a:uFillTx/>
                <a:latin typeface="Arial"/>
              </a:rPr>
              <a:t>Reportes incompletos e incapacidad de responder con datos confiables a Dirección (tiempos de resolución, aplicaciones con más incidentes, carga por analista, cumplimiento de niveles de servicio, necesidad de más personal).</a:t>
            </a:r>
            <a:endParaRPr lang="en-US" sz="1000" b="0" u="none" strike="noStrike">
              <a:solidFill>
                <a:srgbClr val="000000"/>
              </a:solidFill>
              <a:effectLst/>
              <a:uFillTx/>
              <a:latin typeface="Arial"/>
            </a:endParaRPr>
          </a:p>
          <a:p>
            <a:pPr marL="216000" indent="-216000">
              <a:lnSpc>
                <a:spcPct val="100000"/>
              </a:lnSpc>
              <a:spcBef>
                <a:spcPts val="907"/>
              </a:spcBef>
              <a:spcAft>
                <a:spcPts val="709"/>
              </a:spcAft>
              <a:buClr>
                <a:srgbClr val="000000"/>
              </a:buClr>
              <a:buSzPct val="45000"/>
              <a:buFont typeface="Wingdings" charset="2"/>
              <a:buChar char=""/>
            </a:pPr>
            <a:r>
              <a:rPr lang="en-US" sz="1000" b="0" u="none" strike="noStrike">
                <a:solidFill>
                  <a:srgbClr val="000000"/>
                </a:solidFill>
                <a:effectLst/>
                <a:uFillTx/>
                <a:latin typeface="Arial"/>
              </a:rPr>
              <a:t>Escalabilidad: el modelo actual no aguanta el crecimiento de la organización.</a:t>
            </a:r>
            <a:endParaRPr lang="en-US" sz="1000" b="0" u="none" strike="noStrike">
              <a:solidFill>
                <a:srgbClr val="000000"/>
              </a:solidFill>
              <a:effectLst/>
              <a:uFillTx/>
              <a:latin typeface="Arial"/>
            </a:endParaRPr>
          </a:p>
          <a:p>
            <a:endParaRPr lang="en-US" sz="1000" b="0" u="none" strike="noStrike">
              <a:solidFill>
                <a:srgbClr val="000000"/>
              </a:solidFill>
              <a:effectLst/>
              <a:uFillTx/>
              <a:latin typeface="Arial"/>
            </a:endParaRPr>
          </a:p>
        </p:txBody>
      </p:sp>
      <p:sp>
        <p:nvSpPr>
          <p:cNvPr id="212" name=""/>
          <p:cNvSpPr txBox="1"/>
          <p:nvPr/>
        </p:nvSpPr>
        <p:spPr>
          <a:xfrm>
            <a:off x="4572000" y="198000"/>
            <a:ext cx="3657600" cy="487800"/>
          </a:xfrm>
          <a:prstGeom prst="rect">
            <a:avLst/>
          </a:prstGeom>
          <a:noFill/>
          <a:ln w="0">
            <a:noFill/>
          </a:ln>
        </p:spPr>
        <p:txBody>
          <a:bodyPr lIns="90000" tIns="45000" rIns="90000" bIns="45000" anchor="t">
            <a:spAutoFit/>
          </a:bodyPr>
          <a:p>
            <a:r>
              <a:rPr lang="en-US" sz="1800" b="0" u="none" strike="noStrike">
                <a:solidFill>
                  <a:srgbClr val="000000"/>
                </a:solidFill>
                <a:effectLst/>
                <a:uFillTx/>
                <a:latin typeface="Arial"/>
              </a:rPr>
              <a:t>Nueva lista de stakeholders</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3" name=""/>
          <p:cNvSpPr txBox="1"/>
          <p:nvPr/>
        </p:nvSpPr>
        <p:spPr>
          <a:xfrm>
            <a:off x="276840" y="644760"/>
            <a:ext cx="9934920" cy="5298840"/>
          </a:xfrm>
          <a:prstGeom prst="rect">
            <a:avLst/>
          </a:prstGeom>
          <a:noFill/>
          <a:ln w="0">
            <a:noFill/>
          </a:ln>
        </p:spPr>
        <p:txBody>
          <a:bodyPr lIns="90000" tIns="45000" rIns="90000" bIns="45000" anchor="t">
            <a:spAutoFit/>
          </a:bodyPr>
          <a:p>
            <a:pPr>
              <a:lnSpc>
                <a:spcPct val="100000"/>
              </a:lnSpc>
              <a:spcBef>
                <a:spcPts val="624"/>
              </a:spcBef>
              <a:spcAft>
                <a:spcPts val="425"/>
              </a:spcAft>
            </a:pPr>
            <a:r>
              <a:rPr lang="en-US" sz="1000" b="0" u="none" strike="noStrike">
                <a:solidFill>
                  <a:srgbClr val="000000"/>
                </a:solidFill>
                <a:effectLst/>
                <a:uFillTx/>
                <a:latin typeface="Arial"/>
              </a:rPr>
              <a:t>Service Desk / Help Desk</a:t>
            </a:r>
            <a:endParaRPr lang="en-US" sz="1000" b="0" u="none" strike="noStrike">
              <a:solidFill>
                <a:srgbClr val="000000"/>
              </a:solidFill>
              <a:effectLst/>
              <a:uFillTx/>
              <a:latin typeface="Arial"/>
            </a:endParaRPr>
          </a:p>
          <a:p>
            <a:pPr>
              <a:lnSpc>
                <a:spcPct val="100000"/>
              </a:lnSpc>
              <a:spcBef>
                <a:spcPts val="624"/>
              </a:spcBef>
              <a:spcAft>
                <a:spcPts val="425"/>
              </a:spcAft>
            </a:pPr>
            <a:r>
              <a:rPr lang="en-US" sz="1000" b="0" u="none" strike="noStrike">
                <a:solidFill>
                  <a:srgbClr val="000000"/>
                </a:solidFill>
                <a:effectLst/>
                <a:uFillTx/>
                <a:latin typeface="Arial"/>
              </a:rPr>
              <a:t>Miguel Hernández — Help Desk Supervisor </a:t>
            </a:r>
            <a:endParaRPr lang="en-US" sz="1000" b="0" u="none" strike="noStrike">
              <a:solidFill>
                <a:srgbClr val="000000"/>
              </a:solidFill>
              <a:effectLst/>
              <a:uFillTx/>
              <a:latin typeface="Arial"/>
            </a:endParaRPr>
          </a:p>
          <a:p>
            <a:pPr>
              <a:lnSpc>
                <a:spcPct val="100000"/>
              </a:lnSpc>
              <a:spcBef>
                <a:spcPts val="624"/>
              </a:spcBef>
              <a:spcAft>
                <a:spcPts val="425"/>
              </a:spcAft>
            </a:pPr>
            <a:r>
              <a:rPr lang="en-US" sz="1000" b="0" u="none" strike="noStrike">
                <a:solidFill>
                  <a:srgbClr val="000000"/>
                </a:solidFill>
                <a:effectLst/>
                <a:uFillTx/>
                <a:latin typeface="Arial"/>
              </a:rPr>
              <a:t>Andrea López — Help Desk Analyst </a:t>
            </a:r>
            <a:endParaRPr lang="en-US" sz="1000" b="0" u="none" strike="noStrike">
              <a:solidFill>
                <a:srgbClr val="000000"/>
              </a:solidFill>
              <a:effectLst/>
              <a:uFillTx/>
              <a:latin typeface="Arial"/>
            </a:endParaRPr>
          </a:p>
          <a:p>
            <a:pPr>
              <a:lnSpc>
                <a:spcPct val="100000"/>
              </a:lnSpc>
              <a:spcBef>
                <a:spcPts val="624"/>
              </a:spcBef>
              <a:spcAft>
                <a:spcPts val="425"/>
              </a:spcAft>
            </a:pPr>
            <a:r>
              <a:rPr lang="en-US" sz="1000" b="0" u="none" strike="noStrike">
                <a:solidFill>
                  <a:srgbClr val="000000"/>
                </a:solidFill>
                <a:effectLst/>
                <a:uFillTx/>
                <a:latin typeface="Arial"/>
              </a:rPr>
              <a:t>Roberto García — Help Desk Analyst </a:t>
            </a:r>
            <a:endParaRPr lang="en-US" sz="1000" b="0" u="none" strike="noStrike">
              <a:solidFill>
                <a:srgbClr val="000000"/>
              </a:solidFill>
              <a:effectLst/>
              <a:uFillTx/>
              <a:latin typeface="Arial"/>
            </a:endParaRPr>
          </a:p>
          <a:p>
            <a:pPr>
              <a:lnSpc>
                <a:spcPct val="100000"/>
              </a:lnSpc>
              <a:spcBef>
                <a:spcPts val="624"/>
              </a:spcBef>
              <a:spcAft>
                <a:spcPts val="425"/>
              </a:spcAft>
            </a:pPr>
            <a:r>
              <a:rPr lang="en-US" sz="1000" b="0" u="none" strike="noStrike">
                <a:solidFill>
                  <a:srgbClr val="000000"/>
                </a:solidFill>
                <a:effectLst/>
                <a:uFillTx/>
                <a:latin typeface="Arial"/>
              </a:rPr>
              <a:t>Daniel Ortiz — Help Desk Analyst </a:t>
            </a:r>
            <a:endParaRPr lang="en-US" sz="1000" b="0" u="none" strike="noStrike">
              <a:solidFill>
                <a:srgbClr val="000000"/>
              </a:solidFill>
              <a:effectLst/>
              <a:uFillTx/>
              <a:latin typeface="Arial"/>
            </a:endParaRPr>
          </a:p>
          <a:p>
            <a:pPr>
              <a:lnSpc>
                <a:spcPct val="100000"/>
              </a:lnSpc>
              <a:spcBef>
                <a:spcPts val="624"/>
              </a:spcBef>
              <a:spcAft>
                <a:spcPts val="425"/>
              </a:spcAft>
            </a:pPr>
            <a:r>
              <a:rPr lang="en-US" sz="1000" b="0" u="none" strike="noStrike">
                <a:solidFill>
                  <a:srgbClr val="000000"/>
                </a:solidFill>
                <a:effectLst/>
                <a:uFillTx/>
                <a:latin typeface="Arial"/>
              </a:rPr>
              <a:t>Fernanda Ruiz — Help Desk Analyst </a:t>
            </a:r>
            <a:endParaRPr lang="en-US" sz="1000" b="0" u="none" strike="noStrike">
              <a:solidFill>
                <a:srgbClr val="000000"/>
              </a:solidFill>
              <a:effectLst/>
              <a:uFillTx/>
              <a:latin typeface="Arial"/>
            </a:endParaRPr>
          </a:p>
          <a:p>
            <a:pPr>
              <a:lnSpc>
                <a:spcPct val="100000"/>
              </a:lnSpc>
              <a:spcBef>
                <a:spcPts val="624"/>
              </a:spcBef>
              <a:spcAft>
                <a:spcPts val="425"/>
              </a:spcAft>
            </a:pPr>
            <a:r>
              <a:rPr lang="en-US" sz="1000" b="0" u="none" strike="noStrike">
                <a:solidFill>
                  <a:srgbClr val="000000"/>
                </a:solidFill>
                <a:effectLst/>
                <a:uFillTx/>
                <a:latin typeface="Arial"/>
              </a:rPr>
              <a:t>Jorge Castillo — Help Desk Analyst </a:t>
            </a:r>
            <a:endParaRPr lang="en-US" sz="1000" b="0" u="none" strike="noStrike">
              <a:solidFill>
                <a:srgbClr val="000000"/>
              </a:solidFill>
              <a:effectLst/>
              <a:uFillTx/>
              <a:latin typeface="Arial"/>
            </a:endParaRPr>
          </a:p>
          <a:p>
            <a:pPr>
              <a:lnSpc>
                <a:spcPct val="100000"/>
              </a:lnSpc>
              <a:spcBef>
                <a:spcPts val="624"/>
              </a:spcBef>
              <a:spcAft>
                <a:spcPts val="425"/>
              </a:spcAft>
            </a:pPr>
            <a:r>
              <a:rPr lang="en-US" sz="1000" b="0" u="none" strike="noStrike">
                <a:solidFill>
                  <a:srgbClr val="000000"/>
                </a:solidFill>
                <a:effectLst/>
                <a:uFillTx/>
                <a:latin typeface="Arial"/>
              </a:rPr>
              <a:t>Equipos de segundo nivel / escalamiento</a:t>
            </a:r>
            <a:endParaRPr lang="en-US" sz="1000" b="0" u="none" strike="noStrike">
              <a:solidFill>
                <a:srgbClr val="000000"/>
              </a:solidFill>
              <a:effectLst/>
              <a:uFillTx/>
              <a:latin typeface="Arial"/>
            </a:endParaRPr>
          </a:p>
          <a:p>
            <a:pPr>
              <a:lnSpc>
                <a:spcPct val="100000"/>
              </a:lnSpc>
              <a:spcBef>
                <a:spcPts val="624"/>
              </a:spcBef>
              <a:spcAft>
                <a:spcPts val="425"/>
              </a:spcAft>
            </a:pPr>
            <a:r>
              <a:rPr lang="en-US" sz="1000" b="0" u="none" strike="noStrike">
                <a:solidFill>
                  <a:srgbClr val="000000"/>
                </a:solidFill>
                <a:effectLst/>
                <a:uFillTx/>
                <a:latin typeface="Arial"/>
              </a:rPr>
              <a:t>Ricardo Salas — Responsable de Network / Infrastructure </a:t>
            </a:r>
            <a:endParaRPr lang="en-US" sz="1000" b="0" u="none" strike="noStrike">
              <a:solidFill>
                <a:srgbClr val="000000"/>
              </a:solidFill>
              <a:effectLst/>
              <a:uFillTx/>
              <a:latin typeface="Arial"/>
            </a:endParaRPr>
          </a:p>
          <a:p>
            <a:pPr>
              <a:lnSpc>
                <a:spcPct val="100000"/>
              </a:lnSpc>
              <a:spcBef>
                <a:spcPts val="624"/>
              </a:spcBef>
              <a:spcAft>
                <a:spcPts val="425"/>
              </a:spcAft>
            </a:pPr>
            <a:r>
              <a:rPr lang="en-US" sz="1000" b="0" u="none" strike="noStrike">
                <a:solidFill>
                  <a:srgbClr val="000000"/>
                </a:solidFill>
                <a:effectLst/>
                <a:uFillTx/>
                <a:latin typeface="Arial"/>
              </a:rPr>
              <a:t>Patricia Gómez — Responsable de Business Applications </a:t>
            </a:r>
            <a:endParaRPr lang="en-US" sz="1000" b="0" u="none" strike="noStrike">
              <a:solidFill>
                <a:srgbClr val="000000"/>
              </a:solidFill>
              <a:effectLst/>
              <a:uFillTx/>
              <a:latin typeface="Arial"/>
            </a:endParaRPr>
          </a:p>
          <a:p>
            <a:pPr>
              <a:lnSpc>
                <a:spcPct val="100000"/>
              </a:lnSpc>
              <a:spcBef>
                <a:spcPts val="624"/>
              </a:spcBef>
              <a:spcAft>
                <a:spcPts val="425"/>
              </a:spcAft>
            </a:pPr>
            <a:r>
              <a:rPr lang="en-US" sz="1000" b="0" u="none" strike="noStrike">
                <a:solidFill>
                  <a:srgbClr val="000000"/>
                </a:solidFill>
                <a:effectLst/>
                <a:uFillTx/>
                <a:latin typeface="Arial"/>
              </a:rPr>
              <a:t>Alejandro Vega — Responsable de Information Security </a:t>
            </a:r>
            <a:endParaRPr lang="en-US" sz="1000" b="0" u="none" strike="noStrike">
              <a:solidFill>
                <a:srgbClr val="000000"/>
              </a:solidFill>
              <a:effectLst/>
              <a:uFillTx/>
              <a:latin typeface="Arial"/>
            </a:endParaRPr>
          </a:p>
          <a:p>
            <a:pPr>
              <a:lnSpc>
                <a:spcPct val="100000"/>
              </a:lnSpc>
              <a:spcBef>
                <a:spcPts val="624"/>
              </a:spcBef>
              <a:spcAft>
                <a:spcPts val="425"/>
              </a:spcAft>
            </a:pPr>
            <a:r>
              <a:rPr lang="en-US" sz="1000" b="0" u="none" strike="noStrike">
                <a:solidFill>
                  <a:srgbClr val="000000"/>
                </a:solidFill>
                <a:effectLst/>
                <a:uFillTx/>
                <a:latin typeface="Arial"/>
              </a:rPr>
              <a:t>Sponsor / dirección</a:t>
            </a:r>
            <a:endParaRPr lang="en-US" sz="1000" b="0" u="none" strike="noStrike">
              <a:solidFill>
                <a:srgbClr val="000000"/>
              </a:solidFill>
              <a:effectLst/>
              <a:uFillTx/>
              <a:latin typeface="Arial"/>
            </a:endParaRPr>
          </a:p>
          <a:p>
            <a:pPr>
              <a:lnSpc>
                <a:spcPct val="100000"/>
              </a:lnSpc>
              <a:spcBef>
                <a:spcPts val="624"/>
              </a:spcBef>
              <a:spcAft>
                <a:spcPts val="425"/>
              </a:spcAft>
            </a:pPr>
            <a:r>
              <a:rPr lang="en-US" sz="1000" b="0" u="none" strike="noStrike">
                <a:solidFill>
                  <a:srgbClr val="000000"/>
                </a:solidFill>
                <a:effectLst/>
                <a:uFillTx/>
                <a:latin typeface="Arial"/>
              </a:rPr>
              <a:t>Laura Martínez — IT Operations Manager </a:t>
            </a:r>
            <a:endParaRPr lang="en-US" sz="1000" b="0" u="none" strike="noStrike">
              <a:solidFill>
                <a:srgbClr val="000000"/>
              </a:solidFill>
              <a:effectLst/>
              <a:uFillTx/>
              <a:latin typeface="Arial"/>
            </a:endParaRPr>
          </a:p>
          <a:p>
            <a:pPr>
              <a:lnSpc>
                <a:spcPct val="100000"/>
              </a:lnSpc>
              <a:spcBef>
                <a:spcPts val="624"/>
              </a:spcBef>
              <a:spcAft>
                <a:spcPts val="425"/>
              </a:spcAft>
            </a:pPr>
            <a:r>
              <a:rPr lang="en-US" sz="1000" b="0" u="none" strike="noStrike">
                <a:solidFill>
                  <a:srgbClr val="000000"/>
                </a:solidFill>
                <a:effectLst/>
                <a:uFillTx/>
                <a:latin typeface="Arial"/>
              </a:rPr>
              <a:t>Otros stakeholders ya identificados</a:t>
            </a:r>
            <a:endParaRPr lang="en-US" sz="1000" b="0" u="none" strike="noStrike">
              <a:solidFill>
                <a:srgbClr val="000000"/>
              </a:solidFill>
              <a:effectLst/>
              <a:uFillTx/>
              <a:latin typeface="Arial"/>
            </a:endParaRPr>
          </a:p>
          <a:p>
            <a:pPr>
              <a:lnSpc>
                <a:spcPct val="100000"/>
              </a:lnSpc>
              <a:spcBef>
                <a:spcPts val="624"/>
              </a:spcBef>
              <a:spcAft>
                <a:spcPts val="425"/>
              </a:spcAft>
            </a:pPr>
            <a:r>
              <a:rPr lang="en-US" sz="1000" b="0" u="none" strike="noStrike">
                <a:solidFill>
                  <a:srgbClr val="000000"/>
                </a:solidFill>
                <a:effectLst/>
                <a:uFillTx/>
                <a:latin typeface="Arial"/>
              </a:rPr>
              <a:t>Sofía Mendoza — Recursos Humanos </a:t>
            </a:r>
            <a:endParaRPr lang="en-US" sz="1000" b="0" u="none" strike="noStrike">
              <a:solidFill>
                <a:srgbClr val="000000"/>
              </a:solidFill>
              <a:effectLst/>
              <a:uFillTx/>
              <a:latin typeface="Arial"/>
            </a:endParaRPr>
          </a:p>
          <a:p>
            <a:pPr>
              <a:lnSpc>
                <a:spcPct val="100000"/>
              </a:lnSpc>
              <a:spcBef>
                <a:spcPts val="624"/>
              </a:spcBef>
              <a:spcAft>
                <a:spcPts val="425"/>
              </a:spcAft>
            </a:pPr>
            <a:r>
              <a:rPr lang="en-US" sz="1000" b="0" u="none" strike="noStrike">
                <a:solidFill>
                  <a:srgbClr val="000000"/>
                </a:solidFill>
                <a:effectLst/>
                <a:uFillTx/>
                <a:latin typeface="Arial"/>
              </a:rPr>
              <a:t>Gabriela Torres — Finanzas </a:t>
            </a:r>
            <a:endParaRPr lang="en-US" sz="1000" b="0" u="none" strike="noStrike">
              <a:solidFill>
                <a:srgbClr val="000000"/>
              </a:solidFill>
              <a:effectLst/>
              <a:uFillTx/>
              <a:latin typeface="Arial"/>
            </a:endParaRPr>
          </a:p>
          <a:p>
            <a:pPr>
              <a:lnSpc>
                <a:spcPct val="100000"/>
              </a:lnSpc>
              <a:spcBef>
                <a:spcPts val="624"/>
              </a:spcBef>
              <a:spcAft>
                <a:spcPts val="425"/>
              </a:spcAft>
            </a:pPr>
            <a:r>
              <a:rPr lang="en-US" sz="1000" b="0" u="none" strike="noStrike">
                <a:solidFill>
                  <a:srgbClr val="000000"/>
                </a:solidFill>
                <a:effectLst/>
                <a:uFillTx/>
                <a:latin typeface="Arial"/>
              </a:rPr>
              <a:t>En la presentación del kick-off, los equipos secundarios aparecen como Network, Business Applications e Information Security, con Help Desk como primer nivel de atención. </a:t>
            </a:r>
            <a:endParaRPr lang="en-US" sz="1000" b="0" u="none" strike="noStrike">
              <a:solidFill>
                <a:srgbClr val="000000"/>
              </a:solidFill>
              <a:effectLst/>
              <a:uFillTx/>
              <a:latin typeface="Arial"/>
            </a:endParaRPr>
          </a:p>
          <a:p>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A6099"/>
        </a:solidFill>
      </p:bgPr>
    </p:bg>
    <p:spTree>
      <p:nvGrpSpPr>
        <p:cNvPr id="1" name=""/>
        <p:cNvGrpSpPr/>
        <p:nvPr/>
      </p:nvGrpSpPr>
      <p:grpSpPr>
        <a:xfrm>
          <a:off x="0" y="0"/>
          <a:ext cx="0" cy="0"/>
          <a:chOff x="0" y="0"/>
          <a:chExt cx="0" cy="0"/>
        </a:xfrm>
      </p:grpSpPr>
      <p:sp>
        <p:nvSpPr>
          <p:cNvPr id="214" name="Shape 36"/>
          <p:cNvSpPr/>
          <p:nvPr/>
        </p:nvSpPr>
        <p:spPr>
          <a:xfrm>
            <a:off x="639720" y="6510240"/>
            <a:ext cx="10878840" cy="360"/>
          </a:xfrm>
          <a:prstGeom prst="line">
            <a:avLst/>
          </a:prstGeom>
          <a:ln w="6350">
            <a:solidFill>
              <a:srgbClr val="D9E3EA"/>
            </a:solidFill>
            <a:round/>
          </a:ln>
        </p:spPr>
        <p:style>
          <a:lnRef idx="0"/>
          <a:fillRef idx="0"/>
          <a:effectRef idx="0"/>
          <a:fontRef idx="minor"/>
        </p:style>
        <p:txBody>
          <a:bodyPr lIns="90000" tIns="-44640" rIns="90000" bIns="-44640" anchor="t" anchorCtr="1">
            <a:noAutofit/>
          </a:bodyPr>
          <a:p>
            <a:endParaRPr lang="en-US" sz="1800" b="0" u="none" strike="noStrike">
              <a:solidFill>
                <a:srgbClr val="FFFFFF"/>
              </a:solidFill>
              <a:effectLst/>
              <a:uFillTx/>
              <a:latin typeface="Arial"/>
            </a:endParaRPr>
          </a:p>
        </p:txBody>
      </p:sp>
      <p:sp>
        <p:nvSpPr>
          <p:cNvPr id="215" name="Text 49"/>
          <p:cNvSpPr/>
          <p:nvPr/>
        </p:nvSpPr>
        <p:spPr>
          <a:xfrm>
            <a:off x="639720" y="6583680"/>
            <a:ext cx="365652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0" u="none" strike="noStrike">
                <a:solidFill>
                  <a:srgbClr val="65758B"/>
                </a:solidFill>
                <a:effectLst/>
                <a:uFillTx/>
                <a:latin typeface="Aptos"/>
              </a:rPr>
              <a:t>ServiceDesk Kick-off</a:t>
            </a:r>
            <a:endParaRPr lang="en-US" sz="800" b="0" u="none" strike="noStrike">
              <a:solidFill>
                <a:srgbClr val="FFFFFF"/>
              </a:solidFill>
              <a:effectLst/>
              <a:uFillTx/>
              <a:latin typeface="Arial"/>
            </a:endParaRPr>
          </a:p>
        </p:txBody>
      </p:sp>
      <p:sp>
        <p:nvSpPr>
          <p:cNvPr id="216" name="Text 50"/>
          <p:cNvSpPr/>
          <p:nvPr/>
        </p:nvSpPr>
        <p:spPr>
          <a:xfrm>
            <a:off x="10969920" y="6565320"/>
            <a:ext cx="548280" cy="1825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00" b="0" u="none" strike="noStrike">
                <a:solidFill>
                  <a:srgbClr val="65758B"/>
                </a:solidFill>
                <a:effectLst/>
                <a:uFillTx/>
                <a:latin typeface="Aptos"/>
              </a:rPr>
              <a:t>07</a:t>
            </a:r>
            <a:endParaRPr lang="en-US" sz="800" b="0" u="none" strike="noStrike">
              <a:solidFill>
                <a:srgbClr val="FFFFFF"/>
              </a:solidFill>
              <a:effectLst/>
              <a:uFillTx/>
              <a:latin typeface="Arial"/>
            </a:endParaRPr>
          </a:p>
        </p:txBody>
      </p:sp>
      <p:sp>
        <p:nvSpPr>
          <p:cNvPr id="217" name=""/>
          <p:cNvSpPr txBox="1"/>
          <p:nvPr/>
        </p:nvSpPr>
        <p:spPr>
          <a:xfrm>
            <a:off x="3803760" y="312120"/>
            <a:ext cx="4197240" cy="373680"/>
          </a:xfrm>
          <a:prstGeom prst="rect">
            <a:avLst/>
          </a:prstGeom>
          <a:noFill/>
          <a:ln w="0">
            <a:noFill/>
          </a:ln>
        </p:spPr>
        <p:txBody>
          <a:bodyPr wrap="none" lIns="90000" tIns="45000" rIns="90000" bIns="45000" anchor="t">
            <a:spAutoFit/>
          </a:bodyPr>
          <a:p>
            <a:r>
              <a:rPr lang="en-US" sz="2000" b="1" i="1" u="none" strike="noStrike">
                <a:solidFill>
                  <a:srgbClr val="FFFFFF"/>
                </a:solidFill>
                <a:effectLst/>
                <a:uFillTx/>
                <a:latin typeface="Arial"/>
              </a:rPr>
              <a:t>Entrevista 1 — Miguel Hernández</a:t>
            </a:r>
            <a:endParaRPr lang="en-US" sz="2000" b="1" i="1" u="none" strike="noStrike">
              <a:solidFill>
                <a:srgbClr val="FFFFFF"/>
              </a:solidFill>
              <a:effectLst/>
              <a:uFillTx/>
              <a:latin typeface="Arial"/>
            </a:endParaRPr>
          </a:p>
        </p:txBody>
      </p:sp>
      <p:sp>
        <p:nvSpPr>
          <p:cNvPr id="218" name=""/>
          <p:cNvSpPr txBox="1"/>
          <p:nvPr/>
        </p:nvSpPr>
        <p:spPr>
          <a:xfrm>
            <a:off x="1828800" y="1143000"/>
            <a:ext cx="8636040" cy="4377600"/>
          </a:xfrm>
          <a:prstGeom prst="rect">
            <a:avLst/>
          </a:prstGeom>
          <a:noFill/>
          <a:ln w="0">
            <a:noFill/>
          </a:ln>
        </p:spPr>
        <p:txBody>
          <a:bodyPr lIns="90000" tIns="45000" rIns="90000" bIns="45000" anchor="t">
            <a:spAutoFit/>
          </a:bodyPr>
          <a:p>
            <a:r>
              <a:rPr lang="en-US" sz="1600" b="1" u="none" strike="noStrike">
                <a:solidFill>
                  <a:srgbClr val="FFFFFF"/>
                </a:solidFill>
                <a:effectLst/>
                <a:uFillTx/>
                <a:latin typeface="Arial"/>
              </a:rPr>
              <a:t>1. Proceso actual</a:t>
            </a:r>
            <a:endParaRPr lang="en-US" sz="1600" b="1" u="none" strike="noStrike">
              <a:solidFill>
                <a:srgbClr val="FFFFFF"/>
              </a:solidFill>
              <a:effectLst/>
              <a:uFillTx/>
              <a:latin typeface="Arial"/>
            </a:endParaRPr>
          </a:p>
          <a:p>
            <a:r>
              <a:rPr lang="en-US" sz="1000" b="0" u="none" strike="noStrike">
                <a:solidFill>
                  <a:srgbClr val="FFFFFF"/>
                </a:solidFill>
                <a:effectLst/>
                <a:uFillTx/>
                <a:latin typeface="Arial"/>
              </a:rPr>
              <a:t>“Camíname paso a paso: ¿qué pasa desde que un usuario reporta algo hasta que se cierra el caso, hoy en día?”</a:t>
            </a:r>
            <a:endParaRPr lang="en-US" sz="1000" b="0" u="none" strike="noStrike">
              <a:solidFill>
                <a:srgbClr val="FFFFFF"/>
              </a:solidFill>
              <a:effectLst/>
              <a:uFillTx/>
              <a:latin typeface="Arial"/>
            </a:endParaRPr>
          </a:p>
          <a:p>
            <a:r>
              <a:rPr lang="en-US" sz="1000" b="0" u="none" strike="noStrike">
                <a:solidFill>
                  <a:srgbClr val="FFFFFF"/>
                </a:solidFill>
                <a:effectLst/>
                <a:uFillTx/>
                <a:latin typeface="Arial"/>
              </a:rPr>
              <a:t>Depende bastante de cómo llegue la solicitud.</a:t>
            </a:r>
            <a:endParaRPr lang="en-US" sz="1000" b="0" u="none" strike="noStrike">
              <a:solidFill>
                <a:srgbClr val="FFFFFF"/>
              </a:solidFill>
              <a:effectLst/>
              <a:uFillTx/>
              <a:latin typeface="Arial"/>
            </a:endParaRPr>
          </a:p>
          <a:p>
            <a:r>
              <a:rPr lang="en-US" sz="1000" b="0" u="none" strike="noStrike">
                <a:solidFill>
                  <a:srgbClr val="FFFFFF"/>
                </a:solidFill>
                <a:effectLst/>
                <a:uFillTx/>
                <a:latin typeface="Arial"/>
              </a:rPr>
              <a:t>Si llega al buzón de soporte, alguno de los analistas la ve y normalmente la toma quien esté disponible o quien conozca mejor el tema. Si llega por Teams, llamada o directamente a una persona, esa misma persona suele empezar a atenderla.</a:t>
            </a:r>
            <a:endParaRPr lang="en-US" sz="1000" b="0" u="none" strike="noStrike">
              <a:solidFill>
                <a:srgbClr val="FFFFFF"/>
              </a:solidFill>
              <a:effectLst/>
              <a:uFillTx/>
              <a:latin typeface="Arial"/>
            </a:endParaRPr>
          </a:p>
          <a:p>
            <a:r>
              <a:rPr lang="en-US" sz="1000" b="0" u="none" strike="noStrike">
                <a:solidFill>
                  <a:srgbClr val="FFFFFF"/>
                </a:solidFill>
                <a:effectLst/>
                <a:uFillTx/>
                <a:latin typeface="Arial"/>
              </a:rPr>
              <a:t>Si el analista puede resolverlo, lo resuelve directamente con el usuario. Algunas veces registra el caso en el Excel y otras veces no, sobre todo si fue algo rápido.</a:t>
            </a:r>
            <a:endParaRPr lang="en-US" sz="1000" b="0" u="none" strike="noStrike">
              <a:solidFill>
                <a:srgbClr val="FFFFFF"/>
              </a:solidFill>
              <a:effectLst/>
              <a:uFillTx/>
              <a:latin typeface="Arial"/>
            </a:endParaRPr>
          </a:p>
          <a:p>
            <a:r>
              <a:rPr lang="en-US" sz="1000" b="0" u="none" strike="noStrike">
                <a:solidFill>
                  <a:srgbClr val="FFFFFF"/>
                </a:solidFill>
                <a:effectLst/>
                <a:uFillTx/>
                <a:latin typeface="Arial"/>
              </a:rPr>
              <a:t>Si no puede resolverlo, normalmente pregunta dentro del equipo o lo escala a Network, Applications o Security. Ese escalamiento puede hacerse por Teams, correo o incluso hablando directamente con alguien.</a:t>
            </a:r>
            <a:endParaRPr lang="en-US" sz="1000" b="0" u="none" strike="noStrike">
              <a:solidFill>
                <a:srgbClr val="FFFFFF"/>
              </a:solidFill>
              <a:effectLst/>
              <a:uFillTx/>
              <a:latin typeface="Arial"/>
            </a:endParaRPr>
          </a:p>
          <a:p>
            <a:r>
              <a:rPr lang="en-US" sz="1000" b="0" u="none" strike="noStrike">
                <a:solidFill>
                  <a:srgbClr val="FFFFFF"/>
                </a:solidFill>
                <a:effectLst/>
                <a:uFillTx/>
                <a:latin typeface="Arial"/>
              </a:rPr>
              <a:t>Después de eso, el seguimiento depende mucho del analista. No tenemos una cola formal donde pueda ver claramente qué casos están con segundo nivel.</a:t>
            </a:r>
            <a:endParaRPr lang="en-US" sz="1000" b="0" u="none" strike="noStrike">
              <a:solidFill>
                <a:srgbClr val="FFFFFF"/>
              </a:solidFill>
              <a:effectLst/>
              <a:uFillTx/>
              <a:latin typeface="Arial"/>
            </a:endParaRPr>
          </a:p>
          <a:p>
            <a:r>
              <a:rPr lang="en-US" sz="1000" b="0" u="none" strike="noStrike">
                <a:solidFill>
                  <a:srgbClr val="FFFFFF"/>
                </a:solidFill>
                <a:effectLst/>
                <a:uFillTx/>
                <a:latin typeface="Arial"/>
              </a:rPr>
              <a:t>Cuando el problema se resuelve, se informa al usuario. Si estaba registrado en Excel, normalmente se marca como resuelto. No tenemos un proceso uniforme de confirmación del usuario antes del cierre.</a:t>
            </a:r>
            <a:endParaRPr lang="en-US" sz="1000" b="0" u="none" strike="noStrike">
              <a:solidFill>
                <a:srgbClr val="FFFFFF"/>
              </a:solidFill>
              <a:effectLst/>
              <a:uFillTx/>
              <a:latin typeface="Arial"/>
            </a:endParaRPr>
          </a:p>
          <a:p>
            <a:endParaRPr lang="en-US"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A6099"/>
        </a:solidFill>
      </p:bgPr>
    </p:bg>
    <p:spTree>
      <p:nvGrpSpPr>
        <p:cNvPr id="1" name=""/>
        <p:cNvGrpSpPr/>
        <p:nvPr/>
      </p:nvGrpSpPr>
      <p:grpSpPr>
        <a:xfrm>
          <a:off x="0" y="0"/>
          <a:ext cx="0" cy="0"/>
          <a:chOff x="0" y="0"/>
          <a:chExt cx="0" cy="0"/>
        </a:xfrm>
      </p:grpSpPr>
      <p:sp>
        <p:nvSpPr>
          <p:cNvPr id="219" name="Shape 37"/>
          <p:cNvSpPr/>
          <p:nvPr/>
        </p:nvSpPr>
        <p:spPr>
          <a:xfrm>
            <a:off x="639720" y="6510240"/>
            <a:ext cx="10878840" cy="360"/>
          </a:xfrm>
          <a:prstGeom prst="line">
            <a:avLst/>
          </a:prstGeom>
          <a:ln w="6350">
            <a:solidFill>
              <a:srgbClr val="D9E3EA"/>
            </a:solidFill>
            <a:round/>
          </a:ln>
        </p:spPr>
        <p:style>
          <a:lnRef idx="0"/>
          <a:fillRef idx="0"/>
          <a:effectRef idx="0"/>
          <a:fontRef idx="minor"/>
        </p:style>
        <p:txBody>
          <a:bodyPr lIns="90000" tIns="-44640" rIns="90000" bIns="-44640" anchor="t" anchorCtr="1">
            <a:noAutofit/>
          </a:bodyPr>
          <a:p>
            <a:endParaRPr lang="en-US" sz="1800" b="0" u="none" strike="noStrike">
              <a:solidFill>
                <a:srgbClr val="FFFFFF"/>
              </a:solidFill>
              <a:effectLst/>
              <a:uFillTx/>
              <a:latin typeface="Arial"/>
            </a:endParaRPr>
          </a:p>
        </p:txBody>
      </p:sp>
      <p:sp>
        <p:nvSpPr>
          <p:cNvPr id="220" name="Text 51"/>
          <p:cNvSpPr/>
          <p:nvPr/>
        </p:nvSpPr>
        <p:spPr>
          <a:xfrm>
            <a:off x="639720" y="6583680"/>
            <a:ext cx="365652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0" u="none" strike="noStrike">
                <a:solidFill>
                  <a:srgbClr val="65758B"/>
                </a:solidFill>
                <a:effectLst/>
                <a:uFillTx/>
                <a:latin typeface="Aptos"/>
              </a:rPr>
              <a:t>ServiceDesk Kick-off</a:t>
            </a:r>
            <a:endParaRPr lang="en-US" sz="800" b="0" u="none" strike="noStrike">
              <a:solidFill>
                <a:srgbClr val="FFFFFF"/>
              </a:solidFill>
              <a:effectLst/>
              <a:uFillTx/>
              <a:latin typeface="Arial"/>
            </a:endParaRPr>
          </a:p>
        </p:txBody>
      </p:sp>
      <p:sp>
        <p:nvSpPr>
          <p:cNvPr id="221" name="Text 52"/>
          <p:cNvSpPr/>
          <p:nvPr/>
        </p:nvSpPr>
        <p:spPr>
          <a:xfrm>
            <a:off x="10969920" y="6565320"/>
            <a:ext cx="548280" cy="1825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00" b="0" u="none" strike="noStrike">
                <a:solidFill>
                  <a:srgbClr val="65758B"/>
                </a:solidFill>
                <a:effectLst/>
                <a:uFillTx/>
                <a:latin typeface="Aptos"/>
              </a:rPr>
              <a:t>07</a:t>
            </a:r>
            <a:endParaRPr lang="en-US" sz="800" b="0" u="none" strike="noStrike">
              <a:solidFill>
                <a:srgbClr val="FFFFFF"/>
              </a:solidFill>
              <a:effectLst/>
              <a:uFillTx/>
              <a:latin typeface="Arial"/>
            </a:endParaRPr>
          </a:p>
        </p:txBody>
      </p:sp>
      <p:sp>
        <p:nvSpPr>
          <p:cNvPr id="222" name=""/>
          <p:cNvSpPr txBox="1"/>
          <p:nvPr/>
        </p:nvSpPr>
        <p:spPr>
          <a:xfrm>
            <a:off x="3803760" y="312120"/>
            <a:ext cx="4197240" cy="373680"/>
          </a:xfrm>
          <a:prstGeom prst="rect">
            <a:avLst/>
          </a:prstGeom>
          <a:noFill/>
          <a:ln w="0">
            <a:noFill/>
          </a:ln>
        </p:spPr>
        <p:txBody>
          <a:bodyPr wrap="none" lIns="90000" tIns="45000" rIns="90000" bIns="45000" anchor="t">
            <a:spAutoFit/>
          </a:bodyPr>
          <a:p>
            <a:r>
              <a:rPr lang="en-US" sz="2000" b="1" i="1" u="none" strike="noStrike">
                <a:solidFill>
                  <a:srgbClr val="FFFFFF"/>
                </a:solidFill>
                <a:effectLst/>
                <a:uFillTx/>
                <a:latin typeface="Arial"/>
              </a:rPr>
              <a:t>Entrevista 1 — Miguel Hernández</a:t>
            </a:r>
            <a:endParaRPr lang="en-US" sz="2000" b="1" i="1" u="none" strike="noStrike">
              <a:solidFill>
                <a:srgbClr val="FFFFFF"/>
              </a:solidFill>
              <a:effectLst/>
              <a:uFillTx/>
              <a:latin typeface="Arial"/>
            </a:endParaRPr>
          </a:p>
        </p:txBody>
      </p:sp>
      <p:sp>
        <p:nvSpPr>
          <p:cNvPr id="223" name=""/>
          <p:cNvSpPr txBox="1"/>
          <p:nvPr/>
        </p:nvSpPr>
        <p:spPr>
          <a:xfrm>
            <a:off x="1170000" y="1139400"/>
            <a:ext cx="9574200" cy="2746800"/>
          </a:xfrm>
          <a:prstGeom prst="rect">
            <a:avLst/>
          </a:prstGeom>
          <a:noFill/>
          <a:ln w="0">
            <a:noFill/>
          </a:ln>
        </p:spPr>
        <p:txBody>
          <a:bodyPr lIns="90000" tIns="45000" rIns="90000" bIns="45000" anchor="t">
            <a:spAutoFit/>
          </a:bodyPr>
          <a:p>
            <a:r>
              <a:rPr lang="en-US" sz="1000" b="0" u="none" strike="noStrike">
                <a:solidFill>
                  <a:srgbClr val="FFFFFF"/>
                </a:solidFill>
                <a:effectLst/>
                <a:uFillTx/>
                <a:latin typeface="Arial"/>
              </a:rPr>
              <a:t>“¿Cómo deciden ahora si algo es un ‘incidente’ urgente o una ‘solicitud’ que puede esperar?”</a:t>
            </a:r>
            <a:endParaRPr lang="en-US" sz="1000" b="0" u="none" strike="noStrike">
              <a:solidFill>
                <a:srgbClr val="FFFFFF"/>
              </a:solidFill>
              <a:effectLst/>
              <a:uFillTx/>
              <a:latin typeface="Arial"/>
            </a:endParaRPr>
          </a:p>
          <a:p>
            <a:r>
              <a:rPr lang="en-US" sz="1000" b="0" u="none" strike="noStrike">
                <a:solidFill>
                  <a:srgbClr val="FFFFFF"/>
                </a:solidFill>
                <a:effectLst/>
                <a:uFillTx/>
                <a:latin typeface="Arial"/>
              </a:rPr>
              <a:t>No tenemos una definición formal.</a:t>
            </a:r>
            <a:endParaRPr lang="en-US" sz="1000" b="0" u="none" strike="noStrike">
              <a:solidFill>
                <a:srgbClr val="FFFFFF"/>
              </a:solidFill>
              <a:effectLst/>
              <a:uFillTx/>
              <a:latin typeface="Arial"/>
            </a:endParaRPr>
          </a:p>
          <a:p>
            <a:r>
              <a:rPr lang="en-US" sz="1000" b="0" u="none" strike="noStrike">
                <a:solidFill>
                  <a:srgbClr val="FFFFFF"/>
                </a:solidFill>
                <a:effectLst/>
                <a:uFillTx/>
                <a:latin typeface="Arial"/>
              </a:rPr>
              <a:t>Normalmente usamos criterio. Si el usuario no puede trabajar, si afecta a varias personas o si involucra algo importante para el negocio, tratamos de atenderlo primero.</a:t>
            </a:r>
            <a:endParaRPr lang="en-US" sz="1000" b="0" u="none" strike="noStrike">
              <a:solidFill>
                <a:srgbClr val="FFFFFF"/>
              </a:solidFill>
              <a:effectLst/>
              <a:uFillTx/>
              <a:latin typeface="Arial"/>
            </a:endParaRPr>
          </a:p>
          <a:p>
            <a:r>
              <a:rPr lang="en-US" sz="1000" b="0" u="none" strike="noStrike">
                <a:solidFill>
                  <a:srgbClr val="FFFFFF"/>
                </a:solidFill>
                <a:effectLst/>
                <a:uFillTx/>
                <a:latin typeface="Arial"/>
              </a:rPr>
              <a:t>También influye mucho cómo llega el caso. Si alguien llama diciendo que es urgente, normalmente llama la atención más rápido que un correo.</a:t>
            </a:r>
            <a:endParaRPr lang="en-US" sz="1000" b="0" u="none" strike="noStrike">
              <a:solidFill>
                <a:srgbClr val="FFFFFF"/>
              </a:solidFill>
              <a:effectLst/>
              <a:uFillTx/>
              <a:latin typeface="Arial"/>
            </a:endParaRPr>
          </a:p>
          <a:p>
            <a:r>
              <a:rPr lang="en-US" sz="1000" b="0" u="none" strike="noStrike">
                <a:solidFill>
                  <a:srgbClr val="FFFFFF"/>
                </a:solidFill>
                <a:effectLst/>
                <a:uFillTx/>
                <a:latin typeface="Arial"/>
              </a:rPr>
              <a:t>Y sí, también pasa que si es un director o gerente, la solicitud se mueve más rápido.</a:t>
            </a:r>
            <a:endParaRPr lang="en-US" sz="1000" b="0" u="none" strike="noStrike">
              <a:solidFill>
                <a:srgbClr val="FFFFFF"/>
              </a:solidFill>
              <a:effectLst/>
              <a:uFillTx/>
              <a:latin typeface="Arial"/>
            </a:endParaRPr>
          </a:p>
          <a:p>
            <a:r>
              <a:rPr lang="en-US" sz="1000" b="0" u="none" strike="noStrike">
                <a:solidFill>
                  <a:srgbClr val="FFFFFF"/>
                </a:solidFill>
                <a:effectLst/>
                <a:uFillTx/>
                <a:latin typeface="Arial"/>
              </a:rPr>
              <a:t>No tenemos una matriz de impacto y urgencia ni algo por el estilo.</a:t>
            </a:r>
            <a:endParaRPr lang="en-US" sz="1000" b="0" u="none" strike="noStrike">
              <a:solidFill>
                <a:srgbClr val="FFFFFF"/>
              </a:solidFill>
              <a:effectLst/>
              <a:uFillTx/>
              <a:latin typeface="Arial"/>
            </a:endParaRPr>
          </a:p>
          <a:p>
            <a:endParaRPr lang="en-US"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A6099"/>
        </a:solidFill>
      </p:bgPr>
    </p:bg>
    <p:spTree>
      <p:nvGrpSpPr>
        <p:cNvPr id="1" name=""/>
        <p:cNvGrpSpPr/>
        <p:nvPr/>
      </p:nvGrpSpPr>
      <p:grpSpPr>
        <a:xfrm>
          <a:off x="0" y="0"/>
          <a:ext cx="0" cy="0"/>
          <a:chOff x="0" y="0"/>
          <a:chExt cx="0" cy="0"/>
        </a:xfrm>
      </p:grpSpPr>
      <p:sp>
        <p:nvSpPr>
          <p:cNvPr id="224" name="Shape 39"/>
          <p:cNvSpPr/>
          <p:nvPr/>
        </p:nvSpPr>
        <p:spPr>
          <a:xfrm>
            <a:off x="639720" y="6510240"/>
            <a:ext cx="10878840" cy="360"/>
          </a:xfrm>
          <a:prstGeom prst="line">
            <a:avLst/>
          </a:prstGeom>
          <a:ln w="6350">
            <a:solidFill>
              <a:srgbClr val="D9E3EA"/>
            </a:solidFill>
            <a:round/>
          </a:ln>
        </p:spPr>
        <p:style>
          <a:lnRef idx="0"/>
          <a:fillRef idx="0"/>
          <a:effectRef idx="0"/>
          <a:fontRef idx="minor"/>
        </p:style>
        <p:txBody>
          <a:bodyPr lIns="90000" tIns="-44640" rIns="90000" bIns="-44640" anchor="t" anchorCtr="1">
            <a:noAutofit/>
          </a:bodyPr>
          <a:p>
            <a:endParaRPr lang="en-US" sz="1800" b="0" u="none" strike="noStrike">
              <a:solidFill>
                <a:srgbClr val="FFFFFF"/>
              </a:solidFill>
              <a:effectLst/>
              <a:uFillTx/>
              <a:latin typeface="Arial"/>
            </a:endParaRPr>
          </a:p>
        </p:txBody>
      </p:sp>
      <p:sp>
        <p:nvSpPr>
          <p:cNvPr id="225" name="Text 53"/>
          <p:cNvSpPr/>
          <p:nvPr/>
        </p:nvSpPr>
        <p:spPr>
          <a:xfrm>
            <a:off x="639720" y="6583680"/>
            <a:ext cx="365652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0" u="none" strike="noStrike">
                <a:solidFill>
                  <a:srgbClr val="65758B"/>
                </a:solidFill>
                <a:effectLst/>
                <a:uFillTx/>
                <a:latin typeface="Aptos"/>
              </a:rPr>
              <a:t>ServiceDesk Kick-off</a:t>
            </a:r>
            <a:endParaRPr lang="en-US" sz="800" b="0" u="none" strike="noStrike">
              <a:solidFill>
                <a:srgbClr val="FFFFFF"/>
              </a:solidFill>
              <a:effectLst/>
              <a:uFillTx/>
              <a:latin typeface="Arial"/>
            </a:endParaRPr>
          </a:p>
        </p:txBody>
      </p:sp>
      <p:sp>
        <p:nvSpPr>
          <p:cNvPr id="226" name="Text 54"/>
          <p:cNvSpPr/>
          <p:nvPr/>
        </p:nvSpPr>
        <p:spPr>
          <a:xfrm>
            <a:off x="10969920" y="6565320"/>
            <a:ext cx="548280" cy="1825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00" b="0" u="none" strike="noStrike">
                <a:solidFill>
                  <a:srgbClr val="65758B"/>
                </a:solidFill>
                <a:effectLst/>
                <a:uFillTx/>
                <a:latin typeface="Aptos"/>
              </a:rPr>
              <a:t>07</a:t>
            </a:r>
            <a:endParaRPr lang="en-US" sz="800" b="0" u="none" strike="noStrike">
              <a:solidFill>
                <a:srgbClr val="FFFFFF"/>
              </a:solidFill>
              <a:effectLst/>
              <a:uFillTx/>
              <a:latin typeface="Arial"/>
            </a:endParaRPr>
          </a:p>
        </p:txBody>
      </p:sp>
      <p:sp>
        <p:nvSpPr>
          <p:cNvPr id="227" name=""/>
          <p:cNvSpPr txBox="1"/>
          <p:nvPr/>
        </p:nvSpPr>
        <p:spPr>
          <a:xfrm>
            <a:off x="3803760" y="312120"/>
            <a:ext cx="4197240" cy="373680"/>
          </a:xfrm>
          <a:prstGeom prst="rect">
            <a:avLst/>
          </a:prstGeom>
          <a:noFill/>
          <a:ln w="0">
            <a:noFill/>
          </a:ln>
        </p:spPr>
        <p:txBody>
          <a:bodyPr wrap="none" lIns="90000" tIns="45000" rIns="90000" bIns="45000" anchor="t">
            <a:spAutoFit/>
          </a:bodyPr>
          <a:p>
            <a:r>
              <a:rPr lang="en-US" sz="2000" b="1" i="1" u="none" strike="noStrike">
                <a:solidFill>
                  <a:srgbClr val="FFFFFF"/>
                </a:solidFill>
                <a:effectLst/>
                <a:uFillTx/>
                <a:latin typeface="Arial"/>
              </a:rPr>
              <a:t>Entrevista 1 — Miguel Hernández</a:t>
            </a:r>
            <a:endParaRPr lang="en-US" sz="2000" b="1" i="1" u="none" strike="noStrike">
              <a:solidFill>
                <a:srgbClr val="FFFFFF"/>
              </a:solidFill>
              <a:effectLst/>
              <a:uFillTx/>
              <a:latin typeface="Arial"/>
            </a:endParaRPr>
          </a:p>
        </p:txBody>
      </p:sp>
      <p:sp>
        <p:nvSpPr>
          <p:cNvPr id="228" name=""/>
          <p:cNvSpPr txBox="1"/>
          <p:nvPr/>
        </p:nvSpPr>
        <p:spPr>
          <a:xfrm>
            <a:off x="1600200" y="830160"/>
            <a:ext cx="8822160" cy="5680080"/>
          </a:xfrm>
          <a:prstGeom prst="rect">
            <a:avLst/>
          </a:prstGeom>
          <a:noFill/>
          <a:ln w="0">
            <a:noFill/>
          </a:ln>
        </p:spPr>
        <p:txBody>
          <a:bodyPr lIns="90000" tIns="45000" rIns="90000" bIns="45000" anchor="t">
            <a:spAutoFit/>
          </a:bodyPr>
          <a:p>
            <a:r>
              <a:rPr lang="en-US" sz="1000" b="0" u="none" strike="noStrike">
                <a:solidFill>
                  <a:srgbClr val="FFFFFF"/>
                </a:solidFill>
                <a:effectLst/>
                <a:uFillTx/>
                <a:latin typeface="Arial"/>
              </a:rPr>
              <a:t>“¿Qué categorías o tipos de casos manejan? ¿Tienen alguna clasificación ya, aunque sea informal?”</a:t>
            </a:r>
            <a:endParaRPr lang="en-US" sz="1000" b="0" u="none" strike="noStrike">
              <a:solidFill>
                <a:srgbClr val="FFFFFF"/>
              </a:solidFill>
              <a:effectLst/>
              <a:uFillTx/>
              <a:latin typeface="Arial"/>
            </a:endParaRPr>
          </a:p>
          <a:p>
            <a:pPr>
              <a:lnSpc>
                <a:spcPct val="100000"/>
              </a:lnSpc>
              <a:spcBef>
                <a:spcPts val="340"/>
              </a:spcBef>
              <a:spcAft>
                <a:spcPts val="142"/>
              </a:spcAft>
            </a:pPr>
            <a:r>
              <a:rPr lang="en-US" sz="1000" b="0" u="none" strike="noStrike">
                <a:solidFill>
                  <a:srgbClr val="FFFFFF"/>
                </a:solidFill>
                <a:effectLst/>
                <a:uFillTx/>
                <a:latin typeface="Arial"/>
              </a:rPr>
              <a:t>En el Excel tenemos categorías como:</a:t>
            </a:r>
            <a:endParaRPr lang="en-US" sz="1000" b="0" u="none" strike="noStrike">
              <a:solidFill>
                <a:srgbClr val="FFFFFF"/>
              </a:solidFill>
              <a:effectLst/>
              <a:uFillTx/>
              <a:latin typeface="Arial"/>
            </a:endParaRPr>
          </a:p>
          <a:p>
            <a:pPr>
              <a:lnSpc>
                <a:spcPct val="100000"/>
              </a:lnSpc>
              <a:spcBef>
                <a:spcPts val="340"/>
              </a:spcBef>
              <a:spcAft>
                <a:spcPts val="142"/>
              </a:spcAft>
            </a:pPr>
            <a:r>
              <a:rPr lang="en-US" sz="1000" b="0" u="none" strike="noStrike">
                <a:solidFill>
                  <a:srgbClr val="FFFFFF"/>
                </a:solidFill>
                <a:effectLst/>
                <a:uFillTx/>
                <a:latin typeface="Arial"/>
              </a:rPr>
              <a:t>Hardware </a:t>
            </a:r>
            <a:endParaRPr lang="en-US" sz="1000" b="0" u="none" strike="noStrike">
              <a:solidFill>
                <a:srgbClr val="FFFFFF"/>
              </a:solidFill>
              <a:effectLst/>
              <a:uFillTx/>
              <a:latin typeface="Arial"/>
            </a:endParaRPr>
          </a:p>
          <a:p>
            <a:pPr>
              <a:lnSpc>
                <a:spcPct val="100000"/>
              </a:lnSpc>
              <a:spcBef>
                <a:spcPts val="340"/>
              </a:spcBef>
              <a:spcAft>
                <a:spcPts val="142"/>
              </a:spcAft>
            </a:pPr>
            <a:r>
              <a:rPr lang="en-US" sz="1000" b="0" u="none" strike="noStrike">
                <a:solidFill>
                  <a:srgbClr val="FFFFFF"/>
                </a:solidFill>
                <a:effectLst/>
                <a:uFillTx/>
                <a:latin typeface="Arial"/>
              </a:rPr>
              <a:t>Software </a:t>
            </a:r>
            <a:endParaRPr lang="en-US" sz="1000" b="0" u="none" strike="noStrike">
              <a:solidFill>
                <a:srgbClr val="FFFFFF"/>
              </a:solidFill>
              <a:effectLst/>
              <a:uFillTx/>
              <a:latin typeface="Arial"/>
            </a:endParaRPr>
          </a:p>
          <a:p>
            <a:pPr>
              <a:lnSpc>
                <a:spcPct val="100000"/>
              </a:lnSpc>
              <a:spcBef>
                <a:spcPts val="340"/>
              </a:spcBef>
              <a:spcAft>
                <a:spcPts val="142"/>
              </a:spcAft>
            </a:pPr>
            <a:r>
              <a:rPr lang="en-US" sz="1000" b="0" u="none" strike="noStrike">
                <a:solidFill>
                  <a:srgbClr val="FFFFFF"/>
                </a:solidFill>
                <a:effectLst/>
                <a:uFillTx/>
                <a:latin typeface="Arial"/>
              </a:rPr>
              <a:t>Accesos </a:t>
            </a:r>
            <a:endParaRPr lang="en-US" sz="1000" b="0" u="none" strike="noStrike">
              <a:solidFill>
                <a:srgbClr val="FFFFFF"/>
              </a:solidFill>
              <a:effectLst/>
              <a:uFillTx/>
              <a:latin typeface="Arial"/>
            </a:endParaRPr>
          </a:p>
          <a:p>
            <a:pPr>
              <a:lnSpc>
                <a:spcPct val="100000"/>
              </a:lnSpc>
              <a:spcBef>
                <a:spcPts val="340"/>
              </a:spcBef>
              <a:spcAft>
                <a:spcPts val="142"/>
              </a:spcAft>
            </a:pPr>
            <a:r>
              <a:rPr lang="en-US" sz="1000" b="0" u="none" strike="noStrike">
                <a:solidFill>
                  <a:srgbClr val="FFFFFF"/>
                </a:solidFill>
                <a:effectLst/>
                <a:uFillTx/>
                <a:latin typeface="Arial"/>
              </a:rPr>
              <a:t>Red </a:t>
            </a:r>
            <a:endParaRPr lang="en-US" sz="1000" b="0" u="none" strike="noStrike">
              <a:solidFill>
                <a:srgbClr val="FFFFFF"/>
              </a:solidFill>
              <a:effectLst/>
              <a:uFillTx/>
              <a:latin typeface="Arial"/>
            </a:endParaRPr>
          </a:p>
          <a:p>
            <a:pPr>
              <a:lnSpc>
                <a:spcPct val="100000"/>
              </a:lnSpc>
              <a:spcBef>
                <a:spcPts val="340"/>
              </a:spcBef>
              <a:spcAft>
                <a:spcPts val="142"/>
              </a:spcAft>
            </a:pPr>
            <a:r>
              <a:rPr lang="en-US" sz="1000" b="0" u="none" strike="noStrike">
                <a:solidFill>
                  <a:srgbClr val="FFFFFF"/>
                </a:solidFill>
                <a:effectLst/>
                <a:uFillTx/>
                <a:latin typeface="Arial"/>
              </a:rPr>
              <a:t>Correo </a:t>
            </a:r>
            <a:endParaRPr lang="en-US" sz="1000" b="0" u="none" strike="noStrike">
              <a:solidFill>
                <a:srgbClr val="FFFFFF"/>
              </a:solidFill>
              <a:effectLst/>
              <a:uFillTx/>
              <a:latin typeface="Arial"/>
            </a:endParaRPr>
          </a:p>
          <a:p>
            <a:pPr>
              <a:lnSpc>
                <a:spcPct val="100000"/>
              </a:lnSpc>
              <a:spcBef>
                <a:spcPts val="340"/>
              </a:spcBef>
              <a:spcAft>
                <a:spcPts val="142"/>
              </a:spcAft>
            </a:pPr>
            <a:r>
              <a:rPr lang="en-US" sz="1000" b="0" u="none" strike="noStrike">
                <a:solidFill>
                  <a:srgbClr val="FFFFFF"/>
                </a:solidFill>
                <a:effectLst/>
                <a:uFillTx/>
                <a:latin typeface="Arial"/>
              </a:rPr>
              <a:t>Otros </a:t>
            </a:r>
            <a:endParaRPr lang="en-US" sz="1000" b="0" u="none" strike="noStrike">
              <a:solidFill>
                <a:srgbClr val="FFFFFF"/>
              </a:solidFill>
              <a:effectLst/>
              <a:uFillTx/>
              <a:latin typeface="Arial"/>
            </a:endParaRPr>
          </a:p>
          <a:p>
            <a:pPr>
              <a:lnSpc>
                <a:spcPct val="100000"/>
              </a:lnSpc>
              <a:spcBef>
                <a:spcPts val="340"/>
              </a:spcBef>
              <a:spcAft>
                <a:spcPts val="142"/>
              </a:spcAft>
            </a:pPr>
            <a:r>
              <a:rPr lang="en-US" sz="1000" b="0" u="none" strike="noStrike">
                <a:solidFill>
                  <a:srgbClr val="FFFFFF"/>
                </a:solidFill>
                <a:effectLst/>
                <a:uFillTx/>
                <a:latin typeface="Arial"/>
              </a:rPr>
              <a:t>El problema es que no todos clasificamos igual.</a:t>
            </a:r>
            <a:endParaRPr lang="en-US" sz="1000" b="0" u="none" strike="noStrike">
              <a:solidFill>
                <a:srgbClr val="FFFFFF"/>
              </a:solidFill>
              <a:effectLst/>
              <a:uFillTx/>
              <a:latin typeface="Arial"/>
            </a:endParaRPr>
          </a:p>
          <a:p>
            <a:pPr>
              <a:lnSpc>
                <a:spcPct val="100000"/>
              </a:lnSpc>
              <a:spcBef>
                <a:spcPts val="340"/>
              </a:spcBef>
              <a:spcAft>
                <a:spcPts val="142"/>
              </a:spcAft>
            </a:pPr>
            <a:r>
              <a:rPr lang="en-US" sz="1000" b="0" u="none" strike="noStrike">
                <a:solidFill>
                  <a:srgbClr val="FFFFFF"/>
                </a:solidFill>
                <a:effectLst/>
                <a:uFillTx/>
                <a:latin typeface="Arial"/>
              </a:rPr>
              <a:t>Por ejemplo, “no puedo entrar a SAP” puede terminar como software, acceso o incluso otros, dependiendo de quién lo registre.</a:t>
            </a:r>
            <a:endParaRPr lang="en-US" sz="1000" b="0" u="none" strike="noStrike">
              <a:solidFill>
                <a:srgbClr val="FFFFFF"/>
              </a:solidFill>
              <a:effectLst/>
              <a:uFillTx/>
              <a:latin typeface="Arial"/>
            </a:endParaRPr>
          </a:p>
          <a:p>
            <a:pPr>
              <a:lnSpc>
                <a:spcPct val="100000"/>
              </a:lnSpc>
              <a:spcBef>
                <a:spcPts val="340"/>
              </a:spcBef>
              <a:spcAft>
                <a:spcPts val="142"/>
              </a:spcAft>
            </a:pPr>
            <a:r>
              <a:rPr lang="en-US" sz="1000" b="0" u="none" strike="noStrike">
                <a:solidFill>
                  <a:srgbClr val="FFFFFF"/>
                </a:solidFill>
                <a:effectLst/>
                <a:uFillTx/>
                <a:latin typeface="Arial"/>
              </a:rPr>
              <a:t>Además tenemos solicitudes que realmente no son incidentes: instalación de software, accesos, licencias, equipos nuevos, configuraciones, altas y bajas.</a:t>
            </a:r>
            <a:endParaRPr lang="en-US" sz="1000" b="0" u="none" strike="noStrike">
              <a:solidFill>
                <a:srgbClr val="FFFFFF"/>
              </a:solidFill>
              <a:effectLst/>
              <a:uFillTx/>
              <a:latin typeface="Arial"/>
            </a:endParaRPr>
          </a:p>
          <a:p>
            <a:pPr>
              <a:lnSpc>
                <a:spcPct val="100000"/>
              </a:lnSpc>
              <a:spcBef>
                <a:spcPts val="340"/>
              </a:spcBef>
              <a:spcAft>
                <a:spcPts val="142"/>
              </a:spcAft>
            </a:pPr>
            <a:r>
              <a:rPr lang="en-US" sz="1000" b="0" u="none" strike="noStrike">
                <a:solidFill>
                  <a:srgbClr val="FFFFFF"/>
                </a:solidFill>
                <a:effectLst/>
                <a:uFillTx/>
                <a:latin typeface="Arial"/>
              </a:rPr>
              <a:t>Pero hoy casi todo termina tratado de forma parecida.</a:t>
            </a:r>
            <a:endParaRPr lang="en-US" sz="1000" b="0" u="none" strike="noStrike">
              <a:solidFill>
                <a:srgbClr val="FFFFFF"/>
              </a:solidFill>
              <a:effectLst/>
              <a:uFillTx/>
              <a:latin typeface="Arial"/>
            </a:endParaRPr>
          </a:p>
          <a:p>
            <a:endParaRPr lang="en-US" sz="1000" b="0" u="none" strike="noStrike">
              <a:solidFill>
                <a:srgbClr val="FFFFFF"/>
              </a:solidFill>
              <a:effectLst/>
              <a:uFillTx/>
              <a:latin typeface="Arial"/>
            </a:endParaRPr>
          </a:p>
          <a:p>
            <a:endParaRPr lang="en-US"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A6099"/>
        </a:solidFill>
      </p:bgPr>
    </p:bg>
    <p:spTree>
      <p:nvGrpSpPr>
        <p:cNvPr id="1" name=""/>
        <p:cNvGrpSpPr/>
        <p:nvPr/>
      </p:nvGrpSpPr>
      <p:grpSpPr>
        <a:xfrm>
          <a:off x="0" y="0"/>
          <a:ext cx="0" cy="0"/>
          <a:chOff x="0" y="0"/>
          <a:chExt cx="0" cy="0"/>
        </a:xfrm>
      </p:grpSpPr>
      <p:sp>
        <p:nvSpPr>
          <p:cNvPr id="229" name="Shape 40"/>
          <p:cNvSpPr/>
          <p:nvPr/>
        </p:nvSpPr>
        <p:spPr>
          <a:xfrm>
            <a:off x="639720" y="6510240"/>
            <a:ext cx="10878840" cy="360"/>
          </a:xfrm>
          <a:prstGeom prst="line">
            <a:avLst/>
          </a:prstGeom>
          <a:ln w="6350">
            <a:solidFill>
              <a:srgbClr val="D9E3EA"/>
            </a:solidFill>
            <a:round/>
          </a:ln>
        </p:spPr>
        <p:style>
          <a:lnRef idx="0"/>
          <a:fillRef idx="0"/>
          <a:effectRef idx="0"/>
          <a:fontRef idx="minor"/>
        </p:style>
        <p:txBody>
          <a:bodyPr lIns="90000" tIns="-44640" rIns="90000" bIns="-44640" anchor="t" anchorCtr="1">
            <a:noAutofit/>
          </a:bodyPr>
          <a:p>
            <a:endParaRPr lang="en-US" sz="1800" b="0" u="none" strike="noStrike">
              <a:solidFill>
                <a:srgbClr val="FFFFFF"/>
              </a:solidFill>
              <a:effectLst/>
              <a:uFillTx/>
              <a:latin typeface="Arial"/>
            </a:endParaRPr>
          </a:p>
        </p:txBody>
      </p:sp>
      <p:sp>
        <p:nvSpPr>
          <p:cNvPr id="230" name="Text 55"/>
          <p:cNvSpPr/>
          <p:nvPr/>
        </p:nvSpPr>
        <p:spPr>
          <a:xfrm>
            <a:off x="639720" y="6583680"/>
            <a:ext cx="365652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0" u="none" strike="noStrike">
                <a:solidFill>
                  <a:srgbClr val="65758B"/>
                </a:solidFill>
                <a:effectLst/>
                <a:uFillTx/>
                <a:latin typeface="Aptos"/>
              </a:rPr>
              <a:t>ServiceDesk Kick-off</a:t>
            </a:r>
            <a:endParaRPr lang="en-US" sz="800" b="0" u="none" strike="noStrike">
              <a:solidFill>
                <a:srgbClr val="FFFFFF"/>
              </a:solidFill>
              <a:effectLst/>
              <a:uFillTx/>
              <a:latin typeface="Arial"/>
            </a:endParaRPr>
          </a:p>
        </p:txBody>
      </p:sp>
      <p:sp>
        <p:nvSpPr>
          <p:cNvPr id="231" name="Text 58"/>
          <p:cNvSpPr/>
          <p:nvPr/>
        </p:nvSpPr>
        <p:spPr>
          <a:xfrm>
            <a:off x="10969920" y="6565320"/>
            <a:ext cx="548280" cy="1825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00" b="0" u="none" strike="noStrike">
                <a:solidFill>
                  <a:srgbClr val="65758B"/>
                </a:solidFill>
                <a:effectLst/>
                <a:uFillTx/>
                <a:latin typeface="Aptos"/>
              </a:rPr>
              <a:t>07</a:t>
            </a:r>
            <a:endParaRPr lang="en-US" sz="800" b="0" u="none" strike="noStrike">
              <a:solidFill>
                <a:srgbClr val="FFFFFF"/>
              </a:solidFill>
              <a:effectLst/>
              <a:uFillTx/>
              <a:latin typeface="Arial"/>
            </a:endParaRPr>
          </a:p>
        </p:txBody>
      </p:sp>
      <p:sp>
        <p:nvSpPr>
          <p:cNvPr id="232" name=""/>
          <p:cNvSpPr txBox="1"/>
          <p:nvPr/>
        </p:nvSpPr>
        <p:spPr>
          <a:xfrm>
            <a:off x="3803760" y="312120"/>
            <a:ext cx="4197240" cy="373680"/>
          </a:xfrm>
          <a:prstGeom prst="rect">
            <a:avLst/>
          </a:prstGeom>
          <a:noFill/>
          <a:ln w="0">
            <a:noFill/>
          </a:ln>
        </p:spPr>
        <p:txBody>
          <a:bodyPr wrap="none" lIns="90000" tIns="45000" rIns="90000" bIns="45000" anchor="t">
            <a:spAutoFit/>
          </a:bodyPr>
          <a:p>
            <a:r>
              <a:rPr lang="en-US" sz="2000" b="1" i="1" u="none" strike="noStrike">
                <a:solidFill>
                  <a:srgbClr val="FFFFFF"/>
                </a:solidFill>
                <a:effectLst/>
                <a:uFillTx/>
                <a:latin typeface="Arial"/>
              </a:rPr>
              <a:t>Entrevista 1 — Miguel Hernández</a:t>
            </a:r>
            <a:endParaRPr lang="en-US" sz="2000" b="1" i="1" u="none" strike="noStrike">
              <a:solidFill>
                <a:srgbClr val="FFFFFF"/>
              </a:solidFill>
              <a:effectLst/>
              <a:uFillTx/>
              <a:latin typeface="Arial"/>
            </a:endParaRPr>
          </a:p>
        </p:txBody>
      </p:sp>
      <p:sp>
        <p:nvSpPr>
          <p:cNvPr id="233" name=""/>
          <p:cNvSpPr txBox="1"/>
          <p:nvPr/>
        </p:nvSpPr>
        <p:spPr>
          <a:xfrm>
            <a:off x="2265840" y="2325240"/>
            <a:ext cx="5956560" cy="2327760"/>
          </a:xfrm>
          <a:prstGeom prst="rect">
            <a:avLst/>
          </a:prstGeom>
          <a:noFill/>
          <a:ln w="0">
            <a:noFill/>
          </a:ln>
        </p:spPr>
        <p:txBody>
          <a:bodyPr lIns="90000" tIns="45000" rIns="90000" bIns="45000" anchor="t">
            <a:spAutoFit/>
          </a:bodyPr>
          <a:p>
            <a:r>
              <a:rPr lang="en-US" sz="1000" b="0" u="none" strike="noStrike">
                <a:solidFill>
                  <a:srgbClr val="FFFFFF"/>
                </a:solidFill>
                <a:effectLst/>
                <a:uFillTx/>
                <a:latin typeface="Arial"/>
              </a:rPr>
              <a:t>“¿Cómo se prioriza cuando hay varias cosas pendientes al mismo tiempo?”</a:t>
            </a:r>
            <a:endParaRPr lang="en-US" sz="1000" b="0" u="none" strike="noStrike">
              <a:solidFill>
                <a:srgbClr val="FFFFFF"/>
              </a:solidFill>
              <a:effectLst/>
              <a:uFillTx/>
              <a:latin typeface="Arial"/>
            </a:endParaRPr>
          </a:p>
          <a:p>
            <a:pPr>
              <a:lnSpc>
                <a:spcPct val="100000"/>
              </a:lnSpc>
              <a:spcBef>
                <a:spcPts val="624"/>
              </a:spcBef>
              <a:spcAft>
                <a:spcPts val="425"/>
              </a:spcAft>
            </a:pPr>
            <a:r>
              <a:rPr lang="en-US" sz="1000" b="0" u="none" strike="noStrike">
                <a:solidFill>
                  <a:srgbClr val="FFFFFF"/>
                </a:solidFill>
                <a:effectLst/>
                <a:uFillTx/>
                <a:latin typeface="Arial"/>
              </a:rPr>
              <a:t>Principalmente por experiencia y sentido común.</a:t>
            </a:r>
            <a:endParaRPr lang="en-US" sz="1000" b="0" u="none" strike="noStrike">
              <a:solidFill>
                <a:srgbClr val="FFFFFF"/>
              </a:solidFill>
              <a:effectLst/>
              <a:uFillTx/>
              <a:latin typeface="Arial"/>
            </a:endParaRPr>
          </a:p>
          <a:p>
            <a:pPr>
              <a:lnSpc>
                <a:spcPct val="100000"/>
              </a:lnSpc>
              <a:spcBef>
                <a:spcPts val="624"/>
              </a:spcBef>
              <a:spcAft>
                <a:spcPts val="425"/>
              </a:spcAft>
            </a:pPr>
            <a:r>
              <a:rPr lang="en-US" sz="1000" b="0" u="none" strike="noStrike">
                <a:solidFill>
                  <a:srgbClr val="FFFFFF"/>
                </a:solidFill>
                <a:effectLst/>
                <a:uFillTx/>
                <a:latin typeface="Arial"/>
              </a:rPr>
              <a:t>Vemos qué parece más crítico, qué está afectando a más personas y quién está bloqueado.</a:t>
            </a:r>
            <a:endParaRPr lang="en-US" sz="1000" b="0" u="none" strike="noStrike">
              <a:solidFill>
                <a:srgbClr val="FFFFFF"/>
              </a:solidFill>
              <a:effectLst/>
              <a:uFillTx/>
              <a:latin typeface="Arial"/>
            </a:endParaRPr>
          </a:p>
          <a:p>
            <a:pPr>
              <a:lnSpc>
                <a:spcPct val="100000"/>
              </a:lnSpc>
              <a:spcBef>
                <a:spcPts val="624"/>
              </a:spcBef>
              <a:spcAft>
                <a:spcPts val="425"/>
              </a:spcAft>
            </a:pPr>
            <a:r>
              <a:rPr lang="en-US" sz="1000" b="0" u="none" strike="noStrike">
                <a:solidFill>
                  <a:srgbClr val="FFFFFF"/>
                </a:solidFill>
                <a:effectLst/>
                <a:uFillTx/>
                <a:latin typeface="Arial"/>
              </a:rPr>
              <a:t>Yo intervengo cuando veo que hay muchos pendientes o cuando sé que algo tiene impacto importante.</a:t>
            </a:r>
            <a:endParaRPr lang="en-US" sz="1000" b="0" u="none" strike="noStrike">
              <a:solidFill>
                <a:srgbClr val="FFFFFF"/>
              </a:solidFill>
              <a:effectLst/>
              <a:uFillTx/>
              <a:latin typeface="Arial"/>
            </a:endParaRPr>
          </a:p>
          <a:p>
            <a:pPr>
              <a:lnSpc>
                <a:spcPct val="100000"/>
              </a:lnSpc>
              <a:spcBef>
                <a:spcPts val="624"/>
              </a:spcBef>
              <a:spcAft>
                <a:spcPts val="425"/>
              </a:spcAft>
            </a:pPr>
            <a:r>
              <a:rPr lang="en-US" sz="1000" b="0" u="none" strike="noStrike">
                <a:solidFill>
                  <a:srgbClr val="FFFFFF"/>
                </a:solidFill>
                <a:effectLst/>
                <a:uFillTx/>
                <a:latin typeface="Arial"/>
              </a:rPr>
              <a:t>Pero no tenemos una regla consistente que todos apliquen igual.</a:t>
            </a:r>
            <a:endParaRPr lang="en-US" sz="1000" b="0" u="none" strike="noStrike">
              <a:solidFill>
                <a:srgbClr val="FFFFFF"/>
              </a:solidFill>
              <a:effectLst/>
              <a:uFillTx/>
              <a:latin typeface="Arial"/>
            </a:endParaRPr>
          </a:p>
          <a:p>
            <a:endParaRPr lang="en-US"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A6099"/>
        </a:solidFill>
      </p:bgPr>
    </p:bg>
    <p:spTree>
      <p:nvGrpSpPr>
        <p:cNvPr id="1" name=""/>
        <p:cNvGrpSpPr/>
        <p:nvPr/>
      </p:nvGrpSpPr>
      <p:grpSpPr>
        <a:xfrm>
          <a:off x="0" y="0"/>
          <a:ext cx="0" cy="0"/>
          <a:chOff x="0" y="0"/>
          <a:chExt cx="0" cy="0"/>
        </a:xfrm>
      </p:grpSpPr>
      <p:sp>
        <p:nvSpPr>
          <p:cNvPr id="234" name="Shape 41"/>
          <p:cNvSpPr/>
          <p:nvPr/>
        </p:nvSpPr>
        <p:spPr>
          <a:xfrm>
            <a:off x="639720" y="6510240"/>
            <a:ext cx="10878840" cy="360"/>
          </a:xfrm>
          <a:prstGeom prst="line">
            <a:avLst/>
          </a:prstGeom>
          <a:ln w="6350">
            <a:solidFill>
              <a:srgbClr val="D9E3EA"/>
            </a:solidFill>
            <a:round/>
          </a:ln>
        </p:spPr>
        <p:style>
          <a:lnRef idx="0"/>
          <a:fillRef idx="0"/>
          <a:effectRef idx="0"/>
          <a:fontRef idx="minor"/>
        </p:style>
        <p:txBody>
          <a:bodyPr lIns="90000" tIns="-44640" rIns="90000" bIns="-44640" anchor="t" anchorCtr="1">
            <a:noAutofit/>
          </a:bodyPr>
          <a:p>
            <a:endParaRPr lang="en-US" sz="1800" b="0" u="none" strike="noStrike">
              <a:solidFill>
                <a:srgbClr val="FFFFFF"/>
              </a:solidFill>
              <a:effectLst/>
              <a:uFillTx/>
              <a:latin typeface="Arial"/>
            </a:endParaRPr>
          </a:p>
        </p:txBody>
      </p:sp>
      <p:sp>
        <p:nvSpPr>
          <p:cNvPr id="235" name="Text 59"/>
          <p:cNvSpPr/>
          <p:nvPr/>
        </p:nvSpPr>
        <p:spPr>
          <a:xfrm>
            <a:off x="639720" y="6583680"/>
            <a:ext cx="365652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0" u="none" strike="noStrike">
                <a:solidFill>
                  <a:srgbClr val="65758B"/>
                </a:solidFill>
                <a:effectLst/>
                <a:uFillTx/>
                <a:latin typeface="Aptos"/>
              </a:rPr>
              <a:t>ServiceDesk Kick-off</a:t>
            </a:r>
            <a:endParaRPr lang="en-US" sz="800" b="0" u="none" strike="noStrike">
              <a:solidFill>
                <a:srgbClr val="FFFFFF"/>
              </a:solidFill>
              <a:effectLst/>
              <a:uFillTx/>
              <a:latin typeface="Arial"/>
            </a:endParaRPr>
          </a:p>
        </p:txBody>
      </p:sp>
      <p:sp>
        <p:nvSpPr>
          <p:cNvPr id="236" name="Text 60"/>
          <p:cNvSpPr/>
          <p:nvPr/>
        </p:nvSpPr>
        <p:spPr>
          <a:xfrm>
            <a:off x="10969920" y="6565320"/>
            <a:ext cx="548280" cy="1825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00" b="0" u="none" strike="noStrike">
                <a:solidFill>
                  <a:srgbClr val="65758B"/>
                </a:solidFill>
                <a:effectLst/>
                <a:uFillTx/>
                <a:latin typeface="Aptos"/>
              </a:rPr>
              <a:t>07</a:t>
            </a:r>
            <a:endParaRPr lang="en-US" sz="800" b="0" u="none" strike="noStrike">
              <a:solidFill>
                <a:srgbClr val="FFFFFF"/>
              </a:solidFill>
              <a:effectLst/>
              <a:uFillTx/>
              <a:latin typeface="Arial"/>
            </a:endParaRPr>
          </a:p>
        </p:txBody>
      </p:sp>
      <p:sp>
        <p:nvSpPr>
          <p:cNvPr id="237" name=""/>
          <p:cNvSpPr txBox="1"/>
          <p:nvPr/>
        </p:nvSpPr>
        <p:spPr>
          <a:xfrm>
            <a:off x="3803760" y="312120"/>
            <a:ext cx="4197240" cy="373680"/>
          </a:xfrm>
          <a:prstGeom prst="rect">
            <a:avLst/>
          </a:prstGeom>
          <a:noFill/>
          <a:ln w="0">
            <a:noFill/>
          </a:ln>
        </p:spPr>
        <p:txBody>
          <a:bodyPr wrap="none" lIns="90000" tIns="45000" rIns="90000" bIns="45000" anchor="t">
            <a:spAutoFit/>
          </a:bodyPr>
          <a:p>
            <a:r>
              <a:rPr lang="en-US" sz="2000" b="1" i="1" u="none" strike="noStrike">
                <a:solidFill>
                  <a:srgbClr val="FFFFFF"/>
                </a:solidFill>
                <a:effectLst/>
                <a:uFillTx/>
                <a:latin typeface="Arial"/>
              </a:rPr>
              <a:t>Entrevista 1 — Miguel Hernández</a:t>
            </a:r>
            <a:endParaRPr lang="en-US" sz="2000" b="1" i="1" u="none" strike="noStrike">
              <a:solidFill>
                <a:srgbClr val="FFFFFF"/>
              </a:solidFill>
              <a:effectLst/>
              <a:uFillTx/>
              <a:latin typeface="Arial"/>
            </a:endParaRPr>
          </a:p>
        </p:txBody>
      </p:sp>
      <p:sp>
        <p:nvSpPr>
          <p:cNvPr id="238" name=""/>
          <p:cNvSpPr txBox="1"/>
          <p:nvPr/>
        </p:nvSpPr>
        <p:spPr>
          <a:xfrm>
            <a:off x="1357560" y="903600"/>
            <a:ext cx="8700840" cy="4125600"/>
          </a:xfrm>
          <a:prstGeom prst="rect">
            <a:avLst/>
          </a:prstGeom>
          <a:noFill/>
          <a:ln w="0">
            <a:noFill/>
          </a:ln>
        </p:spPr>
        <p:txBody>
          <a:bodyPr lIns="90000" tIns="45000" rIns="90000" bIns="45000" anchor="t">
            <a:spAutoFit/>
          </a:bodyPr>
          <a:p>
            <a:r>
              <a:rPr lang="en-US" sz="2200" b="1" u="none" strike="noStrike">
                <a:solidFill>
                  <a:srgbClr val="FFFFFF"/>
                </a:solidFill>
                <a:effectLst/>
                <a:uFillTx/>
                <a:latin typeface="Arial"/>
              </a:rPr>
              <a:t>2. Equipo y carga</a:t>
            </a:r>
            <a:endParaRPr lang="en-US" sz="2200" b="1" u="none" strike="noStrike">
              <a:solidFill>
                <a:srgbClr val="FFFFFF"/>
              </a:solidFill>
              <a:effectLst/>
              <a:uFillTx/>
              <a:latin typeface="Arial"/>
            </a:endParaRPr>
          </a:p>
          <a:p>
            <a:pPr>
              <a:lnSpc>
                <a:spcPct val="100000"/>
              </a:lnSpc>
              <a:spcBef>
                <a:spcPts val="340"/>
              </a:spcBef>
              <a:spcAft>
                <a:spcPts val="142"/>
              </a:spcAft>
            </a:pPr>
            <a:r>
              <a:rPr lang="en-US" sz="1000" b="0" u="none" strike="noStrike">
                <a:solidFill>
                  <a:srgbClr val="FFFFFF"/>
                </a:solidFill>
                <a:effectLst/>
                <a:uFillTx/>
                <a:latin typeface="Arial"/>
              </a:rPr>
              <a:t>“¿Cuántas personas tienes en el equipo y cómo se dividen el trabajo hoy?”</a:t>
            </a:r>
            <a:endParaRPr lang="en-US" sz="1000" b="0" u="none" strike="noStrike">
              <a:solidFill>
                <a:srgbClr val="FFFFFF"/>
              </a:solidFill>
              <a:effectLst/>
              <a:uFillTx/>
              <a:latin typeface="Arial"/>
            </a:endParaRPr>
          </a:p>
          <a:p>
            <a:pPr>
              <a:lnSpc>
                <a:spcPct val="100000"/>
              </a:lnSpc>
              <a:spcBef>
                <a:spcPts val="340"/>
              </a:spcBef>
              <a:spcAft>
                <a:spcPts val="142"/>
              </a:spcAft>
            </a:pPr>
            <a:r>
              <a:rPr lang="en-US" sz="1000" b="0" u="none" strike="noStrike">
                <a:solidFill>
                  <a:srgbClr val="FFFFFF"/>
                </a:solidFill>
                <a:effectLst/>
                <a:uFillTx/>
                <a:latin typeface="Arial"/>
              </a:rPr>
              <a:t>Somos seis contando conmigo.</a:t>
            </a:r>
            <a:endParaRPr lang="en-US" sz="1000" b="0" u="none" strike="noStrike">
              <a:solidFill>
                <a:srgbClr val="FFFFFF"/>
              </a:solidFill>
              <a:effectLst/>
              <a:uFillTx/>
              <a:latin typeface="Arial"/>
            </a:endParaRPr>
          </a:p>
          <a:p>
            <a:pPr>
              <a:lnSpc>
                <a:spcPct val="100000"/>
              </a:lnSpc>
              <a:spcBef>
                <a:spcPts val="340"/>
              </a:spcBef>
              <a:spcAft>
                <a:spcPts val="142"/>
              </a:spcAft>
            </a:pPr>
            <a:r>
              <a:rPr lang="en-US" sz="1000" b="0" u="none" strike="noStrike">
                <a:solidFill>
                  <a:srgbClr val="FFFFFF"/>
                </a:solidFill>
                <a:effectLst/>
                <a:uFillTx/>
                <a:latin typeface="Arial"/>
              </a:rPr>
              <a:t>Tengo cinco analistas: Andrea, Roberto, Daniel, Fernanda y Jorge.</a:t>
            </a:r>
            <a:endParaRPr lang="en-US" sz="1000" b="0" u="none" strike="noStrike">
              <a:solidFill>
                <a:srgbClr val="FFFFFF"/>
              </a:solidFill>
              <a:effectLst/>
              <a:uFillTx/>
              <a:latin typeface="Arial"/>
            </a:endParaRPr>
          </a:p>
          <a:p>
            <a:pPr>
              <a:lnSpc>
                <a:spcPct val="100000"/>
              </a:lnSpc>
              <a:spcBef>
                <a:spcPts val="340"/>
              </a:spcBef>
              <a:spcAft>
                <a:spcPts val="142"/>
              </a:spcAft>
            </a:pPr>
            <a:r>
              <a:rPr lang="en-US" sz="1000" b="0" u="none" strike="noStrike">
                <a:solidFill>
                  <a:srgbClr val="FFFFFF"/>
                </a:solidFill>
                <a:effectLst/>
                <a:uFillTx/>
                <a:latin typeface="Arial"/>
              </a:rPr>
              <a:t>No tenemos especializaciones oficiales, pero sí se han formado naturalmente.</a:t>
            </a:r>
            <a:endParaRPr lang="en-US" sz="1000" b="0" u="none" strike="noStrike">
              <a:solidFill>
                <a:srgbClr val="FFFFFF"/>
              </a:solidFill>
              <a:effectLst/>
              <a:uFillTx/>
              <a:latin typeface="Arial"/>
            </a:endParaRPr>
          </a:p>
          <a:p>
            <a:pPr>
              <a:lnSpc>
                <a:spcPct val="100000"/>
              </a:lnSpc>
              <a:spcBef>
                <a:spcPts val="340"/>
              </a:spcBef>
              <a:spcAft>
                <a:spcPts val="142"/>
              </a:spcAft>
            </a:pPr>
            <a:r>
              <a:rPr lang="en-US" sz="1000" b="0" u="none" strike="noStrike">
                <a:solidFill>
                  <a:srgbClr val="FFFFFF"/>
                </a:solidFill>
                <a:effectLst/>
                <a:uFillTx/>
                <a:latin typeface="Arial"/>
              </a:rPr>
              <a:t>Daniel conoce bastante bien algunas aplicaciones, Roberto recibe muchas llamadas, Andrea es muy organizada con correo y seguimiento, Fernanda documenta bastante y Jorge todavía me consulta más porque es el más nuevo.</a:t>
            </a:r>
            <a:endParaRPr lang="en-US" sz="1000" b="0" u="none" strike="noStrike">
              <a:solidFill>
                <a:srgbClr val="FFFFFF"/>
              </a:solidFill>
              <a:effectLst/>
              <a:uFillTx/>
              <a:latin typeface="Arial"/>
            </a:endParaRPr>
          </a:p>
          <a:p>
            <a:pPr>
              <a:lnSpc>
                <a:spcPct val="100000"/>
              </a:lnSpc>
              <a:spcBef>
                <a:spcPts val="340"/>
              </a:spcBef>
              <a:spcAft>
                <a:spcPts val="142"/>
              </a:spcAft>
            </a:pPr>
            <a:r>
              <a:rPr lang="en-US" sz="1000" b="0" u="none" strike="noStrike">
                <a:solidFill>
                  <a:srgbClr val="FFFFFF"/>
                </a:solidFill>
                <a:effectLst/>
                <a:uFillTx/>
                <a:latin typeface="Arial"/>
              </a:rPr>
              <a:t>En teoría todos deberían poder atender cualquier solicitud de primer nivel.</a:t>
            </a:r>
            <a:endParaRPr lang="en-US" sz="1000" b="0" u="none" strike="noStrike">
              <a:solidFill>
                <a:srgbClr val="FFFFFF"/>
              </a:solidFill>
              <a:effectLst/>
              <a:uFillTx/>
              <a:latin typeface="Arial"/>
            </a:endParaRPr>
          </a:p>
          <a:p>
            <a:pPr>
              <a:lnSpc>
                <a:spcPct val="100000"/>
              </a:lnSpc>
              <a:spcBef>
                <a:spcPts val="340"/>
              </a:spcBef>
              <a:spcAft>
                <a:spcPts val="142"/>
              </a:spcAft>
            </a:pPr>
            <a:endParaRPr lang="en-US" sz="1000" b="0" u="none" strike="noStrike">
              <a:solidFill>
                <a:srgbClr val="FFFFFF"/>
              </a:solidFill>
              <a:effectLst/>
              <a:uFillTx/>
              <a:latin typeface="Arial"/>
            </a:endParaRPr>
          </a:p>
          <a:p>
            <a:pPr>
              <a:lnSpc>
                <a:spcPct val="100000"/>
              </a:lnSpc>
              <a:spcBef>
                <a:spcPts val="340"/>
              </a:spcBef>
              <a:spcAft>
                <a:spcPts val="142"/>
              </a:spcAft>
            </a:pPr>
            <a:r>
              <a:rPr lang="en-US" sz="1000" b="0" u="none" strike="noStrike">
                <a:solidFill>
                  <a:srgbClr val="FFFFFF"/>
                </a:solidFill>
                <a:effectLst/>
                <a:uFillTx/>
                <a:latin typeface="Arial"/>
              </a:rPr>
              <a:t>“¿Cuántos tickets o solicitudes manejan aproximadamente por día o semana?”</a:t>
            </a:r>
            <a:endParaRPr lang="en-US" sz="1000" b="0" u="none" strike="noStrike">
              <a:solidFill>
                <a:srgbClr val="FFFFFF"/>
              </a:solidFill>
              <a:effectLst/>
              <a:uFillTx/>
              <a:latin typeface="Arial"/>
            </a:endParaRPr>
          </a:p>
          <a:p>
            <a:pPr>
              <a:lnSpc>
                <a:spcPct val="100000"/>
              </a:lnSpc>
              <a:spcBef>
                <a:spcPts val="340"/>
              </a:spcBef>
              <a:spcAft>
                <a:spcPts val="142"/>
              </a:spcAft>
            </a:pPr>
            <a:r>
              <a:rPr lang="en-US" sz="1000" b="0" u="none" strike="noStrike">
                <a:solidFill>
                  <a:srgbClr val="FFFFFF"/>
                </a:solidFill>
                <a:effectLst/>
                <a:uFillTx/>
                <a:latin typeface="Arial"/>
              </a:rPr>
              <a:t>Ese es precisamente uno de nuestros problemas: no lo sabemos con exactitud.</a:t>
            </a:r>
            <a:endParaRPr lang="en-US" sz="1000" b="0" u="none" strike="noStrike">
              <a:solidFill>
                <a:srgbClr val="FFFFFF"/>
              </a:solidFill>
              <a:effectLst/>
              <a:uFillTx/>
              <a:latin typeface="Arial"/>
            </a:endParaRPr>
          </a:p>
          <a:p>
            <a:pPr>
              <a:lnSpc>
                <a:spcPct val="100000"/>
              </a:lnSpc>
              <a:spcBef>
                <a:spcPts val="340"/>
              </a:spcBef>
              <a:spcAft>
                <a:spcPts val="142"/>
              </a:spcAft>
            </a:pPr>
            <a:r>
              <a:rPr lang="en-US" sz="1000" b="0" u="none" strike="noStrike">
                <a:solidFill>
                  <a:srgbClr val="FFFFFF"/>
                </a:solidFill>
                <a:effectLst/>
                <a:uFillTx/>
                <a:latin typeface="Arial"/>
              </a:rPr>
              <a:t>Si veo solamente el Excel, podría decirte que registramos quizá entre 25 y 40 solicitudes por día.</a:t>
            </a:r>
            <a:endParaRPr lang="en-US" sz="1000" b="0" u="none" strike="noStrike">
              <a:solidFill>
                <a:srgbClr val="FFFFFF"/>
              </a:solidFill>
              <a:effectLst/>
              <a:uFillTx/>
              <a:latin typeface="Arial"/>
            </a:endParaRPr>
          </a:p>
          <a:p>
            <a:pPr>
              <a:lnSpc>
                <a:spcPct val="100000"/>
              </a:lnSpc>
              <a:spcBef>
                <a:spcPts val="340"/>
              </a:spcBef>
              <a:spcAft>
                <a:spcPts val="142"/>
              </a:spcAft>
            </a:pPr>
            <a:r>
              <a:rPr lang="en-US" sz="1000" b="0" u="none" strike="noStrike">
                <a:solidFill>
                  <a:srgbClr val="FFFFFF"/>
                </a:solidFill>
                <a:effectLst/>
                <a:uFillTx/>
                <a:latin typeface="Arial"/>
              </a:rPr>
              <a:t>Pero sé que son más porque muchas llamadas, mensajes de Teams y cosas rápidas nunca se registran.</a:t>
            </a:r>
            <a:endParaRPr lang="en-US" sz="1000" b="0" u="none" strike="noStrike">
              <a:solidFill>
                <a:srgbClr val="FFFFFF"/>
              </a:solidFill>
              <a:effectLst/>
              <a:uFillTx/>
              <a:latin typeface="Arial"/>
            </a:endParaRPr>
          </a:p>
          <a:p>
            <a:pPr>
              <a:lnSpc>
                <a:spcPct val="100000"/>
              </a:lnSpc>
              <a:spcBef>
                <a:spcPts val="340"/>
              </a:spcBef>
              <a:spcAft>
                <a:spcPts val="142"/>
              </a:spcAft>
            </a:pPr>
            <a:r>
              <a:rPr lang="en-US" sz="1000" b="0" u="none" strike="noStrike">
                <a:solidFill>
                  <a:srgbClr val="FFFFFF"/>
                </a:solidFill>
                <a:effectLst/>
                <a:uFillTx/>
                <a:latin typeface="Arial"/>
              </a:rPr>
              <a:t>Mi estimación sería que realmente podríamos estar atendiendo entre 40 y 60 interacciones de soporte al día, pero tendría que comprobarlo.</a:t>
            </a:r>
            <a:endParaRPr lang="en-US" sz="1000" b="0" u="none" strike="noStrike">
              <a:solidFill>
                <a:srgbClr val="FFFFFF"/>
              </a:solidFill>
              <a:effectLst/>
              <a:uFillTx/>
              <a:latin typeface="Arial"/>
            </a:endParaRPr>
          </a:p>
          <a:p>
            <a:pPr>
              <a:lnSpc>
                <a:spcPct val="100000"/>
              </a:lnSpc>
              <a:spcBef>
                <a:spcPts val="340"/>
              </a:spcBef>
              <a:spcAft>
                <a:spcPts val="142"/>
              </a:spcAft>
            </a:pPr>
            <a:r>
              <a:rPr lang="en-US" sz="1000" b="0" u="none" strike="noStrike">
                <a:solidFill>
                  <a:srgbClr val="FFFFFF"/>
                </a:solidFill>
                <a:effectLst/>
                <a:uFillTx/>
                <a:latin typeface="Arial"/>
              </a:rPr>
              <a:t>No me sentiría cómodo presentando ese número a dirección como dato oficial.</a:t>
            </a:r>
            <a:endParaRPr lang="en-US" sz="1000" b="0" u="none" strike="noStrike">
              <a:solidFill>
                <a:srgbClr val="FFFFFF"/>
              </a:solidFill>
              <a:effectLst/>
              <a:uFillTx/>
              <a:latin typeface="Arial"/>
            </a:endParaRPr>
          </a:p>
          <a:p>
            <a:endParaRPr lang="en-US"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A6099"/>
        </a:solidFill>
      </p:bgPr>
    </p:bg>
    <p:spTree>
      <p:nvGrpSpPr>
        <p:cNvPr id="1" name=""/>
        <p:cNvGrpSpPr/>
        <p:nvPr/>
      </p:nvGrpSpPr>
      <p:grpSpPr>
        <a:xfrm>
          <a:off x="0" y="0"/>
          <a:ext cx="0" cy="0"/>
          <a:chOff x="0" y="0"/>
          <a:chExt cx="0" cy="0"/>
        </a:xfrm>
      </p:grpSpPr>
      <p:sp>
        <p:nvSpPr>
          <p:cNvPr id="239" name="Shape 42"/>
          <p:cNvSpPr/>
          <p:nvPr/>
        </p:nvSpPr>
        <p:spPr>
          <a:xfrm>
            <a:off x="639720" y="6510240"/>
            <a:ext cx="10878840" cy="360"/>
          </a:xfrm>
          <a:prstGeom prst="line">
            <a:avLst/>
          </a:prstGeom>
          <a:ln w="6350">
            <a:solidFill>
              <a:srgbClr val="D9E3EA"/>
            </a:solidFill>
            <a:round/>
          </a:ln>
        </p:spPr>
        <p:style>
          <a:lnRef idx="0"/>
          <a:fillRef idx="0"/>
          <a:effectRef idx="0"/>
          <a:fontRef idx="minor"/>
        </p:style>
        <p:txBody>
          <a:bodyPr lIns="90000" tIns="-44640" rIns="90000" bIns="-44640" anchor="t" anchorCtr="1">
            <a:noAutofit/>
          </a:bodyPr>
          <a:p>
            <a:endParaRPr lang="en-US" sz="1800" b="0" u="none" strike="noStrike">
              <a:solidFill>
                <a:srgbClr val="FFFFFF"/>
              </a:solidFill>
              <a:effectLst/>
              <a:uFillTx/>
              <a:latin typeface="Arial"/>
            </a:endParaRPr>
          </a:p>
        </p:txBody>
      </p:sp>
      <p:sp>
        <p:nvSpPr>
          <p:cNvPr id="240" name="Text 61"/>
          <p:cNvSpPr/>
          <p:nvPr/>
        </p:nvSpPr>
        <p:spPr>
          <a:xfrm>
            <a:off x="639720" y="6583680"/>
            <a:ext cx="365652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0" u="none" strike="noStrike">
                <a:solidFill>
                  <a:srgbClr val="65758B"/>
                </a:solidFill>
                <a:effectLst/>
                <a:uFillTx/>
                <a:latin typeface="Aptos"/>
              </a:rPr>
              <a:t>ServiceDesk Kick-off</a:t>
            </a:r>
            <a:endParaRPr lang="en-US" sz="800" b="0" u="none" strike="noStrike">
              <a:solidFill>
                <a:srgbClr val="FFFFFF"/>
              </a:solidFill>
              <a:effectLst/>
              <a:uFillTx/>
              <a:latin typeface="Arial"/>
            </a:endParaRPr>
          </a:p>
        </p:txBody>
      </p:sp>
      <p:sp>
        <p:nvSpPr>
          <p:cNvPr id="241" name="Text 62"/>
          <p:cNvSpPr/>
          <p:nvPr/>
        </p:nvSpPr>
        <p:spPr>
          <a:xfrm>
            <a:off x="10969920" y="6565320"/>
            <a:ext cx="548280" cy="1825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00" b="0" u="none" strike="noStrike">
                <a:solidFill>
                  <a:srgbClr val="65758B"/>
                </a:solidFill>
                <a:effectLst/>
                <a:uFillTx/>
                <a:latin typeface="Aptos"/>
              </a:rPr>
              <a:t>07</a:t>
            </a:r>
            <a:endParaRPr lang="en-US" sz="800" b="0" u="none" strike="noStrike">
              <a:solidFill>
                <a:srgbClr val="FFFFFF"/>
              </a:solidFill>
              <a:effectLst/>
              <a:uFillTx/>
              <a:latin typeface="Arial"/>
            </a:endParaRPr>
          </a:p>
        </p:txBody>
      </p:sp>
      <p:sp>
        <p:nvSpPr>
          <p:cNvPr id="242" name=""/>
          <p:cNvSpPr txBox="1"/>
          <p:nvPr/>
        </p:nvSpPr>
        <p:spPr>
          <a:xfrm>
            <a:off x="3803760" y="312120"/>
            <a:ext cx="4197240" cy="373680"/>
          </a:xfrm>
          <a:prstGeom prst="rect">
            <a:avLst/>
          </a:prstGeom>
          <a:noFill/>
          <a:ln w="0">
            <a:noFill/>
          </a:ln>
        </p:spPr>
        <p:txBody>
          <a:bodyPr wrap="none" lIns="90000" tIns="45000" rIns="90000" bIns="45000" anchor="t">
            <a:spAutoFit/>
          </a:bodyPr>
          <a:p>
            <a:r>
              <a:rPr lang="en-US" sz="2000" b="1" i="1" u="none" strike="noStrike">
                <a:solidFill>
                  <a:srgbClr val="FFFFFF"/>
                </a:solidFill>
                <a:effectLst/>
                <a:uFillTx/>
                <a:latin typeface="Arial"/>
              </a:rPr>
              <a:t>Entrevista 1 — Miguel Hernández</a:t>
            </a:r>
            <a:endParaRPr lang="en-US" sz="2000" b="1" i="1" u="none" strike="noStrike">
              <a:solidFill>
                <a:srgbClr val="FFFFFF"/>
              </a:solidFill>
              <a:effectLst/>
              <a:uFillTx/>
              <a:latin typeface="Arial"/>
            </a:endParaRPr>
          </a:p>
        </p:txBody>
      </p:sp>
      <p:sp>
        <p:nvSpPr>
          <p:cNvPr id="243" name=""/>
          <p:cNvSpPr txBox="1"/>
          <p:nvPr/>
        </p:nvSpPr>
        <p:spPr>
          <a:xfrm>
            <a:off x="2514600" y="1596600"/>
            <a:ext cx="7310160" cy="2746800"/>
          </a:xfrm>
          <a:prstGeom prst="rect">
            <a:avLst/>
          </a:prstGeom>
          <a:noFill/>
          <a:ln w="0">
            <a:noFill/>
          </a:ln>
        </p:spPr>
        <p:txBody>
          <a:bodyPr lIns="90000" tIns="45000" rIns="90000" bIns="45000" anchor="t">
            <a:spAutoFit/>
          </a:bodyPr>
          <a:p>
            <a:r>
              <a:rPr lang="en-US" sz="1000" b="0" u="none" strike="noStrike">
                <a:solidFill>
                  <a:srgbClr val="FFFFFF"/>
                </a:solidFill>
                <a:effectLst/>
                <a:uFillTx/>
                <a:latin typeface="Arial"/>
              </a:rPr>
              <a:t>“¿Qué porcentaje de los casos resuelven ustedes mismos vs. cuántos terminan escalando a Network, Aplicaciones o InfoSec?”</a:t>
            </a:r>
            <a:endParaRPr lang="en-US" sz="1000" b="0" u="none" strike="noStrike">
              <a:solidFill>
                <a:srgbClr val="FFFFFF"/>
              </a:solidFill>
              <a:effectLst/>
              <a:uFillTx/>
              <a:latin typeface="Arial"/>
            </a:endParaRPr>
          </a:p>
          <a:p>
            <a:pPr>
              <a:lnSpc>
                <a:spcPct val="100000"/>
              </a:lnSpc>
              <a:spcBef>
                <a:spcPts val="624"/>
              </a:spcBef>
              <a:spcAft>
                <a:spcPts val="425"/>
              </a:spcAft>
            </a:pPr>
            <a:r>
              <a:rPr lang="en-US" sz="1000" b="0" u="none" strike="noStrike">
                <a:solidFill>
                  <a:srgbClr val="FFFFFF"/>
                </a:solidFill>
                <a:effectLst/>
                <a:uFillTx/>
                <a:latin typeface="Arial"/>
              </a:rPr>
              <a:t>Tampoco tenemos una medición confiable.</a:t>
            </a:r>
            <a:endParaRPr lang="en-US" sz="1000" b="0" u="none" strike="noStrike">
              <a:solidFill>
                <a:srgbClr val="FFFFFF"/>
              </a:solidFill>
              <a:effectLst/>
              <a:uFillTx/>
              <a:latin typeface="Arial"/>
            </a:endParaRPr>
          </a:p>
          <a:p>
            <a:pPr>
              <a:lnSpc>
                <a:spcPct val="100000"/>
              </a:lnSpc>
              <a:spcBef>
                <a:spcPts val="624"/>
              </a:spcBef>
              <a:spcAft>
                <a:spcPts val="425"/>
              </a:spcAft>
            </a:pPr>
            <a:r>
              <a:rPr lang="en-US" sz="1000" b="0" u="none" strike="noStrike">
                <a:solidFill>
                  <a:srgbClr val="FFFFFF"/>
                </a:solidFill>
                <a:effectLst/>
                <a:uFillTx/>
                <a:latin typeface="Arial"/>
              </a:rPr>
              <a:t>Mi sensación es que resolvemos nosotros mismos alrededor de 70% u 80%.</a:t>
            </a:r>
            <a:endParaRPr lang="en-US" sz="1000" b="0" u="none" strike="noStrike">
              <a:solidFill>
                <a:srgbClr val="FFFFFF"/>
              </a:solidFill>
              <a:effectLst/>
              <a:uFillTx/>
              <a:latin typeface="Arial"/>
            </a:endParaRPr>
          </a:p>
          <a:p>
            <a:pPr>
              <a:lnSpc>
                <a:spcPct val="100000"/>
              </a:lnSpc>
              <a:spcBef>
                <a:spcPts val="624"/>
              </a:spcBef>
              <a:spcAft>
                <a:spcPts val="425"/>
              </a:spcAft>
            </a:pPr>
            <a:r>
              <a:rPr lang="en-US" sz="1000" b="0" u="none" strike="noStrike">
                <a:solidFill>
                  <a:srgbClr val="FFFFFF"/>
                </a:solidFill>
                <a:effectLst/>
                <a:uFillTx/>
                <a:latin typeface="Arial"/>
              </a:rPr>
              <a:t>El resto se va principalmente a Infrastructure/Network y Applications.</a:t>
            </a:r>
            <a:endParaRPr lang="en-US" sz="1000" b="0" u="none" strike="noStrike">
              <a:solidFill>
                <a:srgbClr val="FFFFFF"/>
              </a:solidFill>
              <a:effectLst/>
              <a:uFillTx/>
              <a:latin typeface="Arial"/>
            </a:endParaRPr>
          </a:p>
          <a:p>
            <a:pPr>
              <a:lnSpc>
                <a:spcPct val="100000"/>
              </a:lnSpc>
              <a:spcBef>
                <a:spcPts val="624"/>
              </a:spcBef>
              <a:spcAft>
                <a:spcPts val="425"/>
              </a:spcAft>
            </a:pPr>
            <a:r>
              <a:rPr lang="en-US" sz="1000" b="0" u="none" strike="noStrike">
                <a:solidFill>
                  <a:srgbClr val="FFFFFF"/>
                </a:solidFill>
                <a:effectLst/>
                <a:uFillTx/>
                <a:latin typeface="Arial"/>
              </a:rPr>
              <a:t>Security recibe menos volumen, pero cuando algo llega con ellos normalmente es más delicado.</a:t>
            </a:r>
            <a:endParaRPr lang="en-US" sz="1000" b="0" u="none" strike="noStrike">
              <a:solidFill>
                <a:srgbClr val="FFFFFF"/>
              </a:solidFill>
              <a:effectLst/>
              <a:uFillTx/>
              <a:latin typeface="Arial"/>
            </a:endParaRPr>
          </a:p>
          <a:p>
            <a:pPr>
              <a:lnSpc>
                <a:spcPct val="100000"/>
              </a:lnSpc>
              <a:spcBef>
                <a:spcPts val="624"/>
              </a:spcBef>
              <a:spcAft>
                <a:spcPts val="425"/>
              </a:spcAft>
            </a:pPr>
            <a:r>
              <a:rPr lang="en-US" sz="1000" b="0" u="none" strike="noStrike">
                <a:solidFill>
                  <a:srgbClr val="FFFFFF"/>
                </a:solidFill>
                <a:effectLst/>
                <a:uFillTx/>
                <a:latin typeface="Arial"/>
              </a:rPr>
              <a:t>Eso es estimación mía, no una métrica formal.</a:t>
            </a:r>
            <a:endParaRPr lang="en-US" sz="1000" b="0" u="none" strike="noStrike">
              <a:solidFill>
                <a:srgbClr val="FFFFFF"/>
              </a:solidFill>
              <a:effectLst/>
              <a:uFillTx/>
              <a:latin typeface="Arial"/>
            </a:endParaRPr>
          </a:p>
          <a:p>
            <a:endParaRPr lang="en-US"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A6099"/>
        </a:solidFill>
      </p:bgPr>
    </p:bg>
    <p:spTree>
      <p:nvGrpSpPr>
        <p:cNvPr id="1" name=""/>
        <p:cNvGrpSpPr/>
        <p:nvPr/>
      </p:nvGrpSpPr>
      <p:grpSpPr>
        <a:xfrm>
          <a:off x="0" y="0"/>
          <a:ext cx="0" cy="0"/>
          <a:chOff x="0" y="0"/>
          <a:chExt cx="0" cy="0"/>
        </a:xfrm>
      </p:grpSpPr>
      <p:sp>
        <p:nvSpPr>
          <p:cNvPr id="244" name="Shape 43"/>
          <p:cNvSpPr/>
          <p:nvPr/>
        </p:nvSpPr>
        <p:spPr>
          <a:xfrm>
            <a:off x="639720" y="6510240"/>
            <a:ext cx="10878840" cy="360"/>
          </a:xfrm>
          <a:prstGeom prst="line">
            <a:avLst/>
          </a:prstGeom>
          <a:ln w="6350">
            <a:solidFill>
              <a:srgbClr val="D9E3EA"/>
            </a:solidFill>
            <a:round/>
          </a:ln>
        </p:spPr>
        <p:style>
          <a:lnRef idx="0"/>
          <a:fillRef idx="0"/>
          <a:effectRef idx="0"/>
          <a:fontRef idx="minor"/>
        </p:style>
        <p:txBody>
          <a:bodyPr lIns="90000" tIns="-44640" rIns="90000" bIns="-44640" anchor="t" anchorCtr="1">
            <a:noAutofit/>
          </a:bodyPr>
          <a:p>
            <a:endParaRPr lang="en-US" sz="1800" b="0" u="none" strike="noStrike">
              <a:solidFill>
                <a:srgbClr val="FFFFFF"/>
              </a:solidFill>
              <a:effectLst/>
              <a:uFillTx/>
              <a:latin typeface="Arial"/>
            </a:endParaRPr>
          </a:p>
        </p:txBody>
      </p:sp>
      <p:sp>
        <p:nvSpPr>
          <p:cNvPr id="245" name="Text 63"/>
          <p:cNvSpPr/>
          <p:nvPr/>
        </p:nvSpPr>
        <p:spPr>
          <a:xfrm>
            <a:off x="639720" y="6583680"/>
            <a:ext cx="365652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0" u="none" strike="noStrike">
                <a:solidFill>
                  <a:srgbClr val="65758B"/>
                </a:solidFill>
                <a:effectLst/>
                <a:uFillTx/>
                <a:latin typeface="Aptos"/>
              </a:rPr>
              <a:t>ServiceDesk Kick-off</a:t>
            </a:r>
            <a:endParaRPr lang="en-US" sz="800" b="0" u="none" strike="noStrike">
              <a:solidFill>
                <a:srgbClr val="FFFFFF"/>
              </a:solidFill>
              <a:effectLst/>
              <a:uFillTx/>
              <a:latin typeface="Arial"/>
            </a:endParaRPr>
          </a:p>
        </p:txBody>
      </p:sp>
      <p:sp>
        <p:nvSpPr>
          <p:cNvPr id="246" name="Text 64"/>
          <p:cNvSpPr/>
          <p:nvPr/>
        </p:nvSpPr>
        <p:spPr>
          <a:xfrm>
            <a:off x="10969920" y="6565320"/>
            <a:ext cx="548280" cy="1825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00" b="0" u="none" strike="noStrike">
                <a:solidFill>
                  <a:srgbClr val="65758B"/>
                </a:solidFill>
                <a:effectLst/>
                <a:uFillTx/>
                <a:latin typeface="Aptos"/>
              </a:rPr>
              <a:t>07</a:t>
            </a:r>
            <a:endParaRPr lang="en-US" sz="800" b="0" u="none" strike="noStrike">
              <a:solidFill>
                <a:srgbClr val="FFFFFF"/>
              </a:solidFill>
              <a:effectLst/>
              <a:uFillTx/>
              <a:latin typeface="Arial"/>
            </a:endParaRPr>
          </a:p>
        </p:txBody>
      </p:sp>
      <p:sp>
        <p:nvSpPr>
          <p:cNvPr id="247" name=""/>
          <p:cNvSpPr txBox="1"/>
          <p:nvPr/>
        </p:nvSpPr>
        <p:spPr>
          <a:xfrm>
            <a:off x="3803760" y="312120"/>
            <a:ext cx="4197240" cy="373680"/>
          </a:xfrm>
          <a:prstGeom prst="rect">
            <a:avLst/>
          </a:prstGeom>
          <a:noFill/>
          <a:ln w="0">
            <a:noFill/>
          </a:ln>
        </p:spPr>
        <p:txBody>
          <a:bodyPr wrap="none" lIns="90000" tIns="45000" rIns="90000" bIns="45000" anchor="t">
            <a:spAutoFit/>
          </a:bodyPr>
          <a:p>
            <a:r>
              <a:rPr lang="en-US" sz="2000" b="1" i="1" u="none" strike="noStrike">
                <a:solidFill>
                  <a:srgbClr val="FFFFFF"/>
                </a:solidFill>
                <a:effectLst/>
                <a:uFillTx/>
                <a:latin typeface="Arial"/>
              </a:rPr>
              <a:t>Entrevista 1 — Miguel Hernández</a:t>
            </a:r>
            <a:endParaRPr lang="en-US" sz="2000" b="1" i="1" u="none" strike="noStrike">
              <a:solidFill>
                <a:srgbClr val="FFFFFF"/>
              </a:solidFill>
              <a:effectLst/>
              <a:uFillTx/>
              <a:latin typeface="Arial"/>
            </a:endParaRPr>
          </a:p>
        </p:txBody>
      </p:sp>
      <p:sp>
        <p:nvSpPr>
          <p:cNvPr id="248" name=""/>
          <p:cNvSpPr txBox="1"/>
          <p:nvPr/>
        </p:nvSpPr>
        <p:spPr>
          <a:xfrm>
            <a:off x="2286000" y="457200"/>
            <a:ext cx="8187120" cy="5910840"/>
          </a:xfrm>
          <a:prstGeom prst="rect">
            <a:avLst/>
          </a:prstGeom>
          <a:noFill/>
          <a:ln w="0">
            <a:noFill/>
          </a:ln>
        </p:spPr>
        <p:txBody>
          <a:bodyPr lIns="90000" tIns="45000" rIns="90000" bIns="45000" anchor="t">
            <a:spAutoFit/>
          </a:bodyPr>
          <a:p>
            <a:r>
              <a:rPr lang="en-US" sz="2200" b="1" u="none" strike="noStrike">
                <a:solidFill>
                  <a:srgbClr val="FFFFFF"/>
                </a:solidFill>
                <a:effectLst/>
                <a:uFillTx/>
                <a:latin typeface="Arial"/>
              </a:rPr>
              <a:t>3. Medición</a:t>
            </a:r>
            <a:endParaRPr lang="en-US" sz="2200" b="1" u="none" strike="noStrike">
              <a:solidFill>
                <a:srgbClr val="FFFFFF"/>
              </a:solidFill>
              <a:effectLst/>
              <a:uFillTx/>
              <a:latin typeface="Arial"/>
            </a:endParaRPr>
          </a:p>
          <a:p>
            <a:r>
              <a:rPr lang="en-US" sz="1000" b="0" u="none" strike="noStrike">
                <a:solidFill>
                  <a:srgbClr val="FFFFFF"/>
                </a:solidFill>
                <a:effectLst/>
                <a:uFillTx/>
                <a:latin typeface="Arial"/>
              </a:rPr>
              <a:t>“¿Llevas algún control de cuánto tarda un caso en resolverse? ¿Cómo lo mides hoy, aunque sea en Excel?”</a:t>
            </a:r>
            <a:endParaRPr lang="en-US" sz="1000" b="0" u="none" strike="noStrike">
              <a:solidFill>
                <a:srgbClr val="FFFFFF"/>
              </a:solidFill>
              <a:effectLst/>
              <a:uFillTx/>
              <a:latin typeface="Arial"/>
            </a:endParaRPr>
          </a:p>
          <a:p>
            <a:pPr>
              <a:lnSpc>
                <a:spcPct val="100000"/>
              </a:lnSpc>
              <a:spcBef>
                <a:spcPts val="340"/>
              </a:spcBef>
              <a:spcAft>
                <a:spcPts val="142"/>
              </a:spcAft>
            </a:pPr>
            <a:r>
              <a:rPr lang="en-US" sz="1000" b="0" u="none" strike="noStrike">
                <a:solidFill>
                  <a:srgbClr val="FFFFFF"/>
                </a:solidFill>
                <a:effectLst/>
                <a:uFillTx/>
                <a:latin typeface="Arial"/>
              </a:rPr>
              <a:t>Muy limitado.</a:t>
            </a:r>
            <a:endParaRPr lang="en-US" sz="1000" b="0" u="none" strike="noStrike">
              <a:solidFill>
                <a:srgbClr val="FFFFFF"/>
              </a:solidFill>
              <a:effectLst/>
              <a:uFillTx/>
              <a:latin typeface="Arial"/>
            </a:endParaRPr>
          </a:p>
          <a:p>
            <a:pPr>
              <a:lnSpc>
                <a:spcPct val="100000"/>
              </a:lnSpc>
              <a:spcBef>
                <a:spcPts val="340"/>
              </a:spcBef>
              <a:spcAft>
                <a:spcPts val="142"/>
              </a:spcAft>
            </a:pPr>
            <a:r>
              <a:rPr lang="en-US" sz="1000" b="0" u="none" strike="noStrike">
                <a:solidFill>
                  <a:srgbClr val="FFFFFF"/>
                </a:solidFill>
                <a:effectLst/>
                <a:uFillTx/>
                <a:latin typeface="Arial"/>
              </a:rPr>
              <a:t>El Excel tiene fecha de registro y a veces fecha de cierre.</a:t>
            </a:r>
            <a:endParaRPr lang="en-US" sz="1000" b="0" u="none" strike="noStrike">
              <a:solidFill>
                <a:srgbClr val="FFFFFF"/>
              </a:solidFill>
              <a:effectLst/>
              <a:uFillTx/>
              <a:latin typeface="Arial"/>
            </a:endParaRPr>
          </a:p>
          <a:p>
            <a:pPr>
              <a:lnSpc>
                <a:spcPct val="100000"/>
              </a:lnSpc>
              <a:spcBef>
                <a:spcPts val="340"/>
              </a:spcBef>
              <a:spcAft>
                <a:spcPts val="142"/>
              </a:spcAft>
            </a:pPr>
            <a:r>
              <a:rPr lang="en-US" sz="1000" b="0" u="none" strike="noStrike">
                <a:solidFill>
                  <a:srgbClr val="FFFFFF"/>
                </a:solidFill>
                <a:effectLst/>
                <a:uFillTx/>
                <a:latin typeface="Arial"/>
              </a:rPr>
              <a:t>Entonces para los casos bien registrados puedo calcular cuánto tiempo estuvieron abiertos.</a:t>
            </a:r>
            <a:endParaRPr lang="en-US" sz="1000" b="0" u="none" strike="noStrike">
              <a:solidFill>
                <a:srgbClr val="FFFFFF"/>
              </a:solidFill>
              <a:effectLst/>
              <a:uFillTx/>
              <a:latin typeface="Arial"/>
            </a:endParaRPr>
          </a:p>
          <a:p>
            <a:pPr>
              <a:lnSpc>
                <a:spcPct val="100000"/>
              </a:lnSpc>
              <a:spcBef>
                <a:spcPts val="340"/>
              </a:spcBef>
              <a:spcAft>
                <a:spcPts val="142"/>
              </a:spcAft>
            </a:pPr>
            <a:r>
              <a:rPr lang="en-US" sz="1000" b="0" u="none" strike="noStrike">
                <a:solidFill>
                  <a:srgbClr val="FFFFFF"/>
                </a:solidFill>
                <a:effectLst/>
                <a:uFillTx/>
                <a:latin typeface="Arial"/>
              </a:rPr>
              <a:t>El problema es que eso no significa realmente tiempo de trabajo.</a:t>
            </a:r>
            <a:endParaRPr lang="en-US" sz="1000" b="0" u="none" strike="noStrike">
              <a:solidFill>
                <a:srgbClr val="FFFFFF"/>
              </a:solidFill>
              <a:effectLst/>
              <a:uFillTx/>
              <a:latin typeface="Arial"/>
            </a:endParaRPr>
          </a:p>
          <a:p>
            <a:pPr>
              <a:lnSpc>
                <a:spcPct val="100000"/>
              </a:lnSpc>
              <a:spcBef>
                <a:spcPts val="340"/>
              </a:spcBef>
              <a:spcAft>
                <a:spcPts val="142"/>
              </a:spcAft>
            </a:pPr>
            <a:r>
              <a:rPr lang="en-US" sz="1000" b="0" u="none" strike="noStrike">
                <a:solidFill>
                  <a:srgbClr val="FFFFFF"/>
                </a:solidFill>
                <a:effectLst/>
                <a:uFillTx/>
                <a:latin typeface="Arial"/>
              </a:rPr>
              <a:t>Un ticket puede estar abierto dos días porque estamos esperando al usuario o porque está con otro equipo.</a:t>
            </a:r>
            <a:endParaRPr lang="en-US" sz="1000" b="0" u="none" strike="noStrike">
              <a:solidFill>
                <a:srgbClr val="FFFFFF"/>
              </a:solidFill>
              <a:effectLst/>
              <a:uFillTx/>
              <a:latin typeface="Arial"/>
            </a:endParaRPr>
          </a:p>
          <a:p>
            <a:pPr>
              <a:lnSpc>
                <a:spcPct val="100000"/>
              </a:lnSpc>
              <a:spcBef>
                <a:spcPts val="340"/>
              </a:spcBef>
              <a:spcAft>
                <a:spcPts val="142"/>
              </a:spcAft>
            </a:pPr>
            <a:r>
              <a:rPr lang="en-US" sz="1000" b="0" u="none" strike="noStrike">
                <a:solidFill>
                  <a:srgbClr val="FFFFFF"/>
                </a:solidFill>
                <a:effectLst/>
                <a:uFillTx/>
                <a:latin typeface="Arial"/>
              </a:rPr>
              <a:t>Además muchos casos ni siquiera entran al Excel.</a:t>
            </a:r>
            <a:endParaRPr lang="en-US" sz="1000" b="0" u="none" strike="noStrike">
              <a:solidFill>
                <a:srgbClr val="FFFFFF"/>
              </a:solidFill>
              <a:effectLst/>
              <a:uFillTx/>
              <a:latin typeface="Arial"/>
            </a:endParaRPr>
          </a:p>
          <a:p>
            <a:pPr>
              <a:lnSpc>
                <a:spcPct val="100000"/>
              </a:lnSpc>
              <a:spcBef>
                <a:spcPts val="340"/>
              </a:spcBef>
              <a:spcAft>
                <a:spcPts val="142"/>
              </a:spcAft>
            </a:pPr>
            <a:r>
              <a:rPr lang="en-US" sz="1000" b="0" u="none" strike="noStrike">
                <a:solidFill>
                  <a:srgbClr val="FFFFFF"/>
                </a:solidFill>
                <a:effectLst/>
                <a:uFillTx/>
                <a:latin typeface="Arial"/>
              </a:rPr>
              <a:t>Así que puedo sacar números, pero no confío mucho en ellos.</a:t>
            </a:r>
            <a:endParaRPr lang="en-US" sz="1000" b="0" u="none" strike="noStrike">
              <a:solidFill>
                <a:srgbClr val="FFFFFF"/>
              </a:solidFill>
              <a:effectLst/>
              <a:uFillTx/>
              <a:latin typeface="Arial"/>
            </a:endParaRPr>
          </a:p>
          <a:p>
            <a:pPr>
              <a:lnSpc>
                <a:spcPct val="100000"/>
              </a:lnSpc>
              <a:spcBef>
                <a:spcPts val="340"/>
              </a:spcBef>
              <a:spcAft>
                <a:spcPts val="142"/>
              </a:spcAft>
            </a:pPr>
            <a:endParaRPr lang="en-US" sz="1000" b="0" u="none" strike="noStrike">
              <a:solidFill>
                <a:srgbClr val="FFFFFF"/>
              </a:solidFill>
              <a:effectLst/>
              <a:uFillTx/>
              <a:latin typeface="Arial"/>
            </a:endParaRPr>
          </a:p>
          <a:p>
            <a:pPr>
              <a:lnSpc>
                <a:spcPct val="100000"/>
              </a:lnSpc>
              <a:spcBef>
                <a:spcPts val="340"/>
              </a:spcBef>
              <a:spcAft>
                <a:spcPts val="142"/>
              </a:spcAft>
            </a:pPr>
            <a:r>
              <a:rPr lang="en-US" sz="1000" b="0" u="none" strike="noStrike">
                <a:solidFill>
                  <a:srgbClr val="FFFFFF"/>
                </a:solidFill>
                <a:effectLst/>
                <a:uFillTx/>
                <a:latin typeface="Arial"/>
              </a:rPr>
              <a:t>“¿Actualmente utilizan algún dato de esfuerzo o tiempo para estimar capacidad, carga o necesidad de personal?”</a:t>
            </a:r>
            <a:endParaRPr lang="en-US" sz="1000" b="0" u="none" strike="noStrike">
              <a:solidFill>
                <a:srgbClr val="FFFFFF"/>
              </a:solidFill>
              <a:effectLst/>
              <a:uFillTx/>
              <a:latin typeface="Arial"/>
            </a:endParaRPr>
          </a:p>
          <a:p>
            <a:pPr>
              <a:lnSpc>
                <a:spcPct val="100000"/>
              </a:lnSpc>
              <a:spcBef>
                <a:spcPts val="340"/>
              </a:spcBef>
              <a:spcAft>
                <a:spcPts val="142"/>
              </a:spcAft>
            </a:pPr>
            <a:r>
              <a:rPr lang="en-US" sz="1000" b="0" u="none" strike="noStrike">
                <a:solidFill>
                  <a:srgbClr val="FFFFFF"/>
                </a:solidFill>
                <a:effectLst/>
                <a:uFillTx/>
                <a:latin typeface="Arial"/>
              </a:rPr>
              <a:t>No de forma seria.</a:t>
            </a:r>
            <a:endParaRPr lang="en-US" sz="1000" b="0" u="none" strike="noStrike">
              <a:solidFill>
                <a:srgbClr val="FFFFFF"/>
              </a:solidFill>
              <a:effectLst/>
              <a:uFillTx/>
              <a:latin typeface="Arial"/>
            </a:endParaRPr>
          </a:p>
          <a:p>
            <a:pPr>
              <a:lnSpc>
                <a:spcPct val="100000"/>
              </a:lnSpc>
              <a:spcBef>
                <a:spcPts val="340"/>
              </a:spcBef>
              <a:spcAft>
                <a:spcPts val="142"/>
              </a:spcAft>
            </a:pPr>
            <a:r>
              <a:rPr lang="en-US" sz="1000" b="0" u="none" strike="noStrike">
                <a:solidFill>
                  <a:srgbClr val="FFFFFF"/>
                </a:solidFill>
                <a:effectLst/>
                <a:uFillTx/>
                <a:latin typeface="Arial"/>
              </a:rPr>
              <a:t>Yo llevo una idea bastante subjetiva de cuándo el equipo está saturado.</a:t>
            </a:r>
            <a:endParaRPr lang="en-US" sz="1000" b="0" u="none" strike="noStrike">
              <a:solidFill>
                <a:srgbClr val="FFFFFF"/>
              </a:solidFill>
              <a:effectLst/>
              <a:uFillTx/>
              <a:latin typeface="Arial"/>
            </a:endParaRPr>
          </a:p>
          <a:p>
            <a:pPr>
              <a:lnSpc>
                <a:spcPct val="100000"/>
              </a:lnSpc>
              <a:spcBef>
                <a:spcPts val="340"/>
              </a:spcBef>
              <a:spcAft>
                <a:spcPts val="142"/>
              </a:spcAft>
            </a:pPr>
            <a:r>
              <a:rPr lang="en-US" sz="1000" b="0" u="none" strike="noStrike">
                <a:solidFill>
                  <a:srgbClr val="FFFFFF"/>
                </a:solidFill>
                <a:effectLst/>
                <a:uFillTx/>
                <a:latin typeface="Arial"/>
              </a:rPr>
              <a:t>Veo pendientes, escucho quejas, veo cuánto están corriendo todos y noto cuando empiezan a acumularse cosas.</a:t>
            </a:r>
            <a:endParaRPr lang="en-US" sz="1000" b="0" u="none" strike="noStrike">
              <a:solidFill>
                <a:srgbClr val="FFFFFF"/>
              </a:solidFill>
              <a:effectLst/>
              <a:uFillTx/>
              <a:latin typeface="Arial"/>
            </a:endParaRPr>
          </a:p>
          <a:p>
            <a:pPr>
              <a:lnSpc>
                <a:spcPct val="100000"/>
              </a:lnSpc>
              <a:spcBef>
                <a:spcPts val="340"/>
              </a:spcBef>
              <a:spcAft>
                <a:spcPts val="142"/>
              </a:spcAft>
            </a:pPr>
            <a:r>
              <a:rPr lang="en-US" sz="1000" b="0" u="none" strike="noStrike">
                <a:solidFill>
                  <a:srgbClr val="FFFFFF"/>
                </a:solidFill>
                <a:effectLst/>
                <a:uFillTx/>
                <a:latin typeface="Arial"/>
              </a:rPr>
              <a:t>Pero no tengo un indicador que diga: “tenemos capacidad para X solicitudes y estamos recibiendo Y”.</a:t>
            </a:r>
            <a:endParaRPr lang="en-US" sz="1000" b="0" u="none" strike="noStrike">
              <a:solidFill>
                <a:srgbClr val="FFFFFF"/>
              </a:solidFill>
              <a:effectLst/>
              <a:uFillTx/>
              <a:latin typeface="Arial"/>
            </a:endParaRPr>
          </a:p>
          <a:p>
            <a:pPr>
              <a:lnSpc>
                <a:spcPct val="100000"/>
              </a:lnSpc>
              <a:spcBef>
                <a:spcPts val="340"/>
              </a:spcBef>
              <a:spcAft>
                <a:spcPts val="142"/>
              </a:spcAft>
            </a:pPr>
            <a:r>
              <a:rPr lang="en-US" sz="1000" b="0" u="none" strike="noStrike">
                <a:solidFill>
                  <a:srgbClr val="FFFFFF"/>
                </a:solidFill>
                <a:effectLst/>
                <a:uFillTx/>
                <a:latin typeface="Arial"/>
              </a:rPr>
              <a:t>Eso me serviría muchísimo.</a:t>
            </a:r>
            <a:endParaRPr lang="en-US" sz="1000" b="0" u="none" strike="noStrike">
              <a:solidFill>
                <a:srgbClr val="FFFFFF"/>
              </a:solidFill>
              <a:effectLst/>
              <a:uFillTx/>
              <a:latin typeface="Arial"/>
            </a:endParaRPr>
          </a:p>
          <a:p>
            <a:pPr>
              <a:lnSpc>
                <a:spcPct val="100000"/>
              </a:lnSpc>
              <a:spcBef>
                <a:spcPts val="340"/>
              </a:spcBef>
              <a:spcAft>
                <a:spcPts val="142"/>
              </a:spcAft>
            </a:pPr>
            <a:endParaRPr lang="en-US" sz="1000" b="0" u="none" strike="noStrike">
              <a:solidFill>
                <a:srgbClr val="FFFFFF"/>
              </a:solidFill>
              <a:effectLst/>
              <a:uFillTx/>
              <a:latin typeface="Arial"/>
            </a:endParaRPr>
          </a:p>
          <a:p>
            <a:pPr>
              <a:lnSpc>
                <a:spcPct val="100000"/>
              </a:lnSpc>
              <a:spcBef>
                <a:spcPts val="340"/>
              </a:spcBef>
              <a:spcAft>
                <a:spcPts val="142"/>
              </a:spcAft>
            </a:pPr>
            <a:r>
              <a:rPr lang="en-US" sz="1000" b="0" u="none" strike="noStrike">
                <a:solidFill>
                  <a:srgbClr val="FFFFFF"/>
                </a:solidFill>
                <a:effectLst/>
                <a:uFillTx/>
                <a:latin typeface="Arial"/>
              </a:rPr>
              <a:t>“¿Ya reportas algo de esto a tu jefe? ¿Qué te pide y qué le das?”</a:t>
            </a:r>
            <a:endParaRPr lang="en-US" sz="1000" b="0" u="none" strike="noStrike">
              <a:solidFill>
                <a:srgbClr val="FFFFFF"/>
              </a:solidFill>
              <a:effectLst/>
              <a:uFillTx/>
              <a:latin typeface="Arial"/>
            </a:endParaRPr>
          </a:p>
          <a:p>
            <a:pPr>
              <a:lnSpc>
                <a:spcPct val="100000"/>
              </a:lnSpc>
              <a:spcBef>
                <a:spcPts val="340"/>
              </a:spcBef>
              <a:spcAft>
                <a:spcPts val="142"/>
              </a:spcAft>
            </a:pPr>
            <a:r>
              <a:rPr lang="en-US" sz="1000" b="0" u="none" strike="noStrike">
                <a:solidFill>
                  <a:srgbClr val="FFFFFF"/>
                </a:solidFill>
                <a:effectLst/>
                <a:uFillTx/>
                <a:latin typeface="Arial"/>
              </a:rPr>
              <a:t>Sí. Le hago un reporte mensual a Laura.</a:t>
            </a:r>
            <a:endParaRPr lang="en-US" sz="1000" b="0" u="none" strike="noStrike">
              <a:solidFill>
                <a:srgbClr val="FFFFFF"/>
              </a:solidFill>
              <a:effectLst/>
              <a:uFillTx/>
              <a:latin typeface="Arial"/>
            </a:endParaRPr>
          </a:p>
          <a:p>
            <a:pPr>
              <a:lnSpc>
                <a:spcPct val="100000"/>
              </a:lnSpc>
              <a:spcBef>
                <a:spcPts val="340"/>
              </a:spcBef>
              <a:spcAft>
                <a:spcPts val="142"/>
              </a:spcAft>
            </a:pPr>
            <a:r>
              <a:rPr lang="en-US" sz="1000" b="0" u="none" strike="noStrike">
                <a:solidFill>
                  <a:srgbClr val="FFFFFF"/>
                </a:solidFill>
                <a:effectLst/>
                <a:uFillTx/>
                <a:latin typeface="Arial"/>
              </a:rPr>
              <a:t>Normalmente saco del Excel: solicitudes registradas;  solicitudes cerradas; pendientes; algunas categorías; </a:t>
            </a:r>
            <a:endParaRPr lang="en-US" sz="1000" b="0" u="none" strike="noStrike">
              <a:solidFill>
                <a:srgbClr val="FFFFFF"/>
              </a:solidFill>
              <a:effectLst/>
              <a:uFillTx/>
              <a:latin typeface="Arial"/>
            </a:endParaRPr>
          </a:p>
          <a:p>
            <a:pPr>
              <a:lnSpc>
                <a:spcPct val="100000"/>
              </a:lnSpc>
              <a:spcBef>
                <a:spcPts val="340"/>
              </a:spcBef>
              <a:spcAft>
                <a:spcPts val="142"/>
              </a:spcAft>
            </a:pPr>
            <a:r>
              <a:rPr lang="en-US" sz="1000" b="0" u="none" strike="noStrike">
                <a:solidFill>
                  <a:srgbClr val="FFFFFF"/>
                </a:solidFill>
                <a:effectLst/>
                <a:uFillTx/>
                <a:latin typeface="Arial"/>
              </a:rPr>
              <a:t>casos que considero importantes. </a:t>
            </a:r>
            <a:endParaRPr lang="en-US" sz="1000" b="0" u="none" strike="noStrike">
              <a:solidFill>
                <a:srgbClr val="FFFFFF"/>
              </a:solidFill>
              <a:effectLst/>
              <a:uFillTx/>
              <a:latin typeface="Arial"/>
            </a:endParaRPr>
          </a:p>
          <a:p>
            <a:pPr>
              <a:lnSpc>
                <a:spcPct val="100000"/>
              </a:lnSpc>
              <a:spcBef>
                <a:spcPts val="340"/>
              </a:spcBef>
              <a:spcAft>
                <a:spcPts val="142"/>
              </a:spcAft>
            </a:pPr>
            <a:r>
              <a:rPr lang="en-US" sz="1000" b="0" u="none" strike="noStrike">
                <a:solidFill>
                  <a:srgbClr val="FFFFFF"/>
                </a:solidFill>
                <a:effectLst/>
                <a:uFillTx/>
                <a:latin typeface="Arial"/>
              </a:rPr>
              <a:t>A veces me pregunta cuánto tardamos o cuál fue el problema más frecuente.</a:t>
            </a:r>
            <a:endParaRPr lang="en-US" sz="1000" b="0" u="none" strike="noStrike">
              <a:solidFill>
                <a:srgbClr val="FFFFFF"/>
              </a:solidFill>
              <a:effectLst/>
              <a:uFillTx/>
              <a:latin typeface="Arial"/>
            </a:endParaRPr>
          </a:p>
          <a:p>
            <a:pPr>
              <a:lnSpc>
                <a:spcPct val="100000"/>
              </a:lnSpc>
              <a:spcBef>
                <a:spcPts val="340"/>
              </a:spcBef>
              <a:spcAft>
                <a:spcPts val="142"/>
              </a:spcAft>
            </a:pPr>
            <a:r>
              <a:rPr lang="en-US" sz="1000" b="0" u="none" strike="noStrike">
                <a:solidFill>
                  <a:srgbClr val="FFFFFF"/>
                </a:solidFill>
                <a:effectLst/>
                <a:uFillTx/>
                <a:latin typeface="Arial"/>
              </a:rPr>
              <a:t>Puedo darle una aproximación, pero siempre le digo que los datos están incompletos.</a:t>
            </a:r>
            <a:endParaRPr lang="en-US" sz="1000" b="0" u="none" strike="noStrike">
              <a:solidFill>
                <a:srgbClr val="FFFFFF"/>
              </a:solidFill>
              <a:effectLst/>
              <a:uFillTx/>
              <a:latin typeface="Arial"/>
            </a:endParaRPr>
          </a:p>
          <a:p>
            <a:pPr>
              <a:lnSpc>
                <a:spcPct val="100000"/>
              </a:lnSpc>
              <a:spcBef>
                <a:spcPts val="340"/>
              </a:spcBef>
              <a:spcAft>
                <a:spcPts val="142"/>
              </a:spcAft>
            </a:pPr>
            <a:r>
              <a:rPr lang="en-US" sz="1000" b="0" u="none" strike="noStrike">
                <a:solidFill>
                  <a:srgbClr val="FFFFFF"/>
                </a:solidFill>
                <a:effectLst/>
                <a:uFillTx/>
                <a:latin typeface="Arial"/>
              </a:rPr>
              <a:t>También me ha preguntado si necesitamos otra persona en el equipo.</a:t>
            </a:r>
            <a:endParaRPr lang="en-US" sz="1000" b="0" u="none" strike="noStrike">
              <a:solidFill>
                <a:srgbClr val="FFFFFF"/>
              </a:solidFill>
              <a:effectLst/>
              <a:uFillTx/>
              <a:latin typeface="Arial"/>
            </a:endParaRPr>
          </a:p>
          <a:p>
            <a:pPr>
              <a:lnSpc>
                <a:spcPct val="100000"/>
              </a:lnSpc>
              <a:spcBef>
                <a:spcPts val="340"/>
              </a:spcBef>
              <a:spcAft>
                <a:spcPts val="142"/>
              </a:spcAft>
            </a:pPr>
            <a:r>
              <a:rPr lang="en-US" sz="1000" b="0" u="none" strike="noStrike">
                <a:solidFill>
                  <a:srgbClr val="FFFFFF"/>
                </a:solidFill>
                <a:effectLst/>
                <a:uFillTx/>
                <a:latin typeface="Arial"/>
              </a:rPr>
              <a:t>Y ahí tengo el problema de que puedo decirle “sí, estamos saturados”, pero no tengo datos sólidos para demostrarlo.</a:t>
            </a:r>
            <a:endParaRPr lang="en-US" sz="1000" b="0" u="none" strike="noStrike">
              <a:solidFill>
                <a:srgbClr val="FFFFFF"/>
              </a:solidFill>
              <a:effectLst/>
              <a:uFillTx/>
              <a:latin typeface="Arial"/>
            </a:endParaRPr>
          </a:p>
          <a:p>
            <a:endParaRPr lang="en-US"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A6099"/>
        </a:solidFill>
      </p:bgPr>
    </p:bg>
    <p:spTree>
      <p:nvGrpSpPr>
        <p:cNvPr id="1" name=""/>
        <p:cNvGrpSpPr/>
        <p:nvPr/>
      </p:nvGrpSpPr>
      <p:grpSpPr>
        <a:xfrm>
          <a:off x="0" y="0"/>
          <a:ext cx="0" cy="0"/>
          <a:chOff x="0" y="0"/>
          <a:chExt cx="0" cy="0"/>
        </a:xfrm>
      </p:grpSpPr>
      <p:sp>
        <p:nvSpPr>
          <p:cNvPr id="249" name="Shape 44"/>
          <p:cNvSpPr/>
          <p:nvPr/>
        </p:nvSpPr>
        <p:spPr>
          <a:xfrm>
            <a:off x="639720" y="6510240"/>
            <a:ext cx="10878840" cy="360"/>
          </a:xfrm>
          <a:prstGeom prst="line">
            <a:avLst/>
          </a:prstGeom>
          <a:ln w="6350">
            <a:solidFill>
              <a:srgbClr val="D9E3EA"/>
            </a:solidFill>
            <a:round/>
          </a:ln>
        </p:spPr>
        <p:style>
          <a:lnRef idx="0"/>
          <a:fillRef idx="0"/>
          <a:effectRef idx="0"/>
          <a:fontRef idx="minor"/>
        </p:style>
        <p:txBody>
          <a:bodyPr lIns="90000" tIns="-44640" rIns="90000" bIns="-44640" anchor="t" anchorCtr="1">
            <a:noAutofit/>
          </a:bodyPr>
          <a:p>
            <a:endParaRPr lang="en-US" sz="1800" b="0" u="none" strike="noStrike">
              <a:solidFill>
                <a:srgbClr val="FFFFFF"/>
              </a:solidFill>
              <a:effectLst/>
              <a:uFillTx/>
              <a:latin typeface="Arial"/>
            </a:endParaRPr>
          </a:p>
        </p:txBody>
      </p:sp>
      <p:sp>
        <p:nvSpPr>
          <p:cNvPr id="250" name="Text 65"/>
          <p:cNvSpPr/>
          <p:nvPr/>
        </p:nvSpPr>
        <p:spPr>
          <a:xfrm>
            <a:off x="639720" y="6583680"/>
            <a:ext cx="365652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0" u="none" strike="noStrike">
                <a:solidFill>
                  <a:srgbClr val="65758B"/>
                </a:solidFill>
                <a:effectLst/>
                <a:uFillTx/>
                <a:latin typeface="Aptos"/>
              </a:rPr>
              <a:t>ServiceDesk Kick-off</a:t>
            </a:r>
            <a:endParaRPr lang="en-US" sz="800" b="0" u="none" strike="noStrike">
              <a:solidFill>
                <a:srgbClr val="FFFFFF"/>
              </a:solidFill>
              <a:effectLst/>
              <a:uFillTx/>
              <a:latin typeface="Arial"/>
            </a:endParaRPr>
          </a:p>
        </p:txBody>
      </p:sp>
      <p:sp>
        <p:nvSpPr>
          <p:cNvPr id="251" name="Text 66"/>
          <p:cNvSpPr/>
          <p:nvPr/>
        </p:nvSpPr>
        <p:spPr>
          <a:xfrm>
            <a:off x="10969920" y="6565320"/>
            <a:ext cx="548280" cy="1825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00" b="0" u="none" strike="noStrike">
                <a:solidFill>
                  <a:srgbClr val="65758B"/>
                </a:solidFill>
                <a:effectLst/>
                <a:uFillTx/>
                <a:latin typeface="Aptos"/>
              </a:rPr>
              <a:t>07</a:t>
            </a:r>
            <a:endParaRPr lang="en-US" sz="800" b="0" u="none" strike="noStrike">
              <a:solidFill>
                <a:srgbClr val="FFFFFF"/>
              </a:solidFill>
              <a:effectLst/>
              <a:uFillTx/>
              <a:latin typeface="Arial"/>
            </a:endParaRPr>
          </a:p>
        </p:txBody>
      </p:sp>
      <p:sp>
        <p:nvSpPr>
          <p:cNvPr id="252" name=""/>
          <p:cNvSpPr txBox="1"/>
          <p:nvPr/>
        </p:nvSpPr>
        <p:spPr>
          <a:xfrm>
            <a:off x="3803760" y="312120"/>
            <a:ext cx="4197240" cy="373680"/>
          </a:xfrm>
          <a:prstGeom prst="rect">
            <a:avLst/>
          </a:prstGeom>
          <a:noFill/>
          <a:ln w="0">
            <a:noFill/>
          </a:ln>
        </p:spPr>
        <p:txBody>
          <a:bodyPr wrap="none" lIns="90000" tIns="45000" rIns="90000" bIns="45000" anchor="t">
            <a:spAutoFit/>
          </a:bodyPr>
          <a:p>
            <a:r>
              <a:rPr lang="en-US" sz="2000" b="1" i="1" u="none" strike="noStrike">
                <a:solidFill>
                  <a:srgbClr val="FFFFFF"/>
                </a:solidFill>
                <a:effectLst/>
                <a:uFillTx/>
                <a:latin typeface="Arial"/>
              </a:rPr>
              <a:t>Entrevista 1 — Miguel Hernández</a:t>
            </a:r>
            <a:endParaRPr lang="en-US" sz="2000" b="1" i="1" u="none" strike="noStrike">
              <a:solidFill>
                <a:srgbClr val="FFFFFF"/>
              </a:solidFill>
              <a:effectLst/>
              <a:uFillTx/>
              <a:latin typeface="Arial"/>
            </a:endParaRPr>
          </a:p>
        </p:txBody>
      </p:sp>
      <p:sp>
        <p:nvSpPr>
          <p:cNvPr id="253" name=""/>
          <p:cNvSpPr txBox="1"/>
          <p:nvPr/>
        </p:nvSpPr>
        <p:spPr>
          <a:xfrm>
            <a:off x="1303200" y="685800"/>
            <a:ext cx="7882200" cy="5759640"/>
          </a:xfrm>
          <a:prstGeom prst="rect">
            <a:avLst/>
          </a:prstGeom>
          <a:noFill/>
          <a:ln w="0">
            <a:noFill/>
          </a:ln>
        </p:spPr>
        <p:txBody>
          <a:bodyPr lIns="90000" tIns="45000" rIns="90000" bIns="45000" anchor="t">
            <a:spAutoFit/>
          </a:bodyPr>
          <a:p>
            <a:r>
              <a:rPr lang="en-US" sz="2200" b="1" u="none" strike="noStrike">
                <a:solidFill>
                  <a:srgbClr val="FFFFFF"/>
                </a:solidFill>
                <a:effectLst/>
                <a:uFillTx/>
                <a:latin typeface="Arial"/>
              </a:rPr>
              <a:t>4. Dolor operativo</a:t>
            </a:r>
            <a:endParaRPr lang="en-US" sz="2200" b="1" u="none" strike="noStrike">
              <a:solidFill>
                <a:srgbClr val="FFFFFF"/>
              </a:solidFill>
              <a:effectLst/>
              <a:uFillTx/>
              <a:latin typeface="Arial"/>
            </a:endParaRPr>
          </a:p>
          <a:p>
            <a:r>
              <a:rPr lang="en-US" sz="1000" b="0" u="none" strike="noStrike">
                <a:solidFill>
                  <a:srgbClr val="FFFFFF"/>
                </a:solidFill>
                <a:effectLst/>
                <a:uFillTx/>
                <a:latin typeface="Arial"/>
              </a:rPr>
              <a:t>“¿Qué es lo que más tiempo te quita a ti como jefe, que no debería quitarte tiempo?”</a:t>
            </a:r>
            <a:endParaRPr lang="en-US" sz="1000" b="0" u="none" strike="noStrike">
              <a:solidFill>
                <a:srgbClr val="FFFFFF"/>
              </a:solidFill>
              <a:effectLst/>
              <a:uFillTx/>
              <a:latin typeface="Arial"/>
            </a:endParaRPr>
          </a:p>
          <a:p>
            <a:pPr>
              <a:lnSpc>
                <a:spcPct val="100000"/>
              </a:lnSpc>
              <a:spcBef>
                <a:spcPts val="907"/>
              </a:spcBef>
              <a:spcAft>
                <a:spcPts val="709"/>
              </a:spcAft>
            </a:pPr>
            <a:r>
              <a:rPr lang="en-US" sz="1000" b="0" u="none" strike="noStrike">
                <a:solidFill>
                  <a:srgbClr val="FFFFFF"/>
                </a:solidFill>
                <a:effectLst/>
                <a:uFillTx/>
                <a:latin typeface="Arial"/>
              </a:rPr>
              <a:t>Dar seguimiento.</a:t>
            </a:r>
            <a:endParaRPr lang="en-US" sz="1000" b="0" u="none" strike="noStrike">
              <a:solidFill>
                <a:srgbClr val="FFFFFF"/>
              </a:solidFill>
              <a:effectLst/>
              <a:uFillTx/>
              <a:latin typeface="Arial"/>
            </a:endParaRPr>
          </a:p>
          <a:p>
            <a:pPr>
              <a:lnSpc>
                <a:spcPct val="100000"/>
              </a:lnSpc>
              <a:spcBef>
                <a:spcPts val="907"/>
              </a:spcBef>
              <a:spcAft>
                <a:spcPts val="709"/>
              </a:spcAft>
            </a:pPr>
            <a:r>
              <a:rPr lang="en-US" sz="1000" b="0" u="none" strike="noStrike">
                <a:solidFill>
                  <a:srgbClr val="FFFFFF"/>
                </a:solidFill>
                <a:effectLst/>
                <a:uFillTx/>
                <a:latin typeface="Arial"/>
              </a:rPr>
              <a:t>Muchísimo seguimiento.</a:t>
            </a:r>
            <a:endParaRPr lang="en-US" sz="1000" b="0" u="none" strike="noStrike">
              <a:solidFill>
                <a:srgbClr val="FFFFFF"/>
              </a:solidFill>
              <a:effectLst/>
              <a:uFillTx/>
              <a:latin typeface="Arial"/>
            </a:endParaRPr>
          </a:p>
          <a:p>
            <a:pPr>
              <a:lnSpc>
                <a:spcPct val="100000"/>
              </a:lnSpc>
              <a:spcBef>
                <a:spcPts val="907"/>
              </a:spcBef>
              <a:spcAft>
                <a:spcPts val="709"/>
              </a:spcAft>
            </a:pPr>
            <a:r>
              <a:rPr lang="en-US" sz="1000" b="0" u="none" strike="noStrike">
                <a:solidFill>
                  <a:srgbClr val="FFFFFF"/>
                </a:solidFill>
                <a:effectLst/>
                <a:uFillTx/>
                <a:latin typeface="Arial"/>
              </a:rPr>
              <a:t>Preguntar:</a:t>
            </a:r>
            <a:endParaRPr lang="en-US" sz="1000" b="0" u="none" strike="noStrike">
              <a:solidFill>
                <a:srgbClr val="FFFFFF"/>
              </a:solidFill>
              <a:effectLst/>
              <a:uFillTx/>
              <a:latin typeface="Arial"/>
            </a:endParaRPr>
          </a:p>
          <a:p>
            <a:pPr>
              <a:lnSpc>
                <a:spcPct val="100000"/>
              </a:lnSpc>
              <a:spcBef>
                <a:spcPts val="340"/>
              </a:spcBef>
              <a:spcAft>
                <a:spcPts val="142"/>
              </a:spcAft>
            </a:pPr>
            <a:r>
              <a:rPr lang="en-US" sz="1000" b="0" u="none" strike="noStrike">
                <a:solidFill>
                  <a:srgbClr val="FFFFFF"/>
                </a:solidFill>
                <a:effectLst/>
                <a:uFillTx/>
                <a:latin typeface="Arial"/>
              </a:rPr>
              <a:t>“¿Quién tiene este caso?”</a:t>
            </a:r>
            <a:endParaRPr lang="en-US" sz="1000" b="0" u="none" strike="noStrike">
              <a:solidFill>
                <a:srgbClr val="FFFFFF"/>
              </a:solidFill>
              <a:effectLst/>
              <a:uFillTx/>
              <a:latin typeface="Arial"/>
            </a:endParaRPr>
          </a:p>
          <a:p>
            <a:pPr>
              <a:lnSpc>
                <a:spcPct val="100000"/>
              </a:lnSpc>
              <a:spcBef>
                <a:spcPts val="340"/>
              </a:spcBef>
              <a:spcAft>
                <a:spcPts val="142"/>
              </a:spcAft>
            </a:pPr>
            <a:r>
              <a:rPr lang="en-US" sz="1000" b="0" u="none" strike="noStrike">
                <a:solidFill>
                  <a:srgbClr val="FFFFFF"/>
                </a:solidFill>
                <a:effectLst/>
                <a:uFillTx/>
                <a:latin typeface="Arial"/>
              </a:rPr>
              <a:t>“¿Ya le contestaron al usuario?”</a:t>
            </a:r>
            <a:endParaRPr lang="en-US" sz="1000" b="0" u="none" strike="noStrike">
              <a:solidFill>
                <a:srgbClr val="FFFFFF"/>
              </a:solidFill>
              <a:effectLst/>
              <a:uFillTx/>
              <a:latin typeface="Arial"/>
            </a:endParaRPr>
          </a:p>
          <a:p>
            <a:pPr>
              <a:lnSpc>
                <a:spcPct val="100000"/>
              </a:lnSpc>
              <a:spcBef>
                <a:spcPts val="340"/>
              </a:spcBef>
              <a:spcAft>
                <a:spcPts val="142"/>
              </a:spcAft>
            </a:pPr>
            <a:r>
              <a:rPr lang="en-US" sz="1000" b="0" u="none" strike="noStrike">
                <a:solidFill>
                  <a:srgbClr val="FFFFFF"/>
                </a:solidFill>
                <a:effectLst/>
                <a:uFillTx/>
                <a:latin typeface="Arial"/>
              </a:rPr>
              <a:t>“¿Qué dijo Applications?”</a:t>
            </a:r>
            <a:endParaRPr lang="en-US" sz="1000" b="0" u="none" strike="noStrike">
              <a:solidFill>
                <a:srgbClr val="FFFFFF"/>
              </a:solidFill>
              <a:effectLst/>
              <a:uFillTx/>
              <a:latin typeface="Arial"/>
            </a:endParaRPr>
          </a:p>
          <a:p>
            <a:pPr>
              <a:lnSpc>
                <a:spcPct val="100000"/>
              </a:lnSpc>
              <a:spcBef>
                <a:spcPts val="340"/>
              </a:spcBef>
              <a:spcAft>
                <a:spcPts val="142"/>
              </a:spcAft>
            </a:pPr>
            <a:r>
              <a:rPr lang="en-US" sz="1000" b="0" u="none" strike="noStrike">
                <a:solidFill>
                  <a:srgbClr val="FFFFFF"/>
                </a:solidFill>
                <a:effectLst/>
                <a:uFillTx/>
                <a:latin typeface="Arial"/>
              </a:rPr>
              <a:t>“¿Esto sigue pendiente?”</a:t>
            </a:r>
            <a:endParaRPr lang="en-US" sz="1000" b="0" u="none" strike="noStrike">
              <a:solidFill>
                <a:srgbClr val="FFFFFF"/>
              </a:solidFill>
              <a:effectLst/>
              <a:uFillTx/>
              <a:latin typeface="Arial"/>
            </a:endParaRPr>
          </a:p>
          <a:p>
            <a:pPr>
              <a:lnSpc>
                <a:spcPct val="100000"/>
              </a:lnSpc>
              <a:spcBef>
                <a:spcPts val="340"/>
              </a:spcBef>
              <a:spcAft>
                <a:spcPts val="142"/>
              </a:spcAft>
            </a:pPr>
            <a:r>
              <a:rPr lang="en-US" sz="1000" b="0" u="none" strike="noStrike">
                <a:solidFill>
                  <a:srgbClr val="FFFFFF"/>
                </a:solidFill>
                <a:effectLst/>
                <a:uFillTx/>
                <a:latin typeface="Arial"/>
              </a:rPr>
              <a:t>También paso bastante tiempo tratando de reconstruir qué ocurrió cuando alguien se queja.</a:t>
            </a:r>
            <a:endParaRPr lang="en-US" sz="1000" b="0" u="none" strike="noStrike">
              <a:solidFill>
                <a:srgbClr val="FFFFFF"/>
              </a:solidFill>
              <a:effectLst/>
              <a:uFillTx/>
              <a:latin typeface="Arial"/>
            </a:endParaRPr>
          </a:p>
          <a:p>
            <a:pPr>
              <a:lnSpc>
                <a:spcPct val="100000"/>
              </a:lnSpc>
              <a:spcBef>
                <a:spcPts val="340"/>
              </a:spcBef>
              <a:spcAft>
                <a:spcPts val="142"/>
              </a:spcAft>
            </a:pPr>
            <a:r>
              <a:rPr lang="en-US" sz="1000" b="0" u="none" strike="noStrike">
                <a:solidFill>
                  <a:srgbClr val="FFFFFF"/>
                </a:solidFill>
                <a:effectLst/>
                <a:uFillTx/>
                <a:latin typeface="Arial"/>
              </a:rPr>
              <a:t>Tengo que buscar correos, mensajes de Teams y preguntarle a varias personas.</a:t>
            </a:r>
            <a:endParaRPr lang="en-US" sz="1000" b="0" u="none" strike="noStrike">
              <a:solidFill>
                <a:srgbClr val="FFFFFF"/>
              </a:solidFill>
              <a:effectLst/>
              <a:uFillTx/>
              <a:latin typeface="Arial"/>
            </a:endParaRPr>
          </a:p>
          <a:p>
            <a:pPr>
              <a:lnSpc>
                <a:spcPct val="100000"/>
              </a:lnSpc>
              <a:spcBef>
                <a:spcPts val="340"/>
              </a:spcBef>
              <a:spcAft>
                <a:spcPts val="142"/>
              </a:spcAft>
            </a:pPr>
            <a:r>
              <a:rPr lang="en-US" sz="1000" b="0" u="none" strike="noStrike">
                <a:solidFill>
                  <a:srgbClr val="FFFFFF"/>
                </a:solidFill>
                <a:effectLst/>
                <a:uFillTx/>
                <a:latin typeface="Arial"/>
              </a:rPr>
              <a:t>Eso es probablemente lo que más me frustra.</a:t>
            </a:r>
            <a:endParaRPr lang="en-US" sz="1000" b="0" u="none" strike="noStrike">
              <a:solidFill>
                <a:srgbClr val="FFFFFF"/>
              </a:solidFill>
              <a:effectLst/>
              <a:uFillTx/>
              <a:latin typeface="Arial"/>
            </a:endParaRPr>
          </a:p>
          <a:p>
            <a:pPr>
              <a:lnSpc>
                <a:spcPct val="100000"/>
              </a:lnSpc>
              <a:spcBef>
                <a:spcPts val="340"/>
              </a:spcBef>
              <a:spcAft>
                <a:spcPts val="142"/>
              </a:spcAft>
            </a:pPr>
            <a:endParaRPr lang="en-US" sz="1000" b="0" u="none" strike="noStrike">
              <a:solidFill>
                <a:srgbClr val="FFFFFF"/>
              </a:solidFill>
              <a:effectLst/>
              <a:uFillTx/>
              <a:latin typeface="Arial"/>
            </a:endParaRPr>
          </a:p>
          <a:p>
            <a:pPr>
              <a:lnSpc>
                <a:spcPct val="100000"/>
              </a:lnSpc>
              <a:spcBef>
                <a:spcPts val="340"/>
              </a:spcBef>
              <a:spcAft>
                <a:spcPts val="142"/>
              </a:spcAft>
            </a:pPr>
            <a:r>
              <a:rPr lang="en-US" sz="1000" b="0" u="none" strike="noStrike">
                <a:solidFill>
                  <a:srgbClr val="FFFFFF"/>
                </a:solidFill>
                <a:effectLst/>
                <a:uFillTx/>
                <a:latin typeface="Arial"/>
              </a:rPr>
              <a:t>“¿Qué se te escapa o se te olvida seguir sin querer, por no tener un sistema?”</a:t>
            </a:r>
            <a:endParaRPr lang="en-US" sz="1000" b="0" u="none" strike="noStrike">
              <a:solidFill>
                <a:srgbClr val="FFFFFF"/>
              </a:solidFill>
              <a:effectLst/>
              <a:uFillTx/>
              <a:latin typeface="Arial"/>
            </a:endParaRPr>
          </a:p>
          <a:p>
            <a:pPr>
              <a:lnSpc>
                <a:spcPct val="100000"/>
              </a:lnSpc>
              <a:spcBef>
                <a:spcPts val="624"/>
              </a:spcBef>
              <a:spcAft>
                <a:spcPts val="425"/>
              </a:spcAft>
            </a:pPr>
            <a:r>
              <a:rPr lang="en-US" sz="1000" b="0" u="none" strike="noStrike">
                <a:solidFill>
                  <a:srgbClr val="FFFFFF"/>
                </a:solidFill>
                <a:effectLst/>
                <a:uFillTx/>
                <a:latin typeface="Arial"/>
              </a:rPr>
              <a:t>Sobre todo los casos escalados.</a:t>
            </a:r>
            <a:endParaRPr lang="en-US" sz="1000" b="0" u="none" strike="noStrike">
              <a:solidFill>
                <a:srgbClr val="FFFFFF"/>
              </a:solidFill>
              <a:effectLst/>
              <a:uFillTx/>
              <a:latin typeface="Arial"/>
            </a:endParaRPr>
          </a:p>
          <a:p>
            <a:pPr>
              <a:lnSpc>
                <a:spcPct val="100000"/>
              </a:lnSpc>
              <a:spcBef>
                <a:spcPts val="624"/>
              </a:spcBef>
              <a:spcAft>
                <a:spcPts val="425"/>
              </a:spcAft>
            </a:pPr>
            <a:r>
              <a:rPr lang="en-US" sz="1000" b="0" u="none" strike="noStrike">
                <a:solidFill>
                  <a:srgbClr val="FFFFFF"/>
                </a:solidFill>
                <a:effectLst/>
                <a:uFillTx/>
                <a:latin typeface="Arial"/>
              </a:rPr>
              <a:t>Un analista puede decirme:</a:t>
            </a:r>
            <a:endParaRPr lang="en-US" sz="1000" b="0" u="none" strike="noStrike">
              <a:solidFill>
                <a:srgbClr val="FFFFFF"/>
              </a:solidFill>
              <a:effectLst/>
              <a:uFillTx/>
              <a:latin typeface="Arial"/>
            </a:endParaRPr>
          </a:p>
          <a:p>
            <a:pPr>
              <a:lnSpc>
                <a:spcPct val="100000"/>
              </a:lnSpc>
              <a:spcBef>
                <a:spcPts val="624"/>
              </a:spcBef>
              <a:spcAft>
                <a:spcPts val="425"/>
              </a:spcAft>
            </a:pPr>
            <a:r>
              <a:rPr lang="en-US" sz="1000" b="0" u="none" strike="noStrike">
                <a:solidFill>
                  <a:srgbClr val="FFFFFF"/>
                </a:solidFill>
                <a:effectLst/>
                <a:uFillTx/>
                <a:latin typeface="Arial"/>
              </a:rPr>
              <a:t>“Ya se lo mandé a Network.”</a:t>
            </a:r>
            <a:endParaRPr lang="en-US" sz="1000" b="0" u="none" strike="noStrike">
              <a:solidFill>
                <a:srgbClr val="FFFFFF"/>
              </a:solidFill>
              <a:effectLst/>
              <a:uFillTx/>
              <a:latin typeface="Arial"/>
            </a:endParaRPr>
          </a:p>
          <a:p>
            <a:pPr>
              <a:lnSpc>
                <a:spcPct val="100000"/>
              </a:lnSpc>
              <a:spcBef>
                <a:spcPts val="624"/>
              </a:spcBef>
              <a:spcAft>
                <a:spcPts val="425"/>
              </a:spcAft>
            </a:pPr>
            <a:r>
              <a:rPr lang="en-US" sz="1000" b="0" u="none" strike="noStrike">
                <a:solidFill>
                  <a:srgbClr val="FFFFFF"/>
                </a:solidFill>
                <a:effectLst/>
                <a:uFillTx/>
                <a:latin typeface="Arial"/>
              </a:rPr>
              <a:t>Y yo lo doy por hecho.</a:t>
            </a:r>
            <a:endParaRPr lang="en-US" sz="1000" b="0" u="none" strike="noStrike">
              <a:solidFill>
                <a:srgbClr val="FFFFFF"/>
              </a:solidFill>
              <a:effectLst/>
              <a:uFillTx/>
              <a:latin typeface="Arial"/>
            </a:endParaRPr>
          </a:p>
          <a:p>
            <a:pPr>
              <a:lnSpc>
                <a:spcPct val="100000"/>
              </a:lnSpc>
              <a:spcBef>
                <a:spcPts val="624"/>
              </a:spcBef>
              <a:spcAft>
                <a:spcPts val="425"/>
              </a:spcAft>
            </a:pPr>
            <a:r>
              <a:rPr lang="en-US" sz="1000" b="0" u="none" strike="noStrike">
                <a:solidFill>
                  <a:srgbClr val="FFFFFF"/>
                </a:solidFill>
                <a:effectLst/>
                <a:uFillTx/>
                <a:latin typeface="Arial"/>
              </a:rPr>
              <a:t>Tres días después el usuario pregunta y descubrimos que Network lo vio como una consulta informal y no como algo que tenía asignado.</a:t>
            </a:r>
            <a:endParaRPr lang="en-US" sz="1000" b="0" u="none" strike="noStrike">
              <a:solidFill>
                <a:srgbClr val="FFFFFF"/>
              </a:solidFill>
              <a:effectLst/>
              <a:uFillTx/>
              <a:latin typeface="Arial"/>
            </a:endParaRPr>
          </a:p>
          <a:p>
            <a:pPr>
              <a:lnSpc>
                <a:spcPct val="100000"/>
              </a:lnSpc>
              <a:spcBef>
                <a:spcPts val="624"/>
              </a:spcBef>
              <a:spcAft>
                <a:spcPts val="425"/>
              </a:spcAft>
            </a:pPr>
            <a:r>
              <a:rPr lang="en-US" sz="1000" b="0" u="none" strike="noStrike">
                <a:solidFill>
                  <a:srgbClr val="FFFFFF"/>
                </a:solidFill>
                <a:effectLst/>
                <a:uFillTx/>
                <a:latin typeface="Arial"/>
              </a:rPr>
              <a:t>También pasa con solicitudes donde estamos esperando respuesta del usuario. Pueden quedarse ahí y nadie recuerda retomarlas.</a:t>
            </a:r>
            <a:endParaRPr lang="en-US" sz="1000" b="0" u="none" strike="noStrike">
              <a:solidFill>
                <a:srgbClr val="FFFFFF"/>
              </a:solidFill>
              <a:effectLst/>
              <a:uFillTx/>
              <a:latin typeface="Arial"/>
            </a:endParaRPr>
          </a:p>
          <a:p>
            <a:endParaRPr lang="en-US"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A6099"/>
        </a:solidFill>
      </p:bgPr>
    </p:bg>
    <p:spTree>
      <p:nvGrpSpPr>
        <p:cNvPr id="1" name=""/>
        <p:cNvGrpSpPr/>
        <p:nvPr/>
      </p:nvGrpSpPr>
      <p:grpSpPr>
        <a:xfrm>
          <a:off x="0" y="0"/>
          <a:ext cx="0" cy="0"/>
          <a:chOff x="0" y="0"/>
          <a:chExt cx="0" cy="0"/>
        </a:xfrm>
      </p:grpSpPr>
      <p:sp>
        <p:nvSpPr>
          <p:cNvPr id="254" name="Shape 45"/>
          <p:cNvSpPr/>
          <p:nvPr/>
        </p:nvSpPr>
        <p:spPr>
          <a:xfrm>
            <a:off x="639720" y="6510240"/>
            <a:ext cx="10878840" cy="360"/>
          </a:xfrm>
          <a:prstGeom prst="line">
            <a:avLst/>
          </a:prstGeom>
          <a:ln w="6350">
            <a:solidFill>
              <a:srgbClr val="D9E3EA"/>
            </a:solidFill>
            <a:round/>
          </a:ln>
        </p:spPr>
        <p:style>
          <a:lnRef idx="0"/>
          <a:fillRef idx="0"/>
          <a:effectRef idx="0"/>
          <a:fontRef idx="minor"/>
        </p:style>
        <p:txBody>
          <a:bodyPr lIns="90000" tIns="-44640" rIns="90000" bIns="-44640" anchor="t" anchorCtr="1">
            <a:noAutofit/>
          </a:bodyPr>
          <a:p>
            <a:endParaRPr lang="en-US" sz="1800" b="0" u="none" strike="noStrike">
              <a:solidFill>
                <a:srgbClr val="FFFFFF"/>
              </a:solidFill>
              <a:effectLst/>
              <a:uFillTx/>
              <a:latin typeface="Arial"/>
            </a:endParaRPr>
          </a:p>
        </p:txBody>
      </p:sp>
      <p:sp>
        <p:nvSpPr>
          <p:cNvPr id="255" name="Text 67"/>
          <p:cNvSpPr/>
          <p:nvPr/>
        </p:nvSpPr>
        <p:spPr>
          <a:xfrm>
            <a:off x="639720" y="6583680"/>
            <a:ext cx="365652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0" u="none" strike="noStrike">
                <a:solidFill>
                  <a:srgbClr val="65758B"/>
                </a:solidFill>
                <a:effectLst/>
                <a:uFillTx/>
                <a:latin typeface="Aptos"/>
              </a:rPr>
              <a:t>ServiceDesk Kick-off</a:t>
            </a:r>
            <a:endParaRPr lang="en-US" sz="800" b="0" u="none" strike="noStrike">
              <a:solidFill>
                <a:srgbClr val="FFFFFF"/>
              </a:solidFill>
              <a:effectLst/>
              <a:uFillTx/>
              <a:latin typeface="Arial"/>
            </a:endParaRPr>
          </a:p>
        </p:txBody>
      </p:sp>
      <p:sp>
        <p:nvSpPr>
          <p:cNvPr id="256" name="Text 68"/>
          <p:cNvSpPr/>
          <p:nvPr/>
        </p:nvSpPr>
        <p:spPr>
          <a:xfrm>
            <a:off x="10969920" y="6565320"/>
            <a:ext cx="548280" cy="1825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00" b="0" u="none" strike="noStrike">
                <a:solidFill>
                  <a:srgbClr val="65758B"/>
                </a:solidFill>
                <a:effectLst/>
                <a:uFillTx/>
                <a:latin typeface="Aptos"/>
              </a:rPr>
              <a:t>07</a:t>
            </a:r>
            <a:endParaRPr lang="en-US" sz="800" b="0" u="none" strike="noStrike">
              <a:solidFill>
                <a:srgbClr val="FFFFFF"/>
              </a:solidFill>
              <a:effectLst/>
              <a:uFillTx/>
              <a:latin typeface="Arial"/>
            </a:endParaRPr>
          </a:p>
        </p:txBody>
      </p:sp>
      <p:sp>
        <p:nvSpPr>
          <p:cNvPr id="257" name=""/>
          <p:cNvSpPr txBox="1"/>
          <p:nvPr/>
        </p:nvSpPr>
        <p:spPr>
          <a:xfrm>
            <a:off x="3803760" y="312120"/>
            <a:ext cx="4197240" cy="373680"/>
          </a:xfrm>
          <a:prstGeom prst="rect">
            <a:avLst/>
          </a:prstGeom>
          <a:noFill/>
          <a:ln w="0">
            <a:noFill/>
          </a:ln>
        </p:spPr>
        <p:txBody>
          <a:bodyPr wrap="none" lIns="90000" tIns="45000" rIns="90000" bIns="45000" anchor="t">
            <a:spAutoFit/>
          </a:bodyPr>
          <a:p>
            <a:r>
              <a:rPr lang="en-US" sz="2000" b="1" i="1" u="none" strike="noStrike">
                <a:solidFill>
                  <a:srgbClr val="FFFFFF"/>
                </a:solidFill>
                <a:effectLst/>
                <a:uFillTx/>
                <a:latin typeface="Arial"/>
              </a:rPr>
              <a:t>Entrevista 1 — Miguel Hernández</a:t>
            </a:r>
            <a:endParaRPr lang="en-US" sz="2000" b="1" i="1" u="none" strike="noStrike">
              <a:solidFill>
                <a:srgbClr val="FFFFFF"/>
              </a:solidFill>
              <a:effectLst/>
              <a:uFillTx/>
              <a:latin typeface="Arial"/>
            </a:endParaRPr>
          </a:p>
        </p:txBody>
      </p:sp>
      <p:sp>
        <p:nvSpPr>
          <p:cNvPr id="258" name=""/>
          <p:cNvSpPr txBox="1"/>
          <p:nvPr/>
        </p:nvSpPr>
        <p:spPr>
          <a:xfrm>
            <a:off x="2967120" y="1405800"/>
            <a:ext cx="4554000" cy="4422960"/>
          </a:xfrm>
          <a:prstGeom prst="rect">
            <a:avLst/>
          </a:prstGeom>
          <a:noFill/>
          <a:ln w="0">
            <a:noFill/>
          </a:ln>
        </p:spPr>
        <p:txBody>
          <a:bodyPr lIns="90000" tIns="45000" rIns="90000" bIns="45000" anchor="t">
            <a:spAutoFit/>
          </a:bodyPr>
          <a:p>
            <a:r>
              <a:rPr lang="en-US" sz="1000" b="0" u="none" strike="noStrike">
                <a:solidFill>
                  <a:srgbClr val="FFFFFF"/>
                </a:solidFill>
                <a:effectLst/>
                <a:uFillTx/>
                <a:latin typeface="Arial"/>
              </a:rPr>
              <a:t>“Si pudieras cambiar una sola cosa del proceso actual, ¿cuál sería?”</a:t>
            </a:r>
            <a:endParaRPr lang="en-US" sz="1000" b="0" u="none" strike="noStrike">
              <a:solidFill>
                <a:srgbClr val="FFFFFF"/>
              </a:solidFill>
              <a:effectLst/>
              <a:uFillTx/>
              <a:latin typeface="Arial"/>
            </a:endParaRPr>
          </a:p>
          <a:p>
            <a:pPr>
              <a:lnSpc>
                <a:spcPct val="100000"/>
              </a:lnSpc>
              <a:spcBef>
                <a:spcPts val="624"/>
              </a:spcBef>
              <a:spcAft>
                <a:spcPts val="425"/>
              </a:spcAft>
            </a:pPr>
            <a:r>
              <a:rPr lang="en-US" sz="1000" b="0" u="none" strike="noStrike">
                <a:solidFill>
                  <a:srgbClr val="FFFFFF"/>
                </a:solidFill>
                <a:effectLst/>
                <a:uFillTx/>
                <a:latin typeface="Arial"/>
              </a:rPr>
              <a:t>Que cada solicitud tenga un dueño claro en todo momento.</a:t>
            </a:r>
            <a:endParaRPr lang="en-US" sz="1000" b="0" u="none" strike="noStrike">
              <a:solidFill>
                <a:srgbClr val="FFFFFF"/>
              </a:solidFill>
              <a:effectLst/>
              <a:uFillTx/>
              <a:latin typeface="Arial"/>
            </a:endParaRPr>
          </a:p>
          <a:p>
            <a:pPr>
              <a:lnSpc>
                <a:spcPct val="100000"/>
              </a:lnSpc>
              <a:spcBef>
                <a:spcPts val="624"/>
              </a:spcBef>
              <a:spcAft>
                <a:spcPts val="425"/>
              </a:spcAft>
            </a:pPr>
            <a:r>
              <a:rPr lang="en-US" sz="1000" b="0" u="none" strike="noStrike">
                <a:solidFill>
                  <a:srgbClr val="FFFFFF"/>
                </a:solidFill>
                <a:effectLst/>
                <a:uFillTx/>
                <a:latin typeface="Arial"/>
              </a:rPr>
              <a:t>No me importa si está con Service Desk, Network o Applications.</a:t>
            </a:r>
            <a:endParaRPr lang="en-US" sz="1000" b="0" u="none" strike="noStrike">
              <a:solidFill>
                <a:srgbClr val="FFFFFF"/>
              </a:solidFill>
              <a:effectLst/>
              <a:uFillTx/>
              <a:latin typeface="Arial"/>
            </a:endParaRPr>
          </a:p>
          <a:p>
            <a:pPr>
              <a:lnSpc>
                <a:spcPct val="100000"/>
              </a:lnSpc>
              <a:spcBef>
                <a:spcPts val="624"/>
              </a:spcBef>
              <a:spcAft>
                <a:spcPts val="425"/>
              </a:spcAft>
            </a:pPr>
            <a:r>
              <a:rPr lang="en-US" sz="1000" b="0" u="none" strike="noStrike">
                <a:solidFill>
                  <a:srgbClr val="FFFFFF"/>
                </a:solidFill>
                <a:effectLst/>
                <a:uFillTx/>
                <a:latin typeface="Arial"/>
              </a:rPr>
              <a:t>Quiero poder abrir algo y saber:</a:t>
            </a:r>
            <a:endParaRPr lang="en-US" sz="1000" b="0" u="none" strike="noStrike">
              <a:solidFill>
                <a:srgbClr val="FFFFFF"/>
              </a:solidFill>
              <a:effectLst/>
              <a:uFillTx/>
              <a:latin typeface="Arial"/>
            </a:endParaRPr>
          </a:p>
          <a:p>
            <a:pPr>
              <a:lnSpc>
                <a:spcPct val="100000"/>
              </a:lnSpc>
              <a:spcBef>
                <a:spcPts val="624"/>
              </a:spcBef>
              <a:spcAft>
                <a:spcPts val="425"/>
              </a:spcAft>
            </a:pPr>
            <a:r>
              <a:rPr lang="en-US" sz="1000" b="0" u="none" strike="noStrike">
                <a:solidFill>
                  <a:srgbClr val="FFFFFF"/>
                </a:solidFill>
                <a:effectLst/>
                <a:uFillTx/>
                <a:latin typeface="Arial"/>
              </a:rPr>
              <a:t>quién la tiene; </a:t>
            </a:r>
            <a:endParaRPr lang="en-US" sz="1000" b="0" u="none" strike="noStrike">
              <a:solidFill>
                <a:srgbClr val="FFFFFF"/>
              </a:solidFill>
              <a:effectLst/>
              <a:uFillTx/>
              <a:latin typeface="Arial"/>
            </a:endParaRPr>
          </a:p>
          <a:p>
            <a:pPr>
              <a:lnSpc>
                <a:spcPct val="100000"/>
              </a:lnSpc>
              <a:spcBef>
                <a:spcPts val="624"/>
              </a:spcBef>
              <a:spcAft>
                <a:spcPts val="425"/>
              </a:spcAft>
            </a:pPr>
            <a:r>
              <a:rPr lang="en-US" sz="1000" b="0" u="none" strike="noStrike">
                <a:solidFill>
                  <a:srgbClr val="FFFFFF"/>
                </a:solidFill>
                <a:effectLst/>
                <a:uFillTx/>
                <a:latin typeface="Arial"/>
              </a:rPr>
              <a:t>desde cuándo; </a:t>
            </a:r>
            <a:endParaRPr lang="en-US" sz="1000" b="0" u="none" strike="noStrike">
              <a:solidFill>
                <a:srgbClr val="FFFFFF"/>
              </a:solidFill>
              <a:effectLst/>
              <a:uFillTx/>
              <a:latin typeface="Arial"/>
            </a:endParaRPr>
          </a:p>
          <a:p>
            <a:pPr>
              <a:lnSpc>
                <a:spcPct val="100000"/>
              </a:lnSpc>
              <a:spcBef>
                <a:spcPts val="624"/>
              </a:spcBef>
              <a:spcAft>
                <a:spcPts val="425"/>
              </a:spcAft>
            </a:pPr>
            <a:r>
              <a:rPr lang="en-US" sz="1000" b="0" u="none" strike="noStrike">
                <a:solidFill>
                  <a:srgbClr val="FFFFFF"/>
                </a:solidFill>
                <a:effectLst/>
                <a:uFillTx/>
                <a:latin typeface="Arial"/>
              </a:rPr>
              <a:t>qué se ha hecho; </a:t>
            </a:r>
            <a:endParaRPr lang="en-US" sz="1000" b="0" u="none" strike="noStrike">
              <a:solidFill>
                <a:srgbClr val="FFFFFF"/>
              </a:solidFill>
              <a:effectLst/>
              <a:uFillTx/>
              <a:latin typeface="Arial"/>
            </a:endParaRPr>
          </a:p>
          <a:p>
            <a:pPr>
              <a:lnSpc>
                <a:spcPct val="100000"/>
              </a:lnSpc>
              <a:spcBef>
                <a:spcPts val="624"/>
              </a:spcBef>
              <a:spcAft>
                <a:spcPts val="425"/>
              </a:spcAft>
            </a:pPr>
            <a:r>
              <a:rPr lang="en-US" sz="1000" b="0" u="none" strike="noStrike">
                <a:solidFill>
                  <a:srgbClr val="FFFFFF"/>
                </a:solidFill>
                <a:effectLst/>
                <a:uFillTx/>
                <a:latin typeface="Arial"/>
              </a:rPr>
              <a:t>qué falta; </a:t>
            </a:r>
            <a:endParaRPr lang="en-US" sz="1000" b="0" u="none" strike="noStrike">
              <a:solidFill>
                <a:srgbClr val="FFFFFF"/>
              </a:solidFill>
              <a:effectLst/>
              <a:uFillTx/>
              <a:latin typeface="Arial"/>
            </a:endParaRPr>
          </a:p>
          <a:p>
            <a:pPr>
              <a:lnSpc>
                <a:spcPct val="100000"/>
              </a:lnSpc>
              <a:spcBef>
                <a:spcPts val="624"/>
              </a:spcBef>
              <a:spcAft>
                <a:spcPts val="425"/>
              </a:spcAft>
            </a:pPr>
            <a:r>
              <a:rPr lang="en-US" sz="1000" b="0" u="none" strike="noStrike">
                <a:solidFill>
                  <a:srgbClr val="FFFFFF"/>
                </a:solidFill>
                <a:effectLst/>
                <a:uFillTx/>
                <a:latin typeface="Arial"/>
              </a:rPr>
              <a:t>quién tiene que actuar después. </a:t>
            </a:r>
            <a:endParaRPr lang="en-US" sz="1000" b="0" u="none" strike="noStrike">
              <a:solidFill>
                <a:srgbClr val="FFFFFF"/>
              </a:solidFill>
              <a:effectLst/>
              <a:uFillTx/>
              <a:latin typeface="Arial"/>
            </a:endParaRPr>
          </a:p>
          <a:p>
            <a:pPr>
              <a:lnSpc>
                <a:spcPct val="100000"/>
              </a:lnSpc>
              <a:spcBef>
                <a:spcPts val="624"/>
              </a:spcBef>
              <a:spcAft>
                <a:spcPts val="425"/>
              </a:spcAft>
            </a:pPr>
            <a:r>
              <a:rPr lang="en-US" sz="1000" b="0" u="none" strike="noStrike">
                <a:solidFill>
                  <a:srgbClr val="FFFFFF"/>
                </a:solidFill>
                <a:effectLst/>
                <a:uFillTx/>
                <a:latin typeface="Arial"/>
              </a:rPr>
              <a:t>Si tuviera eso, creo que resolveríamos una gran parte de nuestros problemas.</a:t>
            </a:r>
            <a:endParaRPr lang="en-US" sz="1000" b="0" u="none" strike="noStrike">
              <a:solidFill>
                <a:srgbClr val="FFFFFF"/>
              </a:solidFill>
              <a:effectLst/>
              <a:uFillTx/>
              <a:latin typeface="Arial"/>
            </a:endParaRPr>
          </a:p>
          <a:p>
            <a:endParaRPr lang="en-US"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A6099"/>
        </a:solidFill>
      </p:bgPr>
    </p:bg>
    <p:spTree>
      <p:nvGrpSpPr>
        <p:cNvPr id="1" name=""/>
        <p:cNvGrpSpPr/>
        <p:nvPr/>
      </p:nvGrpSpPr>
      <p:grpSpPr>
        <a:xfrm>
          <a:off x="0" y="0"/>
          <a:ext cx="0" cy="0"/>
          <a:chOff x="0" y="0"/>
          <a:chExt cx="0" cy="0"/>
        </a:xfrm>
      </p:grpSpPr>
      <p:sp>
        <p:nvSpPr>
          <p:cNvPr id="259" name="Shape 46"/>
          <p:cNvSpPr/>
          <p:nvPr/>
        </p:nvSpPr>
        <p:spPr>
          <a:xfrm>
            <a:off x="639720" y="6510240"/>
            <a:ext cx="10878840" cy="360"/>
          </a:xfrm>
          <a:prstGeom prst="line">
            <a:avLst/>
          </a:prstGeom>
          <a:ln w="6350">
            <a:solidFill>
              <a:srgbClr val="D9E3EA"/>
            </a:solidFill>
            <a:round/>
          </a:ln>
        </p:spPr>
        <p:style>
          <a:lnRef idx="0"/>
          <a:fillRef idx="0"/>
          <a:effectRef idx="0"/>
          <a:fontRef idx="minor"/>
        </p:style>
        <p:txBody>
          <a:bodyPr lIns="90000" tIns="-44640" rIns="90000" bIns="-44640" anchor="t" anchorCtr="1">
            <a:noAutofit/>
          </a:bodyPr>
          <a:p>
            <a:endParaRPr lang="en-US" sz="1800" b="0" u="none" strike="noStrike">
              <a:solidFill>
                <a:srgbClr val="FFFFFF"/>
              </a:solidFill>
              <a:effectLst/>
              <a:uFillTx/>
              <a:latin typeface="Arial"/>
            </a:endParaRPr>
          </a:p>
        </p:txBody>
      </p:sp>
      <p:sp>
        <p:nvSpPr>
          <p:cNvPr id="260" name="Text 69"/>
          <p:cNvSpPr/>
          <p:nvPr/>
        </p:nvSpPr>
        <p:spPr>
          <a:xfrm>
            <a:off x="639720" y="6583680"/>
            <a:ext cx="365652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0" u="none" strike="noStrike">
                <a:solidFill>
                  <a:srgbClr val="65758B"/>
                </a:solidFill>
                <a:effectLst/>
                <a:uFillTx/>
                <a:latin typeface="Aptos"/>
              </a:rPr>
              <a:t>ServiceDesk Kick-off</a:t>
            </a:r>
            <a:endParaRPr lang="en-US" sz="800" b="0" u="none" strike="noStrike">
              <a:solidFill>
                <a:srgbClr val="FFFFFF"/>
              </a:solidFill>
              <a:effectLst/>
              <a:uFillTx/>
              <a:latin typeface="Arial"/>
            </a:endParaRPr>
          </a:p>
        </p:txBody>
      </p:sp>
      <p:sp>
        <p:nvSpPr>
          <p:cNvPr id="261" name="Text 70"/>
          <p:cNvSpPr/>
          <p:nvPr/>
        </p:nvSpPr>
        <p:spPr>
          <a:xfrm>
            <a:off x="10969920" y="6565320"/>
            <a:ext cx="548280" cy="1825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00" b="0" u="none" strike="noStrike">
                <a:solidFill>
                  <a:srgbClr val="65758B"/>
                </a:solidFill>
                <a:effectLst/>
                <a:uFillTx/>
                <a:latin typeface="Aptos"/>
              </a:rPr>
              <a:t>07</a:t>
            </a:r>
            <a:endParaRPr lang="en-US" sz="800" b="0" u="none" strike="noStrike">
              <a:solidFill>
                <a:srgbClr val="FFFFFF"/>
              </a:solidFill>
              <a:effectLst/>
              <a:uFillTx/>
              <a:latin typeface="Arial"/>
            </a:endParaRPr>
          </a:p>
        </p:txBody>
      </p:sp>
      <p:sp>
        <p:nvSpPr>
          <p:cNvPr id="262" name=""/>
          <p:cNvSpPr txBox="1"/>
          <p:nvPr/>
        </p:nvSpPr>
        <p:spPr>
          <a:xfrm>
            <a:off x="3803760" y="312120"/>
            <a:ext cx="4197240" cy="373680"/>
          </a:xfrm>
          <a:prstGeom prst="rect">
            <a:avLst/>
          </a:prstGeom>
          <a:noFill/>
          <a:ln w="0">
            <a:noFill/>
          </a:ln>
        </p:spPr>
        <p:txBody>
          <a:bodyPr wrap="none" lIns="90000" tIns="45000" rIns="90000" bIns="45000" anchor="t">
            <a:spAutoFit/>
          </a:bodyPr>
          <a:p>
            <a:r>
              <a:rPr lang="en-US" sz="2000" b="1" i="1" u="none" strike="noStrike">
                <a:solidFill>
                  <a:srgbClr val="FFFFFF"/>
                </a:solidFill>
                <a:effectLst/>
                <a:uFillTx/>
                <a:latin typeface="Arial"/>
              </a:rPr>
              <a:t>Entrevista 1 — Miguel Hernández</a:t>
            </a:r>
            <a:endParaRPr lang="en-US" sz="2000" b="1" i="1" u="none" strike="noStrike">
              <a:solidFill>
                <a:srgbClr val="FFFFFF"/>
              </a:solidFill>
              <a:effectLst/>
              <a:uFillTx/>
              <a:latin typeface="Arial"/>
            </a:endParaRPr>
          </a:p>
        </p:txBody>
      </p:sp>
      <p:sp>
        <p:nvSpPr>
          <p:cNvPr id="263" name=""/>
          <p:cNvSpPr txBox="1"/>
          <p:nvPr/>
        </p:nvSpPr>
        <p:spPr>
          <a:xfrm>
            <a:off x="2743200" y="1161360"/>
            <a:ext cx="5109840" cy="4096440"/>
          </a:xfrm>
          <a:prstGeom prst="rect">
            <a:avLst/>
          </a:prstGeom>
          <a:noFill/>
          <a:ln w="0">
            <a:noFill/>
          </a:ln>
        </p:spPr>
        <p:txBody>
          <a:bodyPr lIns="90000" tIns="45000" rIns="90000" bIns="45000" anchor="t">
            <a:spAutoFit/>
          </a:bodyPr>
          <a:p>
            <a:r>
              <a:rPr lang="en-US" sz="2200" b="1" u="none" strike="noStrike">
                <a:solidFill>
                  <a:srgbClr val="FFFFFF"/>
                </a:solidFill>
                <a:effectLst/>
                <a:uFillTx/>
                <a:latin typeface="Arial"/>
              </a:rPr>
              <a:t>5. Escalamiento a Nivel 2</a:t>
            </a:r>
            <a:endParaRPr lang="en-US" sz="2200" b="1" u="none" strike="noStrike">
              <a:solidFill>
                <a:srgbClr val="FFFFFF"/>
              </a:solidFill>
              <a:effectLst/>
              <a:uFillTx/>
              <a:latin typeface="Arial"/>
            </a:endParaRPr>
          </a:p>
          <a:p>
            <a:r>
              <a:rPr lang="en-US" sz="1000" b="0" u="none" strike="noStrike">
                <a:solidFill>
                  <a:srgbClr val="FFFFFF"/>
                </a:solidFill>
                <a:effectLst/>
                <a:uFillTx/>
                <a:latin typeface="Arial"/>
              </a:rPr>
              <a:t>“Cuando escalas algo a Network, Aplicaciones o InfoSec, ¿cómo lo haces hoy?”</a:t>
            </a:r>
            <a:endParaRPr lang="en-US" sz="1000" b="0" u="none" strike="noStrike">
              <a:solidFill>
                <a:srgbClr val="FFFFFF"/>
              </a:solidFill>
              <a:effectLst/>
              <a:uFillTx/>
              <a:latin typeface="Arial"/>
            </a:endParaRPr>
          </a:p>
          <a:p>
            <a:pPr>
              <a:lnSpc>
                <a:spcPct val="100000"/>
              </a:lnSpc>
              <a:spcBef>
                <a:spcPts val="340"/>
              </a:spcBef>
              <a:spcAft>
                <a:spcPts val="142"/>
              </a:spcAft>
            </a:pPr>
            <a:r>
              <a:rPr lang="en-US" sz="1000" b="0" u="none" strike="noStrike">
                <a:solidFill>
                  <a:srgbClr val="FFFFFF"/>
                </a:solidFill>
                <a:effectLst/>
                <a:uFillTx/>
                <a:latin typeface="Arial"/>
              </a:rPr>
              <a:t>No hay un método único.</a:t>
            </a:r>
            <a:endParaRPr lang="en-US" sz="1000" b="0" u="none" strike="noStrike">
              <a:solidFill>
                <a:srgbClr val="FFFFFF"/>
              </a:solidFill>
              <a:effectLst/>
              <a:uFillTx/>
              <a:latin typeface="Arial"/>
            </a:endParaRPr>
          </a:p>
          <a:p>
            <a:pPr>
              <a:lnSpc>
                <a:spcPct val="100000"/>
              </a:lnSpc>
              <a:spcBef>
                <a:spcPts val="340"/>
              </a:spcBef>
              <a:spcAft>
                <a:spcPts val="142"/>
              </a:spcAft>
            </a:pPr>
            <a:r>
              <a:rPr lang="en-US" sz="1000" b="0" u="none" strike="noStrike">
                <a:solidFill>
                  <a:srgbClr val="FFFFFF"/>
                </a:solidFill>
                <a:effectLst/>
                <a:uFillTx/>
                <a:latin typeface="Arial"/>
              </a:rPr>
              <a:t>Normalmente por Teams.</a:t>
            </a:r>
            <a:endParaRPr lang="en-US" sz="1000" b="0" u="none" strike="noStrike">
              <a:solidFill>
                <a:srgbClr val="FFFFFF"/>
              </a:solidFill>
              <a:effectLst/>
              <a:uFillTx/>
              <a:latin typeface="Arial"/>
            </a:endParaRPr>
          </a:p>
          <a:p>
            <a:pPr>
              <a:lnSpc>
                <a:spcPct val="100000"/>
              </a:lnSpc>
              <a:spcBef>
                <a:spcPts val="340"/>
              </a:spcBef>
              <a:spcAft>
                <a:spcPts val="142"/>
              </a:spcAft>
            </a:pPr>
            <a:r>
              <a:rPr lang="en-US" sz="1000" b="0" u="none" strike="noStrike">
                <a:solidFill>
                  <a:srgbClr val="FFFFFF"/>
                </a:solidFill>
                <a:effectLst/>
                <a:uFillTx/>
                <a:latin typeface="Arial"/>
              </a:rPr>
              <a:t>Si es algo más formal o complejo, por correo.</a:t>
            </a:r>
            <a:endParaRPr lang="en-US" sz="1000" b="0" u="none" strike="noStrike">
              <a:solidFill>
                <a:srgbClr val="FFFFFF"/>
              </a:solidFill>
              <a:effectLst/>
              <a:uFillTx/>
              <a:latin typeface="Arial"/>
            </a:endParaRPr>
          </a:p>
          <a:p>
            <a:pPr>
              <a:lnSpc>
                <a:spcPct val="100000"/>
              </a:lnSpc>
              <a:spcBef>
                <a:spcPts val="340"/>
              </a:spcBef>
              <a:spcAft>
                <a:spcPts val="142"/>
              </a:spcAft>
            </a:pPr>
            <a:r>
              <a:rPr lang="en-US" sz="1000" b="0" u="none" strike="noStrike">
                <a:solidFill>
                  <a:srgbClr val="FFFFFF"/>
                </a:solidFill>
                <a:effectLst/>
                <a:uFillTx/>
                <a:latin typeface="Arial"/>
              </a:rPr>
              <a:t>Y si urge, llamamos o vamos directamente con alguien.</a:t>
            </a:r>
            <a:endParaRPr lang="en-US" sz="1000" b="0" u="none" strike="noStrike">
              <a:solidFill>
                <a:srgbClr val="FFFFFF"/>
              </a:solidFill>
              <a:effectLst/>
              <a:uFillTx/>
              <a:latin typeface="Arial"/>
            </a:endParaRPr>
          </a:p>
          <a:p>
            <a:pPr>
              <a:lnSpc>
                <a:spcPct val="100000"/>
              </a:lnSpc>
              <a:spcBef>
                <a:spcPts val="340"/>
              </a:spcBef>
              <a:spcAft>
                <a:spcPts val="142"/>
              </a:spcAft>
            </a:pPr>
            <a:r>
              <a:rPr lang="en-US" sz="1000" b="0" u="none" strike="noStrike">
                <a:solidFill>
                  <a:srgbClr val="FFFFFF"/>
                </a:solidFill>
                <a:effectLst/>
                <a:uFillTx/>
                <a:latin typeface="Arial"/>
              </a:rPr>
              <a:t>La ventaja es que es rápido porque nos conocemos.</a:t>
            </a:r>
            <a:endParaRPr lang="en-US" sz="1000" b="0" u="none" strike="noStrike">
              <a:solidFill>
                <a:srgbClr val="FFFFFF"/>
              </a:solidFill>
              <a:effectLst/>
              <a:uFillTx/>
              <a:latin typeface="Arial"/>
            </a:endParaRPr>
          </a:p>
          <a:p>
            <a:pPr>
              <a:lnSpc>
                <a:spcPct val="100000"/>
              </a:lnSpc>
              <a:spcBef>
                <a:spcPts val="340"/>
              </a:spcBef>
              <a:spcAft>
                <a:spcPts val="142"/>
              </a:spcAft>
            </a:pPr>
            <a:r>
              <a:rPr lang="en-US" sz="1000" b="0" u="none" strike="noStrike">
                <a:solidFill>
                  <a:srgbClr val="FFFFFF"/>
                </a:solidFill>
                <a:effectLst/>
                <a:uFillTx/>
                <a:latin typeface="Arial"/>
              </a:rPr>
              <a:t>La desventaja es que no queda un registro central.</a:t>
            </a:r>
            <a:endParaRPr lang="en-US" sz="1000" b="0" u="none" strike="noStrike">
              <a:solidFill>
                <a:srgbClr val="FFFFFF"/>
              </a:solidFill>
              <a:effectLst/>
              <a:uFillTx/>
              <a:latin typeface="Arial"/>
            </a:endParaRPr>
          </a:p>
          <a:p>
            <a:pPr>
              <a:lnSpc>
                <a:spcPct val="100000"/>
              </a:lnSpc>
              <a:spcBef>
                <a:spcPts val="340"/>
              </a:spcBef>
              <a:spcAft>
                <a:spcPts val="142"/>
              </a:spcAft>
            </a:pPr>
            <a:endParaRPr lang="en-US" sz="1000" b="0" u="none" strike="noStrike">
              <a:solidFill>
                <a:srgbClr val="FFFFFF"/>
              </a:solidFill>
              <a:effectLst/>
              <a:uFillTx/>
              <a:latin typeface="Arial"/>
            </a:endParaRPr>
          </a:p>
          <a:p>
            <a:pPr>
              <a:lnSpc>
                <a:spcPct val="100000"/>
              </a:lnSpc>
              <a:spcBef>
                <a:spcPts val="340"/>
              </a:spcBef>
              <a:spcAft>
                <a:spcPts val="142"/>
              </a:spcAft>
            </a:pPr>
            <a:r>
              <a:rPr lang="en-US" sz="1000" b="0" u="none" strike="noStrike">
                <a:solidFill>
                  <a:srgbClr val="FFFFFF"/>
                </a:solidFill>
                <a:effectLst/>
                <a:uFillTx/>
                <a:latin typeface="Arial"/>
              </a:rPr>
              <a:t>“¿Sabes qué pasa con el caso después de que lo escalas, o se pierde el rastro para ti?”</a:t>
            </a:r>
            <a:endParaRPr lang="en-US" sz="1000" b="0" u="none" strike="noStrike">
              <a:solidFill>
                <a:srgbClr val="FFFFFF"/>
              </a:solidFill>
              <a:effectLst/>
              <a:uFillTx/>
              <a:latin typeface="Arial"/>
            </a:endParaRPr>
          </a:p>
          <a:p>
            <a:pPr>
              <a:lnSpc>
                <a:spcPct val="100000"/>
              </a:lnSpc>
              <a:spcBef>
                <a:spcPts val="340"/>
              </a:spcBef>
              <a:spcAft>
                <a:spcPts val="142"/>
              </a:spcAft>
            </a:pPr>
            <a:r>
              <a:rPr lang="en-US" sz="1000" b="0" u="none" strike="noStrike">
                <a:solidFill>
                  <a:srgbClr val="FFFFFF"/>
                </a:solidFill>
                <a:effectLst/>
                <a:uFillTx/>
                <a:latin typeface="Arial"/>
              </a:rPr>
              <a:t>Muchas veces se pierde.</a:t>
            </a:r>
            <a:endParaRPr lang="en-US" sz="1000" b="0" u="none" strike="noStrike">
              <a:solidFill>
                <a:srgbClr val="FFFFFF"/>
              </a:solidFill>
              <a:effectLst/>
              <a:uFillTx/>
              <a:latin typeface="Arial"/>
            </a:endParaRPr>
          </a:p>
          <a:p>
            <a:pPr>
              <a:lnSpc>
                <a:spcPct val="100000"/>
              </a:lnSpc>
              <a:spcBef>
                <a:spcPts val="340"/>
              </a:spcBef>
              <a:spcAft>
                <a:spcPts val="142"/>
              </a:spcAft>
            </a:pPr>
            <a:r>
              <a:rPr lang="en-US" sz="1000" b="0" u="none" strike="noStrike">
                <a:solidFill>
                  <a:srgbClr val="FFFFFF"/>
                </a:solidFill>
                <a:effectLst/>
                <a:uFillTx/>
                <a:latin typeface="Arial"/>
              </a:rPr>
              <a:t>Si el analista que lo escaló sigue encima, normalmente sabemos qué pasa.</a:t>
            </a:r>
            <a:endParaRPr lang="en-US" sz="1000" b="0" u="none" strike="noStrike">
              <a:solidFill>
                <a:srgbClr val="FFFFFF"/>
              </a:solidFill>
              <a:effectLst/>
              <a:uFillTx/>
              <a:latin typeface="Arial"/>
            </a:endParaRPr>
          </a:p>
          <a:p>
            <a:pPr>
              <a:lnSpc>
                <a:spcPct val="100000"/>
              </a:lnSpc>
              <a:spcBef>
                <a:spcPts val="340"/>
              </a:spcBef>
              <a:spcAft>
                <a:spcPts val="142"/>
              </a:spcAft>
            </a:pPr>
            <a:r>
              <a:rPr lang="en-US" sz="1000" b="0" u="none" strike="noStrike">
                <a:solidFill>
                  <a:srgbClr val="FFFFFF"/>
                </a:solidFill>
                <a:effectLst/>
                <a:uFillTx/>
                <a:latin typeface="Arial"/>
              </a:rPr>
              <a:t>Pero si no, dependemos de que el equipo de segundo nivel nos avise.</a:t>
            </a:r>
            <a:endParaRPr lang="en-US" sz="1000" b="0" u="none" strike="noStrike">
              <a:solidFill>
                <a:srgbClr val="FFFFFF"/>
              </a:solidFill>
              <a:effectLst/>
              <a:uFillTx/>
              <a:latin typeface="Arial"/>
            </a:endParaRPr>
          </a:p>
          <a:p>
            <a:pPr>
              <a:lnSpc>
                <a:spcPct val="100000"/>
              </a:lnSpc>
              <a:spcBef>
                <a:spcPts val="340"/>
              </a:spcBef>
              <a:spcAft>
                <a:spcPts val="142"/>
              </a:spcAft>
            </a:pPr>
            <a:r>
              <a:rPr lang="en-US" sz="1000" b="0" u="none" strike="noStrike">
                <a:solidFill>
                  <a:srgbClr val="FFFFFF"/>
                </a:solidFill>
                <a:effectLst/>
                <a:uFillTx/>
                <a:latin typeface="Arial"/>
              </a:rPr>
              <a:t>No existe un estado tipo “en revisión por Network” que yo pueda consultar.</a:t>
            </a:r>
            <a:endParaRPr lang="en-US" sz="1000" b="0" u="none" strike="noStrike">
              <a:solidFill>
                <a:srgbClr val="FFFFFF"/>
              </a:solidFill>
              <a:effectLst/>
              <a:uFillTx/>
              <a:latin typeface="Arial"/>
            </a:endParaRPr>
          </a:p>
          <a:p>
            <a:endParaRPr lang="en-US" sz="1000" b="0" u="none" strike="noStrike">
              <a:solidFill>
                <a:srgbClr val="FFFFFF"/>
              </a:solidFill>
              <a:effectLst/>
              <a:uFillTx/>
              <a:latin typeface="Arial"/>
            </a:endParaRPr>
          </a:p>
          <a:p>
            <a:endParaRPr lang="en-US"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A6099"/>
        </a:solidFill>
      </p:bgPr>
    </p:bg>
    <p:spTree>
      <p:nvGrpSpPr>
        <p:cNvPr id="1" name=""/>
        <p:cNvGrpSpPr/>
        <p:nvPr/>
      </p:nvGrpSpPr>
      <p:grpSpPr>
        <a:xfrm>
          <a:off x="0" y="0"/>
          <a:ext cx="0" cy="0"/>
          <a:chOff x="0" y="0"/>
          <a:chExt cx="0" cy="0"/>
        </a:xfrm>
      </p:grpSpPr>
      <p:sp>
        <p:nvSpPr>
          <p:cNvPr id="264" name="Shape 47"/>
          <p:cNvSpPr/>
          <p:nvPr/>
        </p:nvSpPr>
        <p:spPr>
          <a:xfrm>
            <a:off x="639720" y="6510240"/>
            <a:ext cx="10878840" cy="360"/>
          </a:xfrm>
          <a:prstGeom prst="line">
            <a:avLst/>
          </a:prstGeom>
          <a:ln w="6350">
            <a:solidFill>
              <a:srgbClr val="D9E3EA"/>
            </a:solidFill>
            <a:round/>
          </a:ln>
        </p:spPr>
        <p:style>
          <a:lnRef idx="0"/>
          <a:fillRef idx="0"/>
          <a:effectRef idx="0"/>
          <a:fontRef idx="minor"/>
        </p:style>
        <p:txBody>
          <a:bodyPr lIns="90000" tIns="-44640" rIns="90000" bIns="-44640" anchor="t" anchorCtr="1">
            <a:noAutofit/>
          </a:bodyPr>
          <a:p>
            <a:endParaRPr lang="en-US" sz="1800" b="0" u="none" strike="noStrike">
              <a:solidFill>
                <a:srgbClr val="FFFFFF"/>
              </a:solidFill>
              <a:effectLst/>
              <a:uFillTx/>
              <a:latin typeface="Arial"/>
            </a:endParaRPr>
          </a:p>
        </p:txBody>
      </p:sp>
      <p:sp>
        <p:nvSpPr>
          <p:cNvPr id="265" name="Text 71"/>
          <p:cNvSpPr/>
          <p:nvPr/>
        </p:nvSpPr>
        <p:spPr>
          <a:xfrm>
            <a:off x="639720" y="6583680"/>
            <a:ext cx="365652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0" u="none" strike="noStrike">
                <a:solidFill>
                  <a:srgbClr val="65758B"/>
                </a:solidFill>
                <a:effectLst/>
                <a:uFillTx/>
                <a:latin typeface="Aptos"/>
              </a:rPr>
              <a:t>ServiceDesk Kick-off</a:t>
            </a:r>
            <a:endParaRPr lang="en-US" sz="800" b="0" u="none" strike="noStrike">
              <a:solidFill>
                <a:srgbClr val="FFFFFF"/>
              </a:solidFill>
              <a:effectLst/>
              <a:uFillTx/>
              <a:latin typeface="Arial"/>
            </a:endParaRPr>
          </a:p>
        </p:txBody>
      </p:sp>
      <p:sp>
        <p:nvSpPr>
          <p:cNvPr id="266" name="Text 72"/>
          <p:cNvSpPr/>
          <p:nvPr/>
        </p:nvSpPr>
        <p:spPr>
          <a:xfrm>
            <a:off x="10969920" y="6565320"/>
            <a:ext cx="548280" cy="1825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00" b="0" u="none" strike="noStrike">
                <a:solidFill>
                  <a:srgbClr val="65758B"/>
                </a:solidFill>
                <a:effectLst/>
                <a:uFillTx/>
                <a:latin typeface="Aptos"/>
              </a:rPr>
              <a:t>07</a:t>
            </a:r>
            <a:endParaRPr lang="en-US" sz="800" b="0" u="none" strike="noStrike">
              <a:solidFill>
                <a:srgbClr val="FFFFFF"/>
              </a:solidFill>
              <a:effectLst/>
              <a:uFillTx/>
              <a:latin typeface="Arial"/>
            </a:endParaRPr>
          </a:p>
        </p:txBody>
      </p:sp>
      <p:sp>
        <p:nvSpPr>
          <p:cNvPr id="267" name=""/>
          <p:cNvSpPr txBox="1"/>
          <p:nvPr/>
        </p:nvSpPr>
        <p:spPr>
          <a:xfrm>
            <a:off x="3803760" y="312120"/>
            <a:ext cx="4197240" cy="373680"/>
          </a:xfrm>
          <a:prstGeom prst="rect">
            <a:avLst/>
          </a:prstGeom>
          <a:noFill/>
          <a:ln w="0">
            <a:noFill/>
          </a:ln>
        </p:spPr>
        <p:txBody>
          <a:bodyPr wrap="none" lIns="90000" tIns="45000" rIns="90000" bIns="45000" anchor="t">
            <a:spAutoFit/>
          </a:bodyPr>
          <a:p>
            <a:r>
              <a:rPr lang="en-US" sz="2000" b="1" i="1" u="none" strike="noStrike">
                <a:solidFill>
                  <a:srgbClr val="FFFFFF"/>
                </a:solidFill>
                <a:effectLst/>
                <a:uFillTx/>
                <a:latin typeface="Arial"/>
              </a:rPr>
              <a:t>Entrevista 1 — Miguel Hernández</a:t>
            </a:r>
            <a:endParaRPr lang="en-US" sz="2000" b="1" i="1" u="none" strike="noStrike">
              <a:solidFill>
                <a:srgbClr val="FFFFFF"/>
              </a:solidFill>
              <a:effectLst/>
              <a:uFillTx/>
              <a:latin typeface="Arial"/>
            </a:endParaRPr>
          </a:p>
        </p:txBody>
      </p:sp>
      <p:sp>
        <p:nvSpPr>
          <p:cNvPr id="268" name=""/>
          <p:cNvSpPr txBox="1"/>
          <p:nvPr/>
        </p:nvSpPr>
        <p:spPr>
          <a:xfrm>
            <a:off x="2370240" y="1306080"/>
            <a:ext cx="6316560" cy="3951720"/>
          </a:xfrm>
          <a:prstGeom prst="rect">
            <a:avLst/>
          </a:prstGeom>
          <a:noFill/>
          <a:ln w="0">
            <a:noFill/>
          </a:ln>
        </p:spPr>
        <p:txBody>
          <a:bodyPr lIns="90000" tIns="45000" rIns="90000" bIns="45000" anchor="t">
            <a:spAutoFit/>
          </a:bodyPr>
          <a:p>
            <a:r>
              <a:rPr lang="en-US" sz="1000" b="0" u="none" strike="noStrike">
                <a:solidFill>
                  <a:srgbClr val="FFFFFF"/>
                </a:solidFill>
                <a:effectLst/>
                <a:uFillTx/>
                <a:latin typeface="Arial"/>
              </a:rPr>
              <a:t>“¿Alguna vez has tenido conflicto con esos equipos sobre a quién le tocaba resolver algo?”</a:t>
            </a:r>
            <a:endParaRPr lang="en-US" sz="1000" b="0" u="none" strike="noStrike">
              <a:solidFill>
                <a:srgbClr val="FFFFFF"/>
              </a:solidFill>
              <a:effectLst/>
              <a:uFillTx/>
              <a:latin typeface="Arial"/>
            </a:endParaRPr>
          </a:p>
          <a:p>
            <a:pPr>
              <a:lnSpc>
                <a:spcPct val="100000"/>
              </a:lnSpc>
              <a:spcBef>
                <a:spcPts val="624"/>
              </a:spcBef>
              <a:spcAft>
                <a:spcPts val="425"/>
              </a:spcAft>
            </a:pPr>
            <a:r>
              <a:rPr lang="en-US" sz="1000" b="0" u="none" strike="noStrike">
                <a:solidFill>
                  <a:srgbClr val="FFFFFF"/>
                </a:solidFill>
                <a:effectLst/>
                <a:uFillTx/>
                <a:latin typeface="Arial"/>
              </a:rPr>
              <a:t>Sí. Bastantes veces.</a:t>
            </a:r>
            <a:endParaRPr lang="en-US" sz="1000" b="0" u="none" strike="noStrike">
              <a:solidFill>
                <a:srgbClr val="FFFFFF"/>
              </a:solidFill>
              <a:effectLst/>
              <a:uFillTx/>
              <a:latin typeface="Arial"/>
            </a:endParaRPr>
          </a:p>
          <a:p>
            <a:pPr>
              <a:lnSpc>
                <a:spcPct val="100000"/>
              </a:lnSpc>
              <a:spcBef>
                <a:spcPts val="624"/>
              </a:spcBef>
              <a:spcAft>
                <a:spcPts val="425"/>
              </a:spcAft>
            </a:pPr>
            <a:r>
              <a:rPr lang="en-US" sz="1000" b="0" u="none" strike="noStrike">
                <a:solidFill>
                  <a:srgbClr val="FFFFFF"/>
                </a:solidFill>
                <a:effectLst/>
                <a:uFillTx/>
                <a:latin typeface="Arial"/>
              </a:rPr>
              <a:t>No conflictos graves personales, pero sí discusiones del tipo:</a:t>
            </a:r>
            <a:endParaRPr lang="en-US" sz="1000" b="0" u="none" strike="noStrike">
              <a:solidFill>
                <a:srgbClr val="FFFFFF"/>
              </a:solidFill>
              <a:effectLst/>
              <a:uFillTx/>
              <a:latin typeface="Arial"/>
            </a:endParaRPr>
          </a:p>
          <a:p>
            <a:pPr>
              <a:lnSpc>
                <a:spcPct val="100000"/>
              </a:lnSpc>
              <a:spcBef>
                <a:spcPts val="624"/>
              </a:spcBef>
              <a:spcAft>
                <a:spcPts val="425"/>
              </a:spcAft>
            </a:pPr>
            <a:r>
              <a:rPr lang="en-US" sz="1000" b="0" u="none" strike="noStrike">
                <a:solidFill>
                  <a:srgbClr val="FFFFFF"/>
                </a:solidFill>
                <a:effectLst/>
                <a:uFillTx/>
                <a:latin typeface="Arial"/>
              </a:rPr>
              <a:t>“Esto no es de Network.”</a:t>
            </a:r>
            <a:endParaRPr lang="en-US" sz="1000" b="0" u="none" strike="noStrike">
              <a:solidFill>
                <a:srgbClr val="FFFFFF"/>
              </a:solidFill>
              <a:effectLst/>
              <a:uFillTx/>
              <a:latin typeface="Arial"/>
            </a:endParaRPr>
          </a:p>
          <a:p>
            <a:pPr>
              <a:lnSpc>
                <a:spcPct val="100000"/>
              </a:lnSpc>
              <a:spcBef>
                <a:spcPts val="624"/>
              </a:spcBef>
              <a:spcAft>
                <a:spcPts val="425"/>
              </a:spcAft>
            </a:pPr>
            <a:r>
              <a:rPr lang="en-US" sz="1000" b="0" u="none" strike="noStrike">
                <a:solidFill>
                  <a:srgbClr val="FFFFFF"/>
                </a:solidFill>
                <a:effectLst/>
                <a:uFillTx/>
                <a:latin typeface="Arial"/>
              </a:rPr>
              <a:t>“Esto no es de Applications.”</a:t>
            </a:r>
            <a:endParaRPr lang="en-US" sz="1000" b="0" u="none" strike="noStrike">
              <a:solidFill>
                <a:srgbClr val="FFFFFF"/>
              </a:solidFill>
              <a:effectLst/>
              <a:uFillTx/>
              <a:latin typeface="Arial"/>
            </a:endParaRPr>
          </a:p>
          <a:p>
            <a:pPr>
              <a:lnSpc>
                <a:spcPct val="100000"/>
              </a:lnSpc>
              <a:spcBef>
                <a:spcPts val="624"/>
              </a:spcBef>
              <a:spcAft>
                <a:spcPts val="425"/>
              </a:spcAft>
            </a:pPr>
            <a:r>
              <a:rPr lang="en-US" sz="1000" b="0" u="none" strike="noStrike">
                <a:solidFill>
                  <a:srgbClr val="FFFFFF"/>
                </a:solidFill>
                <a:effectLst/>
                <a:uFillTx/>
                <a:latin typeface="Arial"/>
              </a:rPr>
              <a:t>“Primero Service Desk debería revisar X.”</a:t>
            </a:r>
            <a:endParaRPr lang="en-US" sz="1000" b="0" u="none" strike="noStrike">
              <a:solidFill>
                <a:srgbClr val="FFFFFF"/>
              </a:solidFill>
              <a:effectLst/>
              <a:uFillTx/>
              <a:latin typeface="Arial"/>
            </a:endParaRPr>
          </a:p>
          <a:p>
            <a:pPr>
              <a:lnSpc>
                <a:spcPct val="100000"/>
              </a:lnSpc>
              <a:spcBef>
                <a:spcPts val="624"/>
              </a:spcBef>
              <a:spcAft>
                <a:spcPts val="425"/>
              </a:spcAft>
            </a:pPr>
            <a:r>
              <a:rPr lang="en-US" sz="1000" b="0" u="none" strike="noStrike">
                <a:solidFill>
                  <a:srgbClr val="FFFFFF"/>
                </a:solidFill>
                <a:effectLst/>
                <a:uFillTx/>
                <a:latin typeface="Arial"/>
              </a:rPr>
              <a:t>El problema es que no tenemos criterios suficientemente claros.</a:t>
            </a:r>
            <a:endParaRPr lang="en-US" sz="1000" b="0" u="none" strike="noStrike">
              <a:solidFill>
                <a:srgbClr val="FFFFFF"/>
              </a:solidFill>
              <a:effectLst/>
              <a:uFillTx/>
              <a:latin typeface="Arial"/>
            </a:endParaRPr>
          </a:p>
          <a:p>
            <a:pPr>
              <a:lnSpc>
                <a:spcPct val="100000"/>
              </a:lnSpc>
              <a:spcBef>
                <a:spcPts val="624"/>
              </a:spcBef>
              <a:spcAft>
                <a:spcPts val="425"/>
              </a:spcAft>
            </a:pPr>
            <a:r>
              <a:rPr lang="en-US" sz="1000" b="0" u="none" strike="noStrike">
                <a:solidFill>
                  <a:srgbClr val="FFFFFF"/>
                </a:solidFill>
                <a:effectLst/>
                <a:uFillTx/>
                <a:latin typeface="Arial"/>
              </a:rPr>
              <a:t>Por ejemplo, un usuario dice que una aplicación está lenta.</a:t>
            </a:r>
            <a:endParaRPr lang="en-US" sz="1000" b="0" u="none" strike="noStrike">
              <a:solidFill>
                <a:srgbClr val="FFFFFF"/>
              </a:solidFill>
              <a:effectLst/>
              <a:uFillTx/>
              <a:latin typeface="Arial"/>
            </a:endParaRPr>
          </a:p>
          <a:p>
            <a:pPr>
              <a:lnSpc>
                <a:spcPct val="100000"/>
              </a:lnSpc>
              <a:spcBef>
                <a:spcPts val="624"/>
              </a:spcBef>
              <a:spcAft>
                <a:spcPts val="425"/>
              </a:spcAft>
            </a:pPr>
            <a:r>
              <a:rPr lang="en-US" sz="1000" b="0" u="none" strike="noStrike">
                <a:solidFill>
                  <a:srgbClr val="FFFFFF"/>
                </a:solidFill>
                <a:effectLst/>
                <a:uFillTx/>
                <a:latin typeface="Arial"/>
              </a:rPr>
              <a:t>Applications puede decir que la aplicación funciona bien y que es red.</a:t>
            </a:r>
            <a:endParaRPr lang="en-US" sz="1000" b="0" u="none" strike="noStrike">
              <a:solidFill>
                <a:srgbClr val="FFFFFF"/>
              </a:solidFill>
              <a:effectLst/>
              <a:uFillTx/>
              <a:latin typeface="Arial"/>
            </a:endParaRPr>
          </a:p>
          <a:p>
            <a:pPr>
              <a:lnSpc>
                <a:spcPct val="100000"/>
              </a:lnSpc>
              <a:spcBef>
                <a:spcPts val="624"/>
              </a:spcBef>
              <a:spcAft>
                <a:spcPts val="425"/>
              </a:spcAft>
            </a:pPr>
            <a:r>
              <a:rPr lang="en-US" sz="1000" b="0" u="none" strike="noStrike">
                <a:solidFill>
                  <a:srgbClr val="FFFFFF"/>
                </a:solidFill>
                <a:effectLst/>
                <a:uFillTx/>
                <a:latin typeface="Arial"/>
              </a:rPr>
              <a:t>Network puede decir que la red está bien y que es la aplicación.</a:t>
            </a:r>
            <a:endParaRPr lang="en-US" sz="1000" b="0" u="none" strike="noStrike">
              <a:solidFill>
                <a:srgbClr val="FFFFFF"/>
              </a:solidFill>
              <a:effectLst/>
              <a:uFillTx/>
              <a:latin typeface="Arial"/>
            </a:endParaRPr>
          </a:p>
          <a:p>
            <a:pPr>
              <a:lnSpc>
                <a:spcPct val="100000"/>
              </a:lnSpc>
              <a:spcBef>
                <a:spcPts val="624"/>
              </a:spcBef>
              <a:spcAft>
                <a:spcPts val="425"/>
              </a:spcAft>
            </a:pPr>
            <a:r>
              <a:rPr lang="en-US" sz="1000" b="0" u="none" strike="noStrike">
                <a:solidFill>
                  <a:srgbClr val="FFFFFF"/>
                </a:solidFill>
                <a:effectLst/>
                <a:uFillTx/>
                <a:latin typeface="Arial"/>
              </a:rPr>
              <a:t>Mientras tanto, Service Desk queda en medio y el usuario sigue esperando.</a:t>
            </a:r>
            <a:endParaRPr lang="en-US" sz="1000" b="0" u="none" strike="noStrike">
              <a:solidFill>
                <a:srgbClr val="FFFFFF"/>
              </a:solidFill>
              <a:effectLst/>
              <a:uFillTx/>
              <a:latin typeface="Arial"/>
            </a:endParaRPr>
          </a:p>
          <a:p>
            <a:pPr>
              <a:lnSpc>
                <a:spcPct val="100000"/>
              </a:lnSpc>
              <a:spcBef>
                <a:spcPts val="624"/>
              </a:spcBef>
              <a:spcAft>
                <a:spcPts val="425"/>
              </a:spcAft>
            </a:pPr>
            <a:r>
              <a:rPr lang="en-US" sz="1000" b="0" u="none" strike="noStrike">
                <a:solidFill>
                  <a:srgbClr val="FFFFFF"/>
                </a:solidFill>
                <a:effectLst/>
                <a:uFillTx/>
                <a:latin typeface="Arial"/>
              </a:rPr>
              <a:t>También hay casos de accesos donde no queda claro si corresponde a Service Desk, Applications o Security.</a:t>
            </a:r>
            <a:endParaRPr lang="en-US" sz="1000" b="0" u="none" strike="noStrike">
              <a:solidFill>
                <a:srgbClr val="FFFFFF"/>
              </a:solidFill>
              <a:effectLst/>
              <a:uFillTx/>
              <a:latin typeface="Arial"/>
            </a:endParaRPr>
          </a:p>
          <a:p>
            <a:pPr>
              <a:lnSpc>
                <a:spcPct val="100000"/>
              </a:lnSpc>
              <a:spcBef>
                <a:spcPts val="624"/>
              </a:spcBef>
              <a:spcAft>
                <a:spcPts val="425"/>
              </a:spcAft>
            </a:pPr>
            <a:r>
              <a:rPr lang="en-US" sz="1000" b="0" u="none" strike="noStrike">
                <a:solidFill>
                  <a:srgbClr val="FFFFFF"/>
                </a:solidFill>
                <a:effectLst/>
                <a:uFillTx/>
                <a:latin typeface="Arial"/>
              </a:rPr>
              <a:t>Para mí esa es una de las áreas que más necesitamos ordenar.</a:t>
            </a:r>
            <a:endParaRPr lang="en-US" sz="1000" b="0" u="none" strike="noStrike">
              <a:solidFill>
                <a:srgbClr val="FFFFFF"/>
              </a:solidFill>
              <a:effectLst/>
              <a:uFillTx/>
              <a:latin typeface="Arial"/>
            </a:endParaRPr>
          </a:p>
          <a:p>
            <a:endParaRPr lang="en-US"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A6099"/>
        </a:solidFill>
      </p:bgPr>
    </p:bg>
    <p:spTree>
      <p:nvGrpSpPr>
        <p:cNvPr id="1" name=""/>
        <p:cNvGrpSpPr/>
        <p:nvPr/>
      </p:nvGrpSpPr>
      <p:grpSpPr>
        <a:xfrm>
          <a:off x="0" y="0"/>
          <a:ext cx="0" cy="0"/>
          <a:chOff x="0" y="0"/>
          <a:chExt cx="0" cy="0"/>
        </a:xfrm>
      </p:grpSpPr>
      <p:sp>
        <p:nvSpPr>
          <p:cNvPr id="269" name="Shape 48"/>
          <p:cNvSpPr/>
          <p:nvPr/>
        </p:nvSpPr>
        <p:spPr>
          <a:xfrm>
            <a:off x="639720" y="6510240"/>
            <a:ext cx="10878840" cy="360"/>
          </a:xfrm>
          <a:prstGeom prst="line">
            <a:avLst/>
          </a:prstGeom>
          <a:ln w="6350">
            <a:solidFill>
              <a:srgbClr val="D9E3EA"/>
            </a:solidFill>
            <a:round/>
          </a:ln>
        </p:spPr>
        <p:style>
          <a:lnRef idx="0"/>
          <a:fillRef idx="0"/>
          <a:effectRef idx="0"/>
          <a:fontRef idx="minor"/>
        </p:style>
        <p:txBody>
          <a:bodyPr lIns="90000" tIns="-44640" rIns="90000" bIns="-44640" anchor="t" anchorCtr="1">
            <a:noAutofit/>
          </a:bodyPr>
          <a:p>
            <a:endParaRPr lang="en-US" sz="1800" b="0" u="none" strike="noStrike">
              <a:solidFill>
                <a:srgbClr val="FFFFFF"/>
              </a:solidFill>
              <a:effectLst/>
              <a:uFillTx/>
              <a:latin typeface="Arial"/>
            </a:endParaRPr>
          </a:p>
        </p:txBody>
      </p:sp>
      <p:sp>
        <p:nvSpPr>
          <p:cNvPr id="270" name="Text 73"/>
          <p:cNvSpPr/>
          <p:nvPr/>
        </p:nvSpPr>
        <p:spPr>
          <a:xfrm>
            <a:off x="639720" y="6583680"/>
            <a:ext cx="365652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0" u="none" strike="noStrike">
                <a:solidFill>
                  <a:srgbClr val="65758B"/>
                </a:solidFill>
                <a:effectLst/>
                <a:uFillTx/>
                <a:latin typeface="Aptos"/>
              </a:rPr>
              <a:t>ServiceDesk Kick-off</a:t>
            </a:r>
            <a:endParaRPr lang="en-US" sz="800" b="0" u="none" strike="noStrike">
              <a:solidFill>
                <a:srgbClr val="FFFFFF"/>
              </a:solidFill>
              <a:effectLst/>
              <a:uFillTx/>
              <a:latin typeface="Arial"/>
            </a:endParaRPr>
          </a:p>
        </p:txBody>
      </p:sp>
      <p:sp>
        <p:nvSpPr>
          <p:cNvPr id="271" name="Text 74"/>
          <p:cNvSpPr/>
          <p:nvPr/>
        </p:nvSpPr>
        <p:spPr>
          <a:xfrm>
            <a:off x="10969920" y="6565320"/>
            <a:ext cx="548280" cy="1825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00" b="0" u="none" strike="noStrike">
                <a:solidFill>
                  <a:srgbClr val="65758B"/>
                </a:solidFill>
                <a:effectLst/>
                <a:uFillTx/>
                <a:latin typeface="Aptos"/>
              </a:rPr>
              <a:t>07</a:t>
            </a:r>
            <a:endParaRPr lang="en-US" sz="800" b="0" u="none" strike="noStrike">
              <a:solidFill>
                <a:srgbClr val="FFFFFF"/>
              </a:solidFill>
              <a:effectLst/>
              <a:uFillTx/>
              <a:latin typeface="Arial"/>
            </a:endParaRPr>
          </a:p>
        </p:txBody>
      </p:sp>
      <p:sp>
        <p:nvSpPr>
          <p:cNvPr id="272" name=""/>
          <p:cNvSpPr txBox="1"/>
          <p:nvPr/>
        </p:nvSpPr>
        <p:spPr>
          <a:xfrm>
            <a:off x="3803760" y="312120"/>
            <a:ext cx="4197240" cy="373680"/>
          </a:xfrm>
          <a:prstGeom prst="rect">
            <a:avLst/>
          </a:prstGeom>
          <a:noFill/>
          <a:ln w="0">
            <a:noFill/>
          </a:ln>
        </p:spPr>
        <p:txBody>
          <a:bodyPr wrap="none" lIns="90000" tIns="45000" rIns="90000" bIns="45000" anchor="t">
            <a:spAutoFit/>
          </a:bodyPr>
          <a:p>
            <a:r>
              <a:rPr lang="en-US" sz="2000" b="1" i="1" u="none" strike="noStrike">
                <a:solidFill>
                  <a:srgbClr val="FFFFFF"/>
                </a:solidFill>
                <a:effectLst/>
                <a:uFillTx/>
                <a:latin typeface="Arial"/>
              </a:rPr>
              <a:t>Entrevista 1 — Miguel Hernández</a:t>
            </a:r>
            <a:endParaRPr lang="en-US" sz="2000" b="1" i="1" u="none" strike="noStrike">
              <a:solidFill>
                <a:srgbClr val="FFFFFF"/>
              </a:solidFill>
              <a:effectLst/>
              <a:uFillTx/>
              <a:latin typeface="Arial"/>
            </a:endParaRPr>
          </a:p>
        </p:txBody>
      </p:sp>
      <p:sp>
        <p:nvSpPr>
          <p:cNvPr id="273" name=""/>
          <p:cNvSpPr txBox="1"/>
          <p:nvPr/>
        </p:nvSpPr>
        <p:spPr>
          <a:xfrm>
            <a:off x="1828800" y="1828800"/>
            <a:ext cx="8003880" cy="2830680"/>
          </a:xfrm>
          <a:prstGeom prst="rect">
            <a:avLst/>
          </a:prstGeom>
          <a:noFill/>
          <a:ln w="0">
            <a:noFill/>
          </a:ln>
        </p:spPr>
        <p:txBody>
          <a:bodyPr lIns="90000" tIns="45000" rIns="90000" bIns="45000" anchor="t">
            <a:spAutoFit/>
          </a:bodyPr>
          <a:p>
            <a:r>
              <a:rPr lang="en-US" sz="1600" b="1" u="none" strike="noStrike">
                <a:solidFill>
                  <a:srgbClr val="FFFFFF"/>
                </a:solidFill>
                <a:effectLst/>
                <a:uFillTx/>
                <a:latin typeface="Arial"/>
              </a:rPr>
              <a:t>Algo que Miguel añadiría al terminar</a:t>
            </a:r>
            <a:endParaRPr lang="en-US" sz="1600" b="1" u="none" strike="noStrike">
              <a:solidFill>
                <a:srgbClr val="FFFFFF"/>
              </a:solidFill>
              <a:effectLst/>
              <a:uFillTx/>
              <a:latin typeface="Arial"/>
            </a:endParaRPr>
          </a:p>
          <a:p>
            <a:pPr>
              <a:lnSpc>
                <a:spcPct val="100000"/>
              </a:lnSpc>
              <a:spcBef>
                <a:spcPts val="624"/>
              </a:spcBef>
              <a:spcAft>
                <a:spcPts val="425"/>
              </a:spcAft>
            </a:pPr>
            <a:r>
              <a:rPr lang="en-US" sz="1000" b="0" u="none" strike="noStrike">
                <a:solidFill>
                  <a:srgbClr val="FFFFFF"/>
                </a:solidFill>
                <a:effectLst/>
                <a:uFillTx/>
                <a:latin typeface="Arial"/>
              </a:rPr>
              <a:t>Hay una cosa que sí me gustaría pedirte para el nuevo sistema.</a:t>
            </a:r>
            <a:endParaRPr lang="en-US" sz="1000" b="0" u="none" strike="noStrike">
              <a:solidFill>
                <a:srgbClr val="FFFFFF"/>
              </a:solidFill>
              <a:effectLst/>
              <a:uFillTx/>
              <a:latin typeface="Arial"/>
            </a:endParaRPr>
          </a:p>
          <a:p>
            <a:pPr>
              <a:lnSpc>
                <a:spcPct val="100000"/>
              </a:lnSpc>
              <a:spcBef>
                <a:spcPts val="624"/>
              </a:spcBef>
              <a:spcAft>
                <a:spcPts val="425"/>
              </a:spcAft>
            </a:pPr>
            <a:r>
              <a:rPr lang="en-US" sz="1000" b="0" u="none" strike="noStrike">
                <a:solidFill>
                  <a:srgbClr val="FFFFFF"/>
                </a:solidFill>
                <a:effectLst/>
                <a:uFillTx/>
                <a:latin typeface="Arial"/>
              </a:rPr>
              <a:t>No quiero que intentemos solucionar el desorden agregando demasiados campos y pasos.</a:t>
            </a:r>
            <a:endParaRPr lang="en-US" sz="1000" b="0" u="none" strike="noStrike">
              <a:solidFill>
                <a:srgbClr val="FFFFFF"/>
              </a:solidFill>
              <a:effectLst/>
              <a:uFillTx/>
              <a:latin typeface="Arial"/>
            </a:endParaRPr>
          </a:p>
          <a:p>
            <a:pPr>
              <a:lnSpc>
                <a:spcPct val="100000"/>
              </a:lnSpc>
              <a:spcBef>
                <a:spcPts val="624"/>
              </a:spcBef>
              <a:spcAft>
                <a:spcPts val="425"/>
              </a:spcAft>
            </a:pPr>
            <a:r>
              <a:rPr lang="en-US" sz="1000" b="0" u="none" strike="noStrike">
                <a:solidFill>
                  <a:srgbClr val="FFFFFF"/>
                </a:solidFill>
                <a:effectLst/>
                <a:uFillTx/>
                <a:latin typeface="Arial"/>
              </a:rPr>
              <a:t>Si para registrar una llamada de cinco minutos tengo que llenar veinte cosas, el equipo va a terminar encontrando una manera de no hacerlo.</a:t>
            </a:r>
            <a:endParaRPr lang="en-US" sz="1000" b="0" u="none" strike="noStrike">
              <a:solidFill>
                <a:srgbClr val="FFFFFF"/>
              </a:solidFill>
              <a:effectLst/>
              <a:uFillTx/>
              <a:latin typeface="Arial"/>
            </a:endParaRPr>
          </a:p>
          <a:p>
            <a:pPr>
              <a:lnSpc>
                <a:spcPct val="100000"/>
              </a:lnSpc>
              <a:spcBef>
                <a:spcPts val="624"/>
              </a:spcBef>
              <a:spcAft>
                <a:spcPts val="425"/>
              </a:spcAft>
            </a:pPr>
            <a:r>
              <a:rPr lang="en-US" sz="1000" b="0" u="none" strike="noStrike">
                <a:solidFill>
                  <a:srgbClr val="FFFFFF"/>
                </a:solidFill>
                <a:effectLst/>
                <a:uFillTx/>
                <a:latin typeface="Arial"/>
              </a:rPr>
              <a:t>Para mí el reto es tener control sin volver lento al soporte.</a:t>
            </a:r>
            <a:endParaRPr lang="en-US" sz="1000" b="0" u="none" strike="noStrike">
              <a:solidFill>
                <a:srgbClr val="FFFFFF"/>
              </a:solidFill>
              <a:effectLst/>
              <a:uFillTx/>
              <a:latin typeface="Arial"/>
            </a:endParaRPr>
          </a:p>
          <a:p>
            <a:pPr>
              <a:lnSpc>
                <a:spcPct val="100000"/>
              </a:lnSpc>
              <a:spcBef>
                <a:spcPts val="624"/>
              </a:spcBef>
              <a:spcAft>
                <a:spcPts val="425"/>
              </a:spcAft>
            </a:pPr>
            <a:r>
              <a:rPr lang="en-US" sz="1000" b="0" u="none" strike="noStrike">
                <a:solidFill>
                  <a:srgbClr val="FFFFFF"/>
                </a:solidFill>
                <a:effectLst/>
                <a:uFillTx/>
                <a:latin typeface="Arial"/>
              </a:rPr>
              <a:t>Y también me gustaría que los equipos de segundo nivel participen en definir las reglas. Si nosotros solos decidimos cómo escalarles cosas, esto no va a funcionar.</a:t>
            </a:r>
            <a:endParaRPr lang="en-US" sz="1000" b="0" u="none" strike="noStrike">
              <a:solidFill>
                <a:srgbClr val="FFFFFF"/>
              </a:solidFill>
              <a:effectLst/>
              <a:uFillTx/>
              <a:latin typeface="Arial"/>
            </a:endParaRPr>
          </a:p>
          <a:p>
            <a:pPr>
              <a:lnSpc>
                <a:spcPct val="100000"/>
              </a:lnSpc>
              <a:spcBef>
                <a:spcPts val="624"/>
              </a:spcBef>
              <a:spcAft>
                <a:spcPts val="425"/>
              </a:spcAft>
            </a:pPr>
            <a:endParaRPr lang="en-US"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4" name=""/>
          <p:cNvSpPr txBox="1"/>
          <p:nvPr/>
        </p:nvSpPr>
        <p:spPr>
          <a:xfrm>
            <a:off x="1712520" y="789480"/>
            <a:ext cx="7431480" cy="5154120"/>
          </a:xfrm>
          <a:prstGeom prst="rect">
            <a:avLst/>
          </a:prstGeom>
          <a:noFill/>
          <a:ln w="0">
            <a:noFill/>
          </a:ln>
        </p:spPr>
        <p:txBody>
          <a:bodyPr lIns="90000" tIns="45000" rIns="90000" bIns="45000" anchor="t">
            <a:spAutoFit/>
          </a:bodyPr>
          <a:p>
            <a:r>
              <a:rPr lang="en-US" sz="1200" b="1" u="none" strike="noStrike">
                <a:solidFill>
                  <a:srgbClr val="000000"/>
                </a:solidFill>
                <a:effectLst/>
                <a:uFillTx/>
                <a:latin typeface="Arial"/>
              </a:rPr>
              <a:t>Puntos que más le duelen (Service Desk Manager)</a:t>
            </a:r>
            <a:endParaRPr lang="en-US" sz="1200" b="1" u="none" strike="noStrike">
              <a:solidFill>
                <a:srgbClr val="000000"/>
              </a:solidFill>
              <a:effectLst/>
              <a:uFillTx/>
              <a:latin typeface="Arial"/>
            </a:endParaRPr>
          </a:p>
          <a:p>
            <a:r>
              <a:rPr lang="en-US" sz="1000" b="0" u="none" strike="noStrike">
                <a:solidFill>
                  <a:srgbClr val="000000"/>
                </a:solidFill>
                <a:effectLst/>
                <a:uFillTx/>
                <a:latin typeface="Arial"/>
              </a:rPr>
              <a:t>Falta de un único dueño claro y visible del caso en todo momento (Service Desk, Network, Applications o Security).</a:t>
            </a:r>
            <a:endParaRPr lang="en-US" sz="1000" b="0" u="none" strike="noStrike">
              <a:solidFill>
                <a:srgbClr val="000000"/>
              </a:solidFill>
              <a:effectLst/>
              <a:uFillTx/>
              <a:latin typeface="Arial"/>
            </a:endParaRPr>
          </a:p>
          <a:p>
            <a:r>
              <a:rPr lang="en-US" sz="1000" b="0" u="none" strike="noStrike">
                <a:solidFill>
                  <a:srgbClr val="000000"/>
                </a:solidFill>
                <a:effectLst/>
                <a:uFillTx/>
                <a:latin typeface="Arial"/>
              </a:rPr>
              <a:t>Ausencia de cola formal y de visibilidad de casos escalados → se pierde el rastro fácilmente.</a:t>
            </a:r>
            <a:endParaRPr lang="en-US" sz="1000" b="0" u="none" strike="noStrike">
              <a:solidFill>
                <a:srgbClr val="000000"/>
              </a:solidFill>
              <a:effectLst/>
              <a:uFillTx/>
              <a:latin typeface="Arial"/>
            </a:endParaRPr>
          </a:p>
          <a:p>
            <a:r>
              <a:rPr lang="en-US" sz="1000" b="0" u="none" strike="noStrike">
                <a:solidFill>
                  <a:srgbClr val="000000"/>
                </a:solidFill>
                <a:effectLst/>
                <a:uFillTx/>
                <a:latin typeface="Arial"/>
              </a:rPr>
              <a:t>Muchísimo tiempo invertido en seguimiento manual y en reconstruir qué pasó (buscar correos, Teams, preguntar a varias personas).</a:t>
            </a:r>
            <a:endParaRPr lang="en-US" sz="1000" b="0" u="none" strike="noStrike">
              <a:solidFill>
                <a:srgbClr val="000000"/>
              </a:solidFill>
              <a:effectLst/>
              <a:uFillTx/>
              <a:latin typeface="Arial"/>
            </a:endParaRPr>
          </a:p>
          <a:p>
            <a:r>
              <a:rPr lang="en-US" sz="1000" b="0" u="none" strike="noStrike">
                <a:solidFill>
                  <a:srgbClr val="000000"/>
                </a:solidFill>
                <a:effectLst/>
                <a:uFillTx/>
                <a:latin typeface="Arial"/>
              </a:rPr>
              <a:t>Registro incompleto: muchas interacciones rápidas (llamadas, Teams) nunca entran al Excel.</a:t>
            </a:r>
            <a:endParaRPr lang="en-US" sz="1000" b="0" u="none" strike="noStrike">
              <a:solidFill>
                <a:srgbClr val="000000"/>
              </a:solidFill>
              <a:effectLst/>
              <a:uFillTx/>
              <a:latin typeface="Arial"/>
            </a:endParaRPr>
          </a:p>
          <a:p>
            <a:r>
              <a:rPr lang="en-US" sz="1000" b="0" u="none" strike="noStrike">
                <a:solidFill>
                  <a:srgbClr val="000000"/>
                </a:solidFill>
                <a:effectLst/>
                <a:uFillTx/>
                <a:latin typeface="Arial"/>
              </a:rPr>
              <a:t>Priorización y clasificación subjetivas e inconsistentes (no hay matriz de impacto/urgencia ni criterios claros).</a:t>
            </a:r>
            <a:endParaRPr lang="en-US" sz="1000" b="0" u="none" strike="noStrike">
              <a:solidFill>
                <a:srgbClr val="000000"/>
              </a:solidFill>
              <a:effectLst/>
              <a:uFillTx/>
              <a:latin typeface="Arial"/>
            </a:endParaRPr>
          </a:p>
          <a:p>
            <a:r>
              <a:rPr lang="en-US" sz="1000" b="0" u="none" strike="noStrike">
                <a:solidFill>
                  <a:srgbClr val="000000"/>
                </a:solidFill>
                <a:effectLst/>
                <a:uFillTx/>
                <a:latin typeface="Arial"/>
              </a:rPr>
              <a:t>Mezcla de incidentes y solicitudes de servicio tratadas de la misma forma.</a:t>
            </a:r>
            <a:endParaRPr lang="en-US" sz="1000" b="0" u="none" strike="noStrike">
              <a:solidFill>
                <a:srgbClr val="000000"/>
              </a:solidFill>
              <a:effectLst/>
              <a:uFillTx/>
              <a:latin typeface="Arial"/>
            </a:endParaRPr>
          </a:p>
          <a:p>
            <a:r>
              <a:rPr lang="en-US" sz="1000" b="0" u="none" strike="noStrike">
                <a:solidFill>
                  <a:srgbClr val="000000"/>
                </a:solidFill>
                <a:effectLst/>
                <a:uFillTx/>
                <a:latin typeface="Arial"/>
              </a:rPr>
              <a:t>Conflictos recurrentes con segundo nivel sobre a quién le corresponde un caso (especialmente “aplicación lenta” o accesos).</a:t>
            </a:r>
            <a:endParaRPr lang="en-US" sz="1000" b="0" u="none" strike="noStrike">
              <a:solidFill>
                <a:srgbClr val="000000"/>
              </a:solidFill>
              <a:effectLst/>
              <a:uFillTx/>
              <a:latin typeface="Arial"/>
            </a:endParaRPr>
          </a:p>
          <a:p>
            <a:r>
              <a:rPr lang="en-US" sz="1000" b="0" u="none" strike="noStrike">
                <a:solidFill>
                  <a:srgbClr val="000000"/>
                </a:solidFill>
                <a:effectLst/>
                <a:uFillTx/>
                <a:latin typeface="Arial"/>
              </a:rPr>
              <a:t>Datos no confiables de volumen, tiempos de resolución, % de resolución en L1 y carga real → imposibilidad de demostrar saturación o necesidad de más personal.</a:t>
            </a:r>
            <a:endParaRPr lang="en-US" sz="1000" b="0" u="none" strike="noStrike">
              <a:solidFill>
                <a:srgbClr val="000000"/>
              </a:solidFill>
              <a:effectLst/>
              <a:uFillTx/>
              <a:latin typeface="Arial"/>
            </a:endParaRPr>
          </a:p>
          <a:p>
            <a:r>
              <a:rPr lang="en-US" sz="1000" b="0" u="none" strike="noStrike">
                <a:solidFill>
                  <a:srgbClr val="000000"/>
                </a:solidFill>
                <a:effectLst/>
                <a:uFillTx/>
                <a:latin typeface="Arial"/>
              </a:rPr>
              <a:t>Casos que quedan “esperando respuesta del usuario” o escalados y nadie retoma.</a:t>
            </a:r>
            <a:endParaRPr lang="en-US" sz="1000" b="0" u="none" strike="noStrike">
              <a:solidFill>
                <a:srgbClr val="000000"/>
              </a:solidFill>
              <a:effectLst/>
              <a:uFillTx/>
              <a:latin typeface="Arial"/>
            </a:endParaRPr>
          </a:p>
          <a:p>
            <a:r>
              <a:rPr lang="en-US" sz="1000" b="0" u="none" strike="noStrike">
                <a:solidFill>
                  <a:srgbClr val="000000"/>
                </a:solidFill>
                <a:effectLst/>
                <a:uFillTx/>
                <a:latin typeface="Arial"/>
              </a:rPr>
              <a:t>Riesgo de que un sistema demasiado pesado de registrar haga que el equipo lo evite.</a:t>
            </a:r>
            <a:endParaRPr lang="en-US" sz="1000" b="0" u="none" strike="noStrike">
              <a:solidFill>
                <a:srgbClr val="000000"/>
              </a:solidFill>
              <a:effectLst/>
              <a:uFillTx/>
              <a:latin typeface="Arial"/>
            </a:endParaRPr>
          </a:p>
          <a:p>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pitchFamily="0" charset="1"/>
        <a:ea typeface=""/>
        <a:cs typeface=""/>
      </a:majorFont>
      <a:minorFont>
        <a:latin typeface="Apto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85</TotalTime>
  <Application>LibreOffice/26.2.5.2$Linux_X86_64 LibreOffice_project/6d2b0d33fb0f5da53a12f98bed3e9973e56ff1f0</Application>
  <AppVersion>15.0000</AppVersion>
  <Words>0</Words>
  <Paragraphs>0</Paragraphs>
  <Company>Carlos Challenge</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2026-08-17T16:28:48Z</dcterms:created>
  <dc:creator>OpenAI</dc:creator>
  <dc:description/>
  <dc:language>en-US</dc:language>
  <cp:lastModifiedBy/>
  <dcterms:modified xsi:type="dcterms:W3CDTF">2026-08-18T12:12:25Z</dcterms:modified>
  <cp:revision>4</cp:revision>
  <dc:subject>Kick-off ServiceDesk</dc:subject>
  <dc:title>ServiceDesk — Kick-off</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7</vt:i4>
  </property>
  <property fmtid="{D5CDD505-2E9C-101B-9397-08002B2CF9AE}" pid="3" name="PresentationFormat">
    <vt:lpwstr>On-screen Show (16:9)</vt:lpwstr>
  </property>
  <property fmtid="{D5CDD505-2E9C-101B-9397-08002B2CF9AE}" pid="4" name="Slides">
    <vt:i4>7</vt:i4>
  </property>
</Properties>
</file>